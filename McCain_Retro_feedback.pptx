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407" r:id="rId2"/>
    <p:sldId id="357" r:id="rId3"/>
    <p:sldId id="2147483535" r:id="rId4"/>
    <p:sldId id="2147483547" r:id="rId5"/>
    <p:sldId id="2147483558" r:id="rId6"/>
    <p:sldId id="278" r:id="rId7"/>
    <p:sldId id="2147483545" r:id="rId8"/>
    <p:sldId id="2147483546" r:id="rId9"/>
    <p:sldId id="2147483548" r:id="rId10"/>
    <p:sldId id="2147483549" r:id="rId11"/>
    <p:sldId id="2147483561" r:id="rId12"/>
    <p:sldId id="2147483536" r:id="rId13"/>
    <p:sldId id="2147483559" r:id="rId14"/>
    <p:sldId id="257" r:id="rId15"/>
    <p:sldId id="2147483551" r:id="rId16"/>
    <p:sldId id="409" r:id="rId17"/>
    <p:sldId id="2147483552" r:id="rId18"/>
    <p:sldId id="2147483538" r:id="rId19"/>
    <p:sldId id="2147483534" r:id="rId20"/>
    <p:sldId id="2147483544" r:id="rId21"/>
    <p:sldId id="2147483540" r:id="rId22"/>
    <p:sldId id="410" r:id="rId23"/>
    <p:sldId id="2147483560" r:id="rId24"/>
    <p:sldId id="214748354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IREZ, CARMENZA" userId="701f7ab9-388c-498c-ae16-2934e07c011e" providerId="ADAL" clId="{73B01122-0AAE-4ADF-8D5D-42FDE21AFA6B}"/>
    <pc:docChg chg="custSel modSld">
      <pc:chgData name="RAMIREZ, CARMENZA" userId="701f7ab9-388c-498c-ae16-2934e07c011e" providerId="ADAL" clId="{73B01122-0AAE-4ADF-8D5D-42FDE21AFA6B}" dt="2026-06-08T19:11:55.193" v="6" actId="313"/>
      <pc:docMkLst>
        <pc:docMk/>
      </pc:docMkLst>
      <pc:sldChg chg="modSp mod">
        <pc:chgData name="RAMIREZ, CARMENZA" userId="701f7ab9-388c-498c-ae16-2934e07c011e" providerId="ADAL" clId="{73B01122-0AAE-4ADF-8D5D-42FDE21AFA6B}" dt="2026-06-08T19:10:59.529" v="0" actId="313"/>
        <pc:sldMkLst>
          <pc:docMk/>
          <pc:sldMk cId="1867706994" sldId="2147483545"/>
        </pc:sldMkLst>
        <pc:spChg chg="mod">
          <ac:chgData name="RAMIREZ, CARMENZA" userId="701f7ab9-388c-498c-ae16-2934e07c011e" providerId="ADAL" clId="{73B01122-0AAE-4ADF-8D5D-42FDE21AFA6B}" dt="2026-06-08T19:10:59.529" v="0" actId="313"/>
          <ac:spMkLst>
            <pc:docMk/>
            <pc:sldMk cId="1867706994" sldId="2147483545"/>
            <ac:spMk id="7" creationId="{523D9F1D-453D-563F-9A09-9998CBB4039B}"/>
          </ac:spMkLst>
        </pc:spChg>
      </pc:sldChg>
      <pc:sldChg chg="modSp mod">
        <pc:chgData name="RAMIREZ, CARMENZA" userId="701f7ab9-388c-498c-ae16-2934e07c011e" providerId="ADAL" clId="{73B01122-0AAE-4ADF-8D5D-42FDE21AFA6B}" dt="2026-06-08T19:11:55.193" v="6" actId="313"/>
        <pc:sldMkLst>
          <pc:docMk/>
          <pc:sldMk cId="1767191272" sldId="2147483547"/>
        </pc:sldMkLst>
        <pc:spChg chg="mod">
          <ac:chgData name="RAMIREZ, CARMENZA" userId="701f7ab9-388c-498c-ae16-2934e07c011e" providerId="ADAL" clId="{73B01122-0AAE-4ADF-8D5D-42FDE21AFA6B}" dt="2026-06-08T19:11:55.193" v="6" actId="313"/>
          <ac:spMkLst>
            <pc:docMk/>
            <pc:sldMk cId="1767191272" sldId="2147483547"/>
            <ac:spMk id="3" creationId="{8E3474A6-0F74-DA1F-CFEA-6637D283E575}"/>
          </ac:spMkLst>
        </pc:spChg>
      </pc:sldChg>
    </pc:docChg>
  </pc:docChgLst>
  <pc:docChgLst>
    <pc:chgData name="MEHTA, KUNAL" userId="1b85c31e-bc55-44f1-b64e-2044ddae79c2" providerId="ADAL" clId="{2CB62C06-BF98-4DE7-A8BD-387DB830F3DD}"/>
    <pc:docChg chg="undo custSel addSld delSld modSld">
      <pc:chgData name="MEHTA, KUNAL" userId="1b85c31e-bc55-44f1-b64e-2044ddae79c2" providerId="ADAL" clId="{2CB62C06-BF98-4DE7-A8BD-387DB830F3DD}" dt="2026-07-08T06:59:03.236" v="936" actId="1076"/>
      <pc:docMkLst>
        <pc:docMk/>
      </pc:docMkLst>
      <pc:sldChg chg="modSp mod">
        <pc:chgData name="MEHTA, KUNAL" userId="1b85c31e-bc55-44f1-b64e-2044ddae79c2" providerId="ADAL" clId="{2CB62C06-BF98-4DE7-A8BD-387DB830F3DD}" dt="2026-06-08T16:11:12.514" v="602" actId="20577"/>
        <pc:sldMkLst>
          <pc:docMk/>
          <pc:sldMk cId="2820753241" sldId="357"/>
        </pc:sldMkLst>
        <pc:graphicFrameChg chg="modGraphic">
          <ac:chgData name="MEHTA, KUNAL" userId="1b85c31e-bc55-44f1-b64e-2044ddae79c2" providerId="ADAL" clId="{2CB62C06-BF98-4DE7-A8BD-387DB830F3DD}" dt="2026-06-08T16:11:12.514" v="602" actId="20577"/>
          <ac:graphicFrameMkLst>
            <pc:docMk/>
            <pc:sldMk cId="2820753241" sldId="357"/>
            <ac:graphicFrameMk id="5" creationId="{1E5EC458-6A3F-8DE3-9942-74AAF47C4C8C}"/>
          </ac:graphicFrameMkLst>
        </pc:graphicFrameChg>
      </pc:sldChg>
      <pc:sldChg chg="modSp mod">
        <pc:chgData name="MEHTA, KUNAL" userId="1b85c31e-bc55-44f1-b64e-2044ddae79c2" providerId="ADAL" clId="{2CB62C06-BF98-4DE7-A8BD-387DB830F3DD}" dt="2026-06-08T16:08:17.514" v="559" actId="20577"/>
        <pc:sldMkLst>
          <pc:docMk/>
          <pc:sldMk cId="979198686" sldId="409"/>
        </pc:sldMkLst>
        <pc:spChg chg="mod">
          <ac:chgData name="MEHTA, KUNAL" userId="1b85c31e-bc55-44f1-b64e-2044ddae79c2" providerId="ADAL" clId="{2CB62C06-BF98-4DE7-A8BD-387DB830F3DD}" dt="2026-06-08T16:08:17.514" v="559" actId="20577"/>
          <ac:spMkLst>
            <pc:docMk/>
            <pc:sldMk cId="979198686" sldId="409"/>
            <ac:spMk id="3" creationId="{BBCE9833-FEAF-9E0C-97C1-7DE6A5BF6FCD}"/>
          </ac:spMkLst>
        </pc:spChg>
      </pc:sldChg>
      <pc:sldChg chg="modSp mod">
        <pc:chgData name="MEHTA, KUNAL" userId="1b85c31e-bc55-44f1-b64e-2044ddae79c2" providerId="ADAL" clId="{2CB62C06-BF98-4DE7-A8BD-387DB830F3DD}" dt="2026-06-24T06:47:13.401" v="923" actId="20577"/>
        <pc:sldMkLst>
          <pc:docMk/>
          <pc:sldMk cId="1294477414" sldId="410"/>
        </pc:sldMkLst>
        <pc:graphicFrameChg chg="mod modGraphic">
          <ac:chgData name="MEHTA, KUNAL" userId="1b85c31e-bc55-44f1-b64e-2044ddae79c2" providerId="ADAL" clId="{2CB62C06-BF98-4DE7-A8BD-387DB830F3DD}" dt="2026-06-24T06:22:38.823" v="665" actId="207"/>
          <ac:graphicFrameMkLst>
            <pc:docMk/>
            <pc:sldMk cId="1294477414" sldId="410"/>
            <ac:graphicFrameMk id="5" creationId="{73672353-842C-C3A6-15A8-F055BA8EF0A7}"/>
          </ac:graphicFrameMkLst>
        </pc:graphicFrameChg>
        <pc:graphicFrameChg chg="mod modGraphic">
          <ac:chgData name="MEHTA, KUNAL" userId="1b85c31e-bc55-44f1-b64e-2044ddae79c2" providerId="ADAL" clId="{2CB62C06-BF98-4DE7-A8BD-387DB830F3DD}" dt="2026-06-24T06:47:13.401" v="923" actId="20577"/>
          <ac:graphicFrameMkLst>
            <pc:docMk/>
            <pc:sldMk cId="1294477414" sldId="410"/>
            <ac:graphicFrameMk id="8" creationId="{CDA901D4-B1B1-5E0D-8658-78D7FD8938E1}"/>
          </ac:graphicFrameMkLst>
        </pc:graphicFrameChg>
      </pc:sldChg>
      <pc:sldChg chg="addSp delSp modSp mod">
        <pc:chgData name="MEHTA, KUNAL" userId="1b85c31e-bc55-44f1-b64e-2044ddae79c2" providerId="ADAL" clId="{2CB62C06-BF98-4DE7-A8BD-387DB830F3DD}" dt="2026-06-24T06:20:00.973" v="662" actId="1076"/>
        <pc:sldMkLst>
          <pc:docMk/>
          <pc:sldMk cId="3299707306" sldId="2147483544"/>
        </pc:sldMkLst>
        <pc:graphicFrameChg chg="add mod modGraphic">
          <ac:chgData name="MEHTA, KUNAL" userId="1b85c31e-bc55-44f1-b64e-2044ddae79c2" providerId="ADAL" clId="{2CB62C06-BF98-4DE7-A8BD-387DB830F3DD}" dt="2026-06-24T06:20:00.973" v="662" actId="1076"/>
          <ac:graphicFrameMkLst>
            <pc:docMk/>
            <pc:sldMk cId="3299707306" sldId="2147483544"/>
            <ac:graphicFrameMk id="8" creationId="{5156767E-81C7-E0E7-3697-9B7FECCCB907}"/>
          </ac:graphicFrameMkLst>
        </pc:graphicFrameChg>
      </pc:sldChg>
      <pc:sldChg chg="modSp mod">
        <pc:chgData name="MEHTA, KUNAL" userId="1b85c31e-bc55-44f1-b64e-2044ddae79c2" providerId="ADAL" clId="{2CB62C06-BF98-4DE7-A8BD-387DB830F3DD}" dt="2026-06-08T16:09:15.514" v="576" actId="12"/>
        <pc:sldMkLst>
          <pc:docMk/>
          <pc:sldMk cId="1540544605" sldId="2147483546"/>
        </pc:sldMkLst>
        <pc:spChg chg="mod">
          <ac:chgData name="MEHTA, KUNAL" userId="1b85c31e-bc55-44f1-b64e-2044ddae79c2" providerId="ADAL" clId="{2CB62C06-BF98-4DE7-A8BD-387DB830F3DD}" dt="2026-06-08T16:09:15.514" v="576" actId="12"/>
          <ac:spMkLst>
            <pc:docMk/>
            <pc:sldMk cId="1540544605" sldId="2147483546"/>
            <ac:spMk id="13" creationId="{DC269CF2-0268-0E92-6519-2DBEB07BAAF1}"/>
          </ac:spMkLst>
        </pc:spChg>
      </pc:sldChg>
      <pc:sldChg chg="addSp delSp modSp mod">
        <pc:chgData name="MEHTA, KUNAL" userId="1b85c31e-bc55-44f1-b64e-2044ddae79c2" providerId="ADAL" clId="{2CB62C06-BF98-4DE7-A8BD-387DB830F3DD}" dt="2026-07-08T06:58:45.370" v="929" actId="478"/>
        <pc:sldMkLst>
          <pc:docMk/>
          <pc:sldMk cId="806385203" sldId="2147483548"/>
        </pc:sldMkLst>
        <pc:picChg chg="add del mod">
          <ac:chgData name="MEHTA, KUNAL" userId="1b85c31e-bc55-44f1-b64e-2044ddae79c2" providerId="ADAL" clId="{2CB62C06-BF98-4DE7-A8BD-387DB830F3DD}" dt="2026-07-08T06:58:44.901" v="928" actId="22"/>
          <ac:picMkLst>
            <pc:docMk/>
            <pc:sldMk cId="806385203" sldId="2147483548"/>
            <ac:picMk id="5" creationId="{EA625C45-91C0-2FE1-C3CB-48D9BF6D4E36}"/>
          </ac:picMkLst>
        </pc:picChg>
        <pc:picChg chg="add del">
          <ac:chgData name="MEHTA, KUNAL" userId="1b85c31e-bc55-44f1-b64e-2044ddae79c2" providerId="ADAL" clId="{2CB62C06-BF98-4DE7-A8BD-387DB830F3DD}" dt="2026-07-08T06:58:45.370" v="929" actId="478"/>
          <ac:picMkLst>
            <pc:docMk/>
            <pc:sldMk cId="806385203" sldId="2147483548"/>
            <ac:picMk id="6" creationId="{7D7C023E-92AF-B6C1-54B9-249215D46780}"/>
          </ac:picMkLst>
        </pc:picChg>
      </pc:sldChg>
      <pc:sldChg chg="modSp mod">
        <pc:chgData name="MEHTA, KUNAL" userId="1b85c31e-bc55-44f1-b64e-2044ddae79c2" providerId="ADAL" clId="{2CB62C06-BF98-4DE7-A8BD-387DB830F3DD}" dt="2026-06-08T16:10:29.815" v="594" actId="5793"/>
        <pc:sldMkLst>
          <pc:docMk/>
          <pc:sldMk cId="3167397414" sldId="2147483549"/>
        </pc:sldMkLst>
        <pc:spChg chg="mod">
          <ac:chgData name="MEHTA, KUNAL" userId="1b85c31e-bc55-44f1-b64e-2044ddae79c2" providerId="ADAL" clId="{2CB62C06-BF98-4DE7-A8BD-387DB830F3DD}" dt="2026-06-08T16:10:29.815" v="594" actId="5793"/>
          <ac:spMkLst>
            <pc:docMk/>
            <pc:sldMk cId="3167397414" sldId="2147483549"/>
            <ac:spMk id="3" creationId="{22148A0F-BA21-9988-26EE-093EA491B8C9}"/>
          </ac:spMkLst>
        </pc:spChg>
        <pc:spChg chg="mod">
          <ac:chgData name="MEHTA, KUNAL" userId="1b85c31e-bc55-44f1-b64e-2044ddae79c2" providerId="ADAL" clId="{2CB62C06-BF98-4DE7-A8BD-387DB830F3DD}" dt="2026-06-08T16:10:10.924" v="588" actId="1076"/>
          <ac:spMkLst>
            <pc:docMk/>
            <pc:sldMk cId="3167397414" sldId="2147483549"/>
            <ac:spMk id="9" creationId="{B662A2D8-FC5F-A3E7-3D4C-003B8AEFFB65}"/>
          </ac:spMkLst>
        </pc:spChg>
      </pc:sldChg>
      <pc:sldChg chg="modSp mod">
        <pc:chgData name="MEHTA, KUNAL" userId="1b85c31e-bc55-44f1-b64e-2044ddae79c2" providerId="ADAL" clId="{2CB62C06-BF98-4DE7-A8BD-387DB830F3DD}" dt="2026-06-08T16:08:49.116" v="564" actId="113"/>
        <pc:sldMkLst>
          <pc:docMk/>
          <pc:sldMk cId="1940788108" sldId="2147483551"/>
        </pc:sldMkLst>
        <pc:spChg chg="mod">
          <ac:chgData name="MEHTA, KUNAL" userId="1b85c31e-bc55-44f1-b64e-2044ddae79c2" providerId="ADAL" clId="{2CB62C06-BF98-4DE7-A8BD-387DB830F3DD}" dt="2026-06-08T16:08:49.116" v="564" actId="113"/>
          <ac:spMkLst>
            <pc:docMk/>
            <pc:sldMk cId="1940788108" sldId="2147483551"/>
            <ac:spMk id="5" creationId="{9990E60B-A435-E31E-6DB2-EA974EB4A71C}"/>
          </ac:spMkLst>
        </pc:spChg>
      </pc:sldChg>
      <pc:sldChg chg="add">
        <pc:chgData name="MEHTA, KUNAL" userId="1b85c31e-bc55-44f1-b64e-2044ddae79c2" providerId="ADAL" clId="{2CB62C06-BF98-4DE7-A8BD-387DB830F3DD}" dt="2026-06-08T16:00:15.103" v="25"/>
        <pc:sldMkLst>
          <pc:docMk/>
          <pc:sldMk cId="813569774" sldId="2147483558"/>
        </pc:sldMkLst>
      </pc:sldChg>
      <pc:sldChg chg="addSp delSp modSp mod">
        <pc:chgData name="MEHTA, KUNAL" userId="1b85c31e-bc55-44f1-b64e-2044ddae79c2" providerId="ADAL" clId="{2CB62C06-BF98-4DE7-A8BD-387DB830F3DD}" dt="2026-07-08T06:59:03.236" v="936" actId="1076"/>
        <pc:sldMkLst>
          <pc:docMk/>
          <pc:sldMk cId="460287019" sldId="2147483559"/>
        </pc:sldMkLst>
        <pc:picChg chg="del">
          <ac:chgData name="MEHTA, KUNAL" userId="1b85c31e-bc55-44f1-b64e-2044ddae79c2" providerId="ADAL" clId="{2CB62C06-BF98-4DE7-A8BD-387DB830F3DD}" dt="2026-07-08T06:58:49.495" v="930" actId="478"/>
          <ac:picMkLst>
            <pc:docMk/>
            <pc:sldMk cId="460287019" sldId="2147483559"/>
            <ac:picMk id="6" creationId="{831A42EE-D5FE-B8CD-91F4-1E2EB50E5843}"/>
          </ac:picMkLst>
        </pc:picChg>
        <pc:picChg chg="add mod">
          <ac:chgData name="MEHTA, KUNAL" userId="1b85c31e-bc55-44f1-b64e-2044ddae79c2" providerId="ADAL" clId="{2CB62C06-BF98-4DE7-A8BD-387DB830F3DD}" dt="2026-07-08T06:59:03.236" v="936" actId="1076"/>
          <ac:picMkLst>
            <pc:docMk/>
            <pc:sldMk cId="460287019" sldId="2147483559"/>
            <ac:picMk id="7" creationId="{A9D997A1-AF46-D183-311E-5639CD18EF03}"/>
          </ac:picMkLst>
        </pc:picChg>
      </pc:sldChg>
      <pc:sldChg chg="modSp add mod">
        <pc:chgData name="MEHTA, KUNAL" userId="1b85c31e-bc55-44f1-b64e-2044ddae79c2" providerId="ADAL" clId="{2CB62C06-BF98-4DE7-A8BD-387DB830F3DD}" dt="2026-06-08T16:10:22.202" v="590" actId="1076"/>
        <pc:sldMkLst>
          <pc:docMk/>
          <pc:sldMk cId="1008783403" sldId="2147483561"/>
        </pc:sldMkLst>
        <pc:spChg chg="mod">
          <ac:chgData name="MEHTA, KUNAL" userId="1b85c31e-bc55-44f1-b64e-2044ddae79c2" providerId="ADAL" clId="{2CB62C06-BF98-4DE7-A8BD-387DB830F3DD}" dt="2026-06-08T16:10:22.202" v="590" actId="1076"/>
          <ac:spMkLst>
            <pc:docMk/>
            <pc:sldMk cId="1008783403" sldId="2147483561"/>
            <ac:spMk id="9" creationId="{1B3EDAE4-AC0A-5766-2FE6-EDA0D802593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AD404B-49DB-4F8C-B632-1AC68A47AC53}" type="datetimeFigureOut">
              <a:rPr lang="en-US" smtClean="0"/>
              <a:t>7/8/2026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111653-4679-462B-A17C-021E7121FA90}" type="slidenum">
              <a:rPr lang="en-US" smtClean="0"/>
              <a:t>‹#›</a:t>
            </a:fld>
            <a:endParaRPr lang="en-US"/>
          </a:p>
        </p:txBody>
      </p:sp>
    </p:spTree>
    <p:extLst>
      <p:ext uri="{BB962C8B-B14F-4D97-AF65-F5344CB8AC3E}">
        <p14:creationId xmlns:p14="http://schemas.microsoft.com/office/powerpoint/2010/main" val="1015350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FA9EA5-6555-4860-8CC9-A27B2B9FB8D1}" type="slidenum">
              <a:rPr lang="en-US" smtClean="0"/>
              <a:t>1</a:t>
            </a:fld>
            <a:endParaRPr lang="en-US"/>
          </a:p>
        </p:txBody>
      </p:sp>
    </p:spTree>
    <p:extLst>
      <p:ext uri="{BB962C8B-B14F-4D97-AF65-F5344CB8AC3E}">
        <p14:creationId xmlns:p14="http://schemas.microsoft.com/office/powerpoint/2010/main" val="1867662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832D4-02D6-DD6D-E5F5-EAA94366B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BEA05-DCDC-3148-1F46-E0D1C8858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50702-A426-B75B-52CC-FB77263BB1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BF64ECC-BEA2-8F76-9226-1E65D3693D5F}"/>
              </a:ext>
            </a:extLst>
          </p:cNvPr>
          <p:cNvSpPr>
            <a:spLocks noGrp="1"/>
          </p:cNvSpPr>
          <p:nvPr>
            <p:ph type="sldNum" sz="quarter" idx="5"/>
          </p:nvPr>
        </p:nvSpPr>
        <p:spPr/>
        <p:txBody>
          <a:bodyPr/>
          <a:lstStyle/>
          <a:p>
            <a:pPr defTabSz="912867">
              <a:defRPr/>
            </a:pPr>
            <a:fld id="{8C896355-3DDC-9949-861F-AD0908BFCC23}" type="slidenum">
              <a:rPr lang="en-US">
                <a:solidFill>
                  <a:prstClr val="black"/>
                </a:solidFill>
              </a:rPr>
              <a:pPr defTabSz="912867">
                <a:defRPr/>
              </a:pPr>
              <a:t>2</a:t>
            </a:fld>
            <a:endParaRPr lang="en-US">
              <a:solidFill>
                <a:prstClr val="black"/>
              </a:solidFill>
            </a:endParaRPr>
          </a:p>
        </p:txBody>
      </p:sp>
    </p:spTree>
    <p:extLst>
      <p:ext uri="{BB962C8B-B14F-4D97-AF65-F5344CB8AC3E}">
        <p14:creationId xmlns:p14="http://schemas.microsoft.com/office/powerpoint/2010/main" val="343993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26ED4-01FC-4222-6365-2C5073591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A90718-A434-A7AD-3611-CDBFBC581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ECC51-CE82-8DD8-EAF3-67E9088CF3A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F77E87-3ECD-AD65-89BC-E0265DFD444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75427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47F55-746B-9F77-576A-75A2459D72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B111B1-CD7D-BDAA-C0C5-B3426B9AD9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59C208-77D2-666E-CAC4-B8BF8D730862}"/>
              </a:ext>
            </a:extLst>
          </p:cNvPr>
          <p:cNvSpPr>
            <a:spLocks noGrp="1"/>
          </p:cNvSpPr>
          <p:nvPr>
            <p:ph type="dt" sz="half" idx="10"/>
          </p:nvPr>
        </p:nvSpPr>
        <p:spPr/>
        <p:txBody>
          <a:bodyPr/>
          <a:lstStyle/>
          <a:p>
            <a:fld id="{579F0850-0D98-403E-8202-596FEC0594B5}" type="datetimeFigureOut">
              <a:rPr lang="en-US" smtClean="0"/>
              <a:t>7/8/2026</a:t>
            </a:fld>
            <a:endParaRPr lang="en-US"/>
          </a:p>
        </p:txBody>
      </p:sp>
      <p:sp>
        <p:nvSpPr>
          <p:cNvPr id="5" name="Footer Placeholder 4">
            <a:extLst>
              <a:ext uri="{FF2B5EF4-FFF2-40B4-BE49-F238E27FC236}">
                <a16:creationId xmlns:a16="http://schemas.microsoft.com/office/drawing/2014/main" id="{9EEFB427-51EC-D00D-3F6E-8FEA9C4346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DD5B-4721-19A6-86EE-BF193DFF0231}"/>
              </a:ext>
            </a:extLst>
          </p:cNvPr>
          <p:cNvSpPr>
            <a:spLocks noGrp="1"/>
          </p:cNvSpPr>
          <p:nvPr>
            <p:ph type="sldNum" sz="quarter" idx="12"/>
          </p:nvPr>
        </p:nvSpPr>
        <p:spPr/>
        <p:txBody>
          <a:bodyPr/>
          <a:lstStyle/>
          <a:p>
            <a:fld id="{EB5A8331-63BB-4D8F-9D5E-C991F0664B41}" type="slidenum">
              <a:rPr lang="en-US" smtClean="0"/>
              <a:t>‹#›</a:t>
            </a:fld>
            <a:endParaRPr lang="en-US"/>
          </a:p>
        </p:txBody>
      </p:sp>
    </p:spTree>
    <p:extLst>
      <p:ext uri="{BB962C8B-B14F-4D97-AF65-F5344CB8AC3E}">
        <p14:creationId xmlns:p14="http://schemas.microsoft.com/office/powerpoint/2010/main" val="2825802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2E8E9-2ECF-105E-E6CB-9EF1B523AF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C678C4-C352-1183-F4A3-B205434C01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49399C-8881-2E68-5C4F-754326079A72}"/>
              </a:ext>
            </a:extLst>
          </p:cNvPr>
          <p:cNvSpPr>
            <a:spLocks noGrp="1"/>
          </p:cNvSpPr>
          <p:nvPr>
            <p:ph type="dt" sz="half" idx="10"/>
          </p:nvPr>
        </p:nvSpPr>
        <p:spPr/>
        <p:txBody>
          <a:bodyPr/>
          <a:lstStyle/>
          <a:p>
            <a:fld id="{579F0850-0D98-403E-8202-596FEC0594B5}" type="datetimeFigureOut">
              <a:rPr lang="en-US" smtClean="0"/>
              <a:t>7/8/2026</a:t>
            </a:fld>
            <a:endParaRPr lang="en-US"/>
          </a:p>
        </p:txBody>
      </p:sp>
      <p:sp>
        <p:nvSpPr>
          <p:cNvPr id="5" name="Footer Placeholder 4">
            <a:extLst>
              <a:ext uri="{FF2B5EF4-FFF2-40B4-BE49-F238E27FC236}">
                <a16:creationId xmlns:a16="http://schemas.microsoft.com/office/drawing/2014/main" id="{6863EA24-CD96-029A-8A58-8E91F7D7E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F66DFF-E185-73BB-E0FE-8682F9493DF9}"/>
              </a:ext>
            </a:extLst>
          </p:cNvPr>
          <p:cNvSpPr>
            <a:spLocks noGrp="1"/>
          </p:cNvSpPr>
          <p:nvPr>
            <p:ph type="sldNum" sz="quarter" idx="12"/>
          </p:nvPr>
        </p:nvSpPr>
        <p:spPr/>
        <p:txBody>
          <a:bodyPr/>
          <a:lstStyle/>
          <a:p>
            <a:fld id="{EB5A8331-63BB-4D8F-9D5E-C991F0664B41}" type="slidenum">
              <a:rPr lang="en-US" smtClean="0"/>
              <a:t>‹#›</a:t>
            </a:fld>
            <a:endParaRPr lang="en-US"/>
          </a:p>
        </p:txBody>
      </p:sp>
    </p:spTree>
    <p:extLst>
      <p:ext uri="{BB962C8B-B14F-4D97-AF65-F5344CB8AC3E}">
        <p14:creationId xmlns:p14="http://schemas.microsoft.com/office/powerpoint/2010/main" val="2087152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E65C-89C0-D3D8-D673-8600B9F708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040C69-793D-0DD8-68CB-E38EB04396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80EDEB-B41F-9397-26CF-43DD5D10700F}"/>
              </a:ext>
            </a:extLst>
          </p:cNvPr>
          <p:cNvSpPr>
            <a:spLocks noGrp="1"/>
          </p:cNvSpPr>
          <p:nvPr>
            <p:ph type="dt" sz="half" idx="10"/>
          </p:nvPr>
        </p:nvSpPr>
        <p:spPr/>
        <p:txBody>
          <a:bodyPr/>
          <a:lstStyle/>
          <a:p>
            <a:fld id="{579F0850-0D98-403E-8202-596FEC0594B5}" type="datetimeFigureOut">
              <a:rPr lang="en-US" smtClean="0"/>
              <a:t>7/8/2026</a:t>
            </a:fld>
            <a:endParaRPr lang="en-US"/>
          </a:p>
        </p:txBody>
      </p:sp>
      <p:sp>
        <p:nvSpPr>
          <p:cNvPr id="5" name="Footer Placeholder 4">
            <a:extLst>
              <a:ext uri="{FF2B5EF4-FFF2-40B4-BE49-F238E27FC236}">
                <a16:creationId xmlns:a16="http://schemas.microsoft.com/office/drawing/2014/main" id="{1A311819-0AB7-0AD0-2E33-2C38428342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853F6E-06CE-317E-B11C-97227D43B87F}"/>
              </a:ext>
            </a:extLst>
          </p:cNvPr>
          <p:cNvSpPr>
            <a:spLocks noGrp="1"/>
          </p:cNvSpPr>
          <p:nvPr>
            <p:ph type="sldNum" sz="quarter" idx="12"/>
          </p:nvPr>
        </p:nvSpPr>
        <p:spPr/>
        <p:txBody>
          <a:bodyPr/>
          <a:lstStyle/>
          <a:p>
            <a:fld id="{EB5A8331-63BB-4D8F-9D5E-C991F0664B41}" type="slidenum">
              <a:rPr lang="en-US" smtClean="0"/>
              <a:t>‹#›</a:t>
            </a:fld>
            <a:endParaRPr lang="en-US"/>
          </a:p>
        </p:txBody>
      </p:sp>
    </p:spTree>
    <p:extLst>
      <p:ext uri="{BB962C8B-B14F-4D97-AF65-F5344CB8AC3E}">
        <p14:creationId xmlns:p14="http://schemas.microsoft.com/office/powerpoint/2010/main" val="2472332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57E2A-ECF3-DEAB-C250-2E93C88E18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3295C1-72F3-6B8F-B792-52829D35B1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C25B65-6591-CC08-C318-18217AD031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45795F-F11A-0196-8A04-C0E6B47997AF}"/>
              </a:ext>
            </a:extLst>
          </p:cNvPr>
          <p:cNvSpPr>
            <a:spLocks noGrp="1"/>
          </p:cNvSpPr>
          <p:nvPr>
            <p:ph type="dt" sz="half" idx="10"/>
          </p:nvPr>
        </p:nvSpPr>
        <p:spPr/>
        <p:txBody>
          <a:bodyPr/>
          <a:lstStyle/>
          <a:p>
            <a:fld id="{579F0850-0D98-403E-8202-596FEC0594B5}" type="datetimeFigureOut">
              <a:rPr lang="en-US" smtClean="0"/>
              <a:t>7/8/2026</a:t>
            </a:fld>
            <a:endParaRPr lang="en-US"/>
          </a:p>
        </p:txBody>
      </p:sp>
      <p:sp>
        <p:nvSpPr>
          <p:cNvPr id="6" name="Footer Placeholder 5">
            <a:extLst>
              <a:ext uri="{FF2B5EF4-FFF2-40B4-BE49-F238E27FC236}">
                <a16:creationId xmlns:a16="http://schemas.microsoft.com/office/drawing/2014/main" id="{C5CA684A-9F55-9137-0691-9FAD15C4C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B5C53-05C0-C1E9-EE2E-27725AF59ACC}"/>
              </a:ext>
            </a:extLst>
          </p:cNvPr>
          <p:cNvSpPr>
            <a:spLocks noGrp="1"/>
          </p:cNvSpPr>
          <p:nvPr>
            <p:ph type="sldNum" sz="quarter" idx="12"/>
          </p:nvPr>
        </p:nvSpPr>
        <p:spPr/>
        <p:txBody>
          <a:bodyPr/>
          <a:lstStyle/>
          <a:p>
            <a:fld id="{EB5A8331-63BB-4D8F-9D5E-C991F0664B41}" type="slidenum">
              <a:rPr lang="en-US" smtClean="0"/>
              <a:t>‹#›</a:t>
            </a:fld>
            <a:endParaRPr lang="en-US"/>
          </a:p>
        </p:txBody>
      </p:sp>
    </p:spTree>
    <p:extLst>
      <p:ext uri="{BB962C8B-B14F-4D97-AF65-F5344CB8AC3E}">
        <p14:creationId xmlns:p14="http://schemas.microsoft.com/office/powerpoint/2010/main" val="3241741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6FF0C-A3F7-F8EA-5413-329BA022AD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2C74BB-D86E-6C6B-5D9A-6F2104450C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94A9B2-322C-66EF-3D1A-94ED1FA455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5F56E4-3F57-038E-BFCB-E252ED7070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561038-901A-8D6C-1845-F6ACCB171A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E5B50D-A54F-E852-35A8-EDA2B7181416}"/>
              </a:ext>
            </a:extLst>
          </p:cNvPr>
          <p:cNvSpPr>
            <a:spLocks noGrp="1"/>
          </p:cNvSpPr>
          <p:nvPr>
            <p:ph type="dt" sz="half" idx="10"/>
          </p:nvPr>
        </p:nvSpPr>
        <p:spPr/>
        <p:txBody>
          <a:bodyPr/>
          <a:lstStyle/>
          <a:p>
            <a:fld id="{579F0850-0D98-403E-8202-596FEC0594B5}" type="datetimeFigureOut">
              <a:rPr lang="en-US" smtClean="0"/>
              <a:t>7/8/2026</a:t>
            </a:fld>
            <a:endParaRPr lang="en-US"/>
          </a:p>
        </p:txBody>
      </p:sp>
      <p:sp>
        <p:nvSpPr>
          <p:cNvPr id="8" name="Footer Placeholder 7">
            <a:extLst>
              <a:ext uri="{FF2B5EF4-FFF2-40B4-BE49-F238E27FC236}">
                <a16:creationId xmlns:a16="http://schemas.microsoft.com/office/drawing/2014/main" id="{DE055C07-E595-EAF0-F0A7-47D0EB11C9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91C20E-7B6B-E0F0-9E6C-49135041285C}"/>
              </a:ext>
            </a:extLst>
          </p:cNvPr>
          <p:cNvSpPr>
            <a:spLocks noGrp="1"/>
          </p:cNvSpPr>
          <p:nvPr>
            <p:ph type="sldNum" sz="quarter" idx="12"/>
          </p:nvPr>
        </p:nvSpPr>
        <p:spPr/>
        <p:txBody>
          <a:bodyPr/>
          <a:lstStyle/>
          <a:p>
            <a:fld id="{EB5A8331-63BB-4D8F-9D5E-C991F0664B41}" type="slidenum">
              <a:rPr lang="en-US" smtClean="0"/>
              <a:t>‹#›</a:t>
            </a:fld>
            <a:endParaRPr lang="en-US"/>
          </a:p>
        </p:txBody>
      </p:sp>
    </p:spTree>
    <p:extLst>
      <p:ext uri="{BB962C8B-B14F-4D97-AF65-F5344CB8AC3E}">
        <p14:creationId xmlns:p14="http://schemas.microsoft.com/office/powerpoint/2010/main" val="103399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65DFB-E693-8204-D027-19FC7A185E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C0362C-67CC-06FC-AFD3-C548F1B670B5}"/>
              </a:ext>
            </a:extLst>
          </p:cNvPr>
          <p:cNvSpPr>
            <a:spLocks noGrp="1"/>
          </p:cNvSpPr>
          <p:nvPr>
            <p:ph type="dt" sz="half" idx="10"/>
          </p:nvPr>
        </p:nvSpPr>
        <p:spPr/>
        <p:txBody>
          <a:bodyPr/>
          <a:lstStyle/>
          <a:p>
            <a:fld id="{579F0850-0D98-403E-8202-596FEC0594B5}" type="datetimeFigureOut">
              <a:rPr lang="en-US" smtClean="0"/>
              <a:t>7/8/2026</a:t>
            </a:fld>
            <a:endParaRPr lang="en-US"/>
          </a:p>
        </p:txBody>
      </p:sp>
      <p:sp>
        <p:nvSpPr>
          <p:cNvPr id="4" name="Footer Placeholder 3">
            <a:extLst>
              <a:ext uri="{FF2B5EF4-FFF2-40B4-BE49-F238E27FC236}">
                <a16:creationId xmlns:a16="http://schemas.microsoft.com/office/drawing/2014/main" id="{EBD303CF-69ED-E4A1-7443-C8AA9B9A8B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C8DFE7-6DBB-55E3-EAAC-0C196F5CD93C}"/>
              </a:ext>
            </a:extLst>
          </p:cNvPr>
          <p:cNvSpPr>
            <a:spLocks noGrp="1"/>
          </p:cNvSpPr>
          <p:nvPr>
            <p:ph type="sldNum" sz="quarter" idx="12"/>
          </p:nvPr>
        </p:nvSpPr>
        <p:spPr/>
        <p:txBody>
          <a:bodyPr/>
          <a:lstStyle/>
          <a:p>
            <a:fld id="{EB5A8331-63BB-4D8F-9D5E-C991F0664B41}" type="slidenum">
              <a:rPr lang="en-US" smtClean="0"/>
              <a:t>‹#›</a:t>
            </a:fld>
            <a:endParaRPr lang="en-US"/>
          </a:p>
        </p:txBody>
      </p:sp>
    </p:spTree>
    <p:extLst>
      <p:ext uri="{BB962C8B-B14F-4D97-AF65-F5344CB8AC3E}">
        <p14:creationId xmlns:p14="http://schemas.microsoft.com/office/powerpoint/2010/main" val="1238831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EB975-52F4-AB87-181D-190933E69810}"/>
              </a:ext>
            </a:extLst>
          </p:cNvPr>
          <p:cNvSpPr>
            <a:spLocks noGrp="1"/>
          </p:cNvSpPr>
          <p:nvPr>
            <p:ph type="dt" sz="half" idx="10"/>
          </p:nvPr>
        </p:nvSpPr>
        <p:spPr/>
        <p:txBody>
          <a:bodyPr/>
          <a:lstStyle/>
          <a:p>
            <a:fld id="{579F0850-0D98-403E-8202-596FEC0594B5}" type="datetimeFigureOut">
              <a:rPr lang="en-US" smtClean="0"/>
              <a:t>7/8/2026</a:t>
            </a:fld>
            <a:endParaRPr lang="en-US"/>
          </a:p>
        </p:txBody>
      </p:sp>
      <p:sp>
        <p:nvSpPr>
          <p:cNvPr id="3" name="Footer Placeholder 2">
            <a:extLst>
              <a:ext uri="{FF2B5EF4-FFF2-40B4-BE49-F238E27FC236}">
                <a16:creationId xmlns:a16="http://schemas.microsoft.com/office/drawing/2014/main" id="{95E912CE-3580-A25D-A9E1-6F034847E8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8FBACB-4125-CBAC-2E37-E4B8CD5B36A1}"/>
              </a:ext>
            </a:extLst>
          </p:cNvPr>
          <p:cNvSpPr>
            <a:spLocks noGrp="1"/>
          </p:cNvSpPr>
          <p:nvPr>
            <p:ph type="sldNum" sz="quarter" idx="12"/>
          </p:nvPr>
        </p:nvSpPr>
        <p:spPr/>
        <p:txBody>
          <a:bodyPr/>
          <a:lstStyle/>
          <a:p>
            <a:fld id="{EB5A8331-63BB-4D8F-9D5E-C991F0664B41}" type="slidenum">
              <a:rPr lang="en-US" smtClean="0"/>
              <a:t>‹#›</a:t>
            </a:fld>
            <a:endParaRPr lang="en-US"/>
          </a:p>
        </p:txBody>
      </p:sp>
    </p:spTree>
    <p:extLst>
      <p:ext uri="{BB962C8B-B14F-4D97-AF65-F5344CB8AC3E}">
        <p14:creationId xmlns:p14="http://schemas.microsoft.com/office/powerpoint/2010/main" val="1327121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8D1B-2992-D45C-0093-3288F8021D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26FA88-28C4-72A0-BA6C-1AD9F90AD6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F8564C-975C-5CDD-C049-B47BDDD0F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844150-6528-31FA-EDDA-80BE8BCA0241}"/>
              </a:ext>
            </a:extLst>
          </p:cNvPr>
          <p:cNvSpPr>
            <a:spLocks noGrp="1"/>
          </p:cNvSpPr>
          <p:nvPr>
            <p:ph type="dt" sz="half" idx="10"/>
          </p:nvPr>
        </p:nvSpPr>
        <p:spPr/>
        <p:txBody>
          <a:bodyPr/>
          <a:lstStyle/>
          <a:p>
            <a:fld id="{579F0850-0D98-403E-8202-596FEC0594B5}" type="datetimeFigureOut">
              <a:rPr lang="en-US" smtClean="0"/>
              <a:t>7/8/2026</a:t>
            </a:fld>
            <a:endParaRPr lang="en-US"/>
          </a:p>
        </p:txBody>
      </p:sp>
      <p:sp>
        <p:nvSpPr>
          <p:cNvPr id="6" name="Footer Placeholder 5">
            <a:extLst>
              <a:ext uri="{FF2B5EF4-FFF2-40B4-BE49-F238E27FC236}">
                <a16:creationId xmlns:a16="http://schemas.microsoft.com/office/drawing/2014/main" id="{45E0E642-8432-77A3-95CB-5DF08E073D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130D0C-30A3-E7A1-A5E7-20C46508955F}"/>
              </a:ext>
            </a:extLst>
          </p:cNvPr>
          <p:cNvSpPr>
            <a:spLocks noGrp="1"/>
          </p:cNvSpPr>
          <p:nvPr>
            <p:ph type="sldNum" sz="quarter" idx="12"/>
          </p:nvPr>
        </p:nvSpPr>
        <p:spPr/>
        <p:txBody>
          <a:bodyPr/>
          <a:lstStyle/>
          <a:p>
            <a:fld id="{EB5A8331-63BB-4D8F-9D5E-C991F0664B41}" type="slidenum">
              <a:rPr lang="en-US" smtClean="0"/>
              <a:t>‹#›</a:t>
            </a:fld>
            <a:endParaRPr lang="en-US"/>
          </a:p>
        </p:txBody>
      </p:sp>
    </p:spTree>
    <p:extLst>
      <p:ext uri="{BB962C8B-B14F-4D97-AF65-F5344CB8AC3E}">
        <p14:creationId xmlns:p14="http://schemas.microsoft.com/office/powerpoint/2010/main" val="1449402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07040-351D-8435-1009-61D467E89C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758B6D-4C62-23C2-917F-E795647735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230C391-A8EB-C7CA-ECCB-C033784FAF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9DC69E-87B6-A208-1AB3-B96E67A1F535}"/>
              </a:ext>
            </a:extLst>
          </p:cNvPr>
          <p:cNvSpPr>
            <a:spLocks noGrp="1"/>
          </p:cNvSpPr>
          <p:nvPr>
            <p:ph type="dt" sz="half" idx="10"/>
          </p:nvPr>
        </p:nvSpPr>
        <p:spPr/>
        <p:txBody>
          <a:bodyPr/>
          <a:lstStyle/>
          <a:p>
            <a:fld id="{579F0850-0D98-403E-8202-596FEC0594B5}" type="datetimeFigureOut">
              <a:rPr lang="en-US" smtClean="0"/>
              <a:t>7/8/2026</a:t>
            </a:fld>
            <a:endParaRPr lang="en-US"/>
          </a:p>
        </p:txBody>
      </p:sp>
      <p:sp>
        <p:nvSpPr>
          <p:cNvPr id="6" name="Footer Placeholder 5">
            <a:extLst>
              <a:ext uri="{FF2B5EF4-FFF2-40B4-BE49-F238E27FC236}">
                <a16:creationId xmlns:a16="http://schemas.microsoft.com/office/drawing/2014/main" id="{0DC838C8-0B1B-E095-BC78-0D576425D8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F933FF-E6C0-D871-EB67-80E146C8D8E6}"/>
              </a:ext>
            </a:extLst>
          </p:cNvPr>
          <p:cNvSpPr>
            <a:spLocks noGrp="1"/>
          </p:cNvSpPr>
          <p:nvPr>
            <p:ph type="sldNum" sz="quarter" idx="12"/>
          </p:nvPr>
        </p:nvSpPr>
        <p:spPr/>
        <p:txBody>
          <a:bodyPr/>
          <a:lstStyle/>
          <a:p>
            <a:fld id="{EB5A8331-63BB-4D8F-9D5E-C991F0664B41}" type="slidenum">
              <a:rPr lang="en-US" smtClean="0"/>
              <a:t>‹#›</a:t>
            </a:fld>
            <a:endParaRPr lang="en-US"/>
          </a:p>
        </p:txBody>
      </p:sp>
    </p:spTree>
    <p:extLst>
      <p:ext uri="{BB962C8B-B14F-4D97-AF65-F5344CB8AC3E}">
        <p14:creationId xmlns:p14="http://schemas.microsoft.com/office/powerpoint/2010/main" val="3011985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31F50-FE84-471A-DBB4-26CCBE1374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E1B31D-98DD-5710-9594-C0F2DC5252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181D44-E330-8B2B-DDEE-65B8279F16B6}"/>
              </a:ext>
            </a:extLst>
          </p:cNvPr>
          <p:cNvSpPr>
            <a:spLocks noGrp="1"/>
          </p:cNvSpPr>
          <p:nvPr>
            <p:ph type="dt" sz="half" idx="10"/>
          </p:nvPr>
        </p:nvSpPr>
        <p:spPr/>
        <p:txBody>
          <a:bodyPr/>
          <a:lstStyle/>
          <a:p>
            <a:fld id="{579F0850-0D98-403E-8202-596FEC0594B5}" type="datetimeFigureOut">
              <a:rPr lang="en-US" smtClean="0"/>
              <a:t>7/8/2026</a:t>
            </a:fld>
            <a:endParaRPr lang="en-US"/>
          </a:p>
        </p:txBody>
      </p:sp>
      <p:sp>
        <p:nvSpPr>
          <p:cNvPr id="5" name="Footer Placeholder 4">
            <a:extLst>
              <a:ext uri="{FF2B5EF4-FFF2-40B4-BE49-F238E27FC236}">
                <a16:creationId xmlns:a16="http://schemas.microsoft.com/office/drawing/2014/main" id="{70CBB0D8-FE9A-1652-F4C8-925592463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C8125-DB09-4F89-0890-2ACE7C703312}"/>
              </a:ext>
            </a:extLst>
          </p:cNvPr>
          <p:cNvSpPr>
            <a:spLocks noGrp="1"/>
          </p:cNvSpPr>
          <p:nvPr>
            <p:ph type="sldNum" sz="quarter" idx="12"/>
          </p:nvPr>
        </p:nvSpPr>
        <p:spPr/>
        <p:txBody>
          <a:bodyPr/>
          <a:lstStyle/>
          <a:p>
            <a:fld id="{EB5A8331-63BB-4D8F-9D5E-C991F0664B41}" type="slidenum">
              <a:rPr lang="en-US" smtClean="0"/>
              <a:t>‹#›</a:t>
            </a:fld>
            <a:endParaRPr lang="en-US"/>
          </a:p>
        </p:txBody>
      </p:sp>
    </p:spTree>
    <p:extLst>
      <p:ext uri="{BB962C8B-B14F-4D97-AF65-F5344CB8AC3E}">
        <p14:creationId xmlns:p14="http://schemas.microsoft.com/office/powerpoint/2010/main" val="3783640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9D77F6-932C-8F09-24E5-AD11259399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FECFA6-0DBB-8DF9-DEB9-3B59A1A48E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4A8EF6-35F1-C011-AC02-887A9D684C93}"/>
              </a:ext>
            </a:extLst>
          </p:cNvPr>
          <p:cNvSpPr>
            <a:spLocks noGrp="1"/>
          </p:cNvSpPr>
          <p:nvPr>
            <p:ph type="dt" sz="half" idx="10"/>
          </p:nvPr>
        </p:nvSpPr>
        <p:spPr/>
        <p:txBody>
          <a:bodyPr/>
          <a:lstStyle/>
          <a:p>
            <a:fld id="{579F0850-0D98-403E-8202-596FEC0594B5}" type="datetimeFigureOut">
              <a:rPr lang="en-US" smtClean="0"/>
              <a:t>7/8/2026</a:t>
            </a:fld>
            <a:endParaRPr lang="en-US"/>
          </a:p>
        </p:txBody>
      </p:sp>
      <p:sp>
        <p:nvSpPr>
          <p:cNvPr id="5" name="Footer Placeholder 4">
            <a:extLst>
              <a:ext uri="{FF2B5EF4-FFF2-40B4-BE49-F238E27FC236}">
                <a16:creationId xmlns:a16="http://schemas.microsoft.com/office/drawing/2014/main" id="{30CB67F1-05A9-4392-B5A5-3D84301AAA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6FD571-5E82-C4D3-303E-8F20AADE7E96}"/>
              </a:ext>
            </a:extLst>
          </p:cNvPr>
          <p:cNvSpPr>
            <a:spLocks noGrp="1"/>
          </p:cNvSpPr>
          <p:nvPr>
            <p:ph type="sldNum" sz="quarter" idx="12"/>
          </p:nvPr>
        </p:nvSpPr>
        <p:spPr/>
        <p:txBody>
          <a:bodyPr/>
          <a:lstStyle/>
          <a:p>
            <a:fld id="{EB5A8331-63BB-4D8F-9D5E-C991F0664B41}" type="slidenum">
              <a:rPr lang="en-US" smtClean="0"/>
              <a:t>‹#›</a:t>
            </a:fld>
            <a:endParaRPr lang="en-US"/>
          </a:p>
        </p:txBody>
      </p:sp>
    </p:spTree>
    <p:extLst>
      <p:ext uri="{BB962C8B-B14F-4D97-AF65-F5344CB8AC3E}">
        <p14:creationId xmlns:p14="http://schemas.microsoft.com/office/powerpoint/2010/main" val="4209765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2">
    <p:spTree>
      <p:nvGrpSpPr>
        <p:cNvPr id="1" name=""/>
        <p:cNvGrpSpPr/>
        <p:nvPr/>
      </p:nvGrpSpPr>
      <p:grpSpPr>
        <a:xfrm>
          <a:off x="0" y="0"/>
          <a:ext cx="0" cy="0"/>
          <a:chOff x="0" y="0"/>
          <a:chExt cx="0" cy="0"/>
        </a:xfrm>
      </p:grpSpPr>
      <p:pic>
        <p:nvPicPr>
          <p:cNvPr id="2" name="Picture 1" descr="A purple background with circles and lines&#10;&#10;Description automatically generated">
            <a:extLst>
              <a:ext uri="{FF2B5EF4-FFF2-40B4-BE49-F238E27FC236}">
                <a16:creationId xmlns:a16="http://schemas.microsoft.com/office/drawing/2014/main" id="{A9EC86C1-4886-0B08-6A92-5A3F2C92599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0" y="1282"/>
            <a:ext cx="12191980" cy="6637262"/>
          </a:xfrm>
          <a:prstGeom prst="rect">
            <a:avLst/>
          </a:prstGeom>
        </p:spPr>
      </p:pic>
      <p:pic>
        <p:nvPicPr>
          <p:cNvPr id="4" name="Picture 3" descr="A black background with white text&#10;&#10;Description automatically generated">
            <a:extLst>
              <a:ext uri="{FF2B5EF4-FFF2-40B4-BE49-F238E27FC236}">
                <a16:creationId xmlns:a16="http://schemas.microsoft.com/office/drawing/2014/main" id="{246B5C3A-DC82-8E73-E580-090816091B6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546490" y="5659394"/>
            <a:ext cx="3464277" cy="572359"/>
          </a:xfrm>
          <a:prstGeom prst="rect">
            <a:avLst/>
          </a:prstGeom>
        </p:spPr>
      </p:pic>
      <p:grpSp>
        <p:nvGrpSpPr>
          <p:cNvPr id="7" name="Group 6">
            <a:extLst>
              <a:ext uri="{FF2B5EF4-FFF2-40B4-BE49-F238E27FC236}">
                <a16:creationId xmlns:a16="http://schemas.microsoft.com/office/drawing/2014/main" id="{5210D774-BB1D-2270-EE9C-857A8FA2343A}"/>
              </a:ext>
            </a:extLst>
          </p:cNvPr>
          <p:cNvGrpSpPr/>
          <p:nvPr userDrawn="1"/>
        </p:nvGrpSpPr>
        <p:grpSpPr>
          <a:xfrm>
            <a:off x="372619" y="2160031"/>
            <a:ext cx="5939662" cy="2537938"/>
            <a:chOff x="655423" y="2125363"/>
            <a:chExt cx="5939662" cy="2537938"/>
          </a:xfrm>
        </p:grpSpPr>
        <p:pic>
          <p:nvPicPr>
            <p:cNvPr id="8" name="Picture 7" descr="A black and white logo&#10;&#10;Description automatically generated">
              <a:extLst>
                <a:ext uri="{FF2B5EF4-FFF2-40B4-BE49-F238E27FC236}">
                  <a16:creationId xmlns:a16="http://schemas.microsoft.com/office/drawing/2014/main" id="{4F0B9C64-0C0D-A8A0-6C0C-311CA5E4483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55423" y="2125363"/>
              <a:ext cx="5939662" cy="2037929"/>
            </a:xfrm>
            <a:prstGeom prst="rect">
              <a:avLst/>
            </a:prstGeom>
          </p:spPr>
        </p:pic>
        <p:pic>
          <p:nvPicPr>
            <p:cNvPr id="9" name="Picture 8" descr="A black and white circle with a black background&#10;&#10;Description automatically generated">
              <a:extLst>
                <a:ext uri="{FF2B5EF4-FFF2-40B4-BE49-F238E27FC236}">
                  <a16:creationId xmlns:a16="http://schemas.microsoft.com/office/drawing/2014/main" id="{B80EFAE2-63A7-938C-67CB-93B4CBD89333}"/>
                </a:ext>
              </a:extLst>
            </p:cNvPr>
            <p:cNvPicPr>
              <a:picLocks noChangeAspect="1"/>
            </p:cNvPicPr>
            <p:nvPr/>
          </p:nvPicPr>
          <p:blipFill>
            <a:blip r:embed="rId5" cstate="email">
              <a:alphaModFix amt="47000"/>
              <a:extLst>
                <a:ext uri="{28A0092B-C50C-407E-A947-70E740481C1C}">
                  <a14:useLocalDpi xmlns:a14="http://schemas.microsoft.com/office/drawing/2010/main"/>
                </a:ext>
              </a:extLst>
            </a:blip>
            <a:stretch>
              <a:fillRect/>
            </a:stretch>
          </p:blipFill>
          <p:spPr>
            <a:xfrm>
              <a:off x="2699779" y="2508420"/>
              <a:ext cx="2408849" cy="2154881"/>
            </a:xfrm>
            <a:prstGeom prst="rect">
              <a:avLst/>
            </a:prstGeom>
          </p:spPr>
        </p:pic>
      </p:grpSp>
    </p:spTree>
    <p:extLst>
      <p:ext uri="{BB962C8B-B14F-4D97-AF65-F5344CB8AC3E}">
        <p14:creationId xmlns:p14="http://schemas.microsoft.com/office/powerpoint/2010/main" val="323329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Image right)">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30A645-143C-C549-8137-B2F658CAF550}"/>
              </a:ext>
            </a:extLst>
          </p:cNvPr>
          <p:cNvSpPr>
            <a:spLocks noGrp="1"/>
          </p:cNvSpPr>
          <p:nvPr>
            <p:ph type="ctrTitle" hasCustomPrompt="1"/>
          </p:nvPr>
        </p:nvSpPr>
        <p:spPr>
          <a:xfrm>
            <a:off x="467827" y="1042740"/>
            <a:ext cx="6444417" cy="453595"/>
          </a:xfrm>
          <a:prstGeom prst="rect">
            <a:avLst/>
          </a:prstGeom>
        </p:spPr>
        <p:txBody>
          <a:bodyPr anchor="t" anchorCtr="0">
            <a:noAutofit/>
          </a:bodyPr>
          <a:lstStyle>
            <a:lvl1pPr algn="l">
              <a:defRPr sz="3600" b="1">
                <a:solidFill>
                  <a:schemeClr val="tx1"/>
                </a:solidFill>
                <a:latin typeface="Century Gothic" panose="020B0502020202020204" pitchFamily="34" charset="0"/>
              </a:defRPr>
            </a:lvl1pPr>
          </a:lstStyle>
          <a:p>
            <a:r>
              <a:rPr lang="en-US"/>
              <a:t>Add title here</a:t>
            </a:r>
          </a:p>
        </p:txBody>
      </p:sp>
      <p:sp>
        <p:nvSpPr>
          <p:cNvPr id="8" name="Subtitle 2">
            <a:extLst>
              <a:ext uri="{FF2B5EF4-FFF2-40B4-BE49-F238E27FC236}">
                <a16:creationId xmlns:a16="http://schemas.microsoft.com/office/drawing/2014/main" id="{495C92DF-6F98-0118-2C3B-5F31DB8388AB}"/>
              </a:ext>
            </a:extLst>
          </p:cNvPr>
          <p:cNvSpPr>
            <a:spLocks noGrp="1"/>
          </p:cNvSpPr>
          <p:nvPr>
            <p:ph type="subTitle" idx="10" hasCustomPrompt="1"/>
          </p:nvPr>
        </p:nvSpPr>
        <p:spPr>
          <a:xfrm>
            <a:off x="467827" y="1627007"/>
            <a:ext cx="6444416" cy="453595"/>
          </a:xfrm>
          <a:prstGeom prst="rect">
            <a:avLst/>
          </a:prstGeom>
        </p:spPr>
        <p:txBody>
          <a:bodyPr anchor="t" anchorCtr="0">
            <a:noAutofit/>
          </a:bodyPr>
          <a:lstStyle>
            <a:lvl1pPr marL="0" indent="0" algn="l">
              <a:buNone/>
              <a:defRPr sz="2000">
                <a:solidFill>
                  <a:schemeClr val="tx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Add sub-title here</a:t>
            </a:r>
          </a:p>
        </p:txBody>
      </p:sp>
      <p:sp>
        <p:nvSpPr>
          <p:cNvPr id="2" name="Picture Placeholder 17">
            <a:extLst>
              <a:ext uri="{FF2B5EF4-FFF2-40B4-BE49-F238E27FC236}">
                <a16:creationId xmlns:a16="http://schemas.microsoft.com/office/drawing/2014/main" id="{A1007F1D-3E98-3DF4-49CD-8C693E2E2123}"/>
              </a:ext>
            </a:extLst>
          </p:cNvPr>
          <p:cNvSpPr>
            <a:spLocks noGrp="1"/>
          </p:cNvSpPr>
          <p:nvPr>
            <p:ph type="pic" sz="quarter" idx="11" hasCustomPrompt="1"/>
          </p:nvPr>
        </p:nvSpPr>
        <p:spPr>
          <a:xfrm>
            <a:off x="7260165" y="-8466"/>
            <a:ext cx="4936985" cy="6646104"/>
          </a:xfrm>
          <a:custGeom>
            <a:avLst/>
            <a:gdLst>
              <a:gd name="connsiteX0" fmla="*/ 2191809 w 4936985"/>
              <a:gd name="connsiteY0" fmla="*/ 0 h 6646104"/>
              <a:gd name="connsiteX1" fmla="*/ 4936985 w 4936985"/>
              <a:gd name="connsiteY1" fmla="*/ 0 h 6646104"/>
              <a:gd name="connsiteX2" fmla="*/ 4936985 w 4936985"/>
              <a:gd name="connsiteY2" fmla="*/ 6646104 h 6646104"/>
              <a:gd name="connsiteX3" fmla="*/ 2155047 w 4936985"/>
              <a:gd name="connsiteY3" fmla="*/ 6646104 h 6646104"/>
              <a:gd name="connsiteX4" fmla="*/ 0 w 4936985"/>
              <a:gd name="connsiteY4" fmla="*/ 3331172 h 6646104"/>
              <a:gd name="connsiteX5" fmla="*/ 2191809 w 4936985"/>
              <a:gd name="connsiteY5" fmla="*/ 0 h 6646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6985" h="6646104">
                <a:moveTo>
                  <a:pt x="2191809" y="0"/>
                </a:moveTo>
                <a:lnTo>
                  <a:pt x="4936985" y="0"/>
                </a:lnTo>
                <a:lnTo>
                  <a:pt x="4936985" y="6646104"/>
                </a:lnTo>
                <a:lnTo>
                  <a:pt x="2155047" y="6646104"/>
                </a:lnTo>
                <a:cubicBezTo>
                  <a:pt x="884395" y="6076639"/>
                  <a:pt x="0" y="4806554"/>
                  <a:pt x="0" y="3331172"/>
                </a:cubicBezTo>
                <a:cubicBezTo>
                  <a:pt x="0" y="1841580"/>
                  <a:pt x="901533" y="561256"/>
                  <a:pt x="2191809" y="0"/>
                </a:cubicBezTo>
                <a:close/>
              </a:path>
            </a:pathLst>
          </a:custGeom>
        </p:spPr>
        <p:txBody>
          <a:bodyPr wrap="square" anchor="ctr">
            <a:noAutofit/>
          </a:bodyPr>
          <a:lstStyle>
            <a:lvl1pPr marL="0" indent="0" algn="ctr">
              <a:buFontTx/>
              <a:buNone/>
              <a:defRPr>
                <a:solidFill>
                  <a:schemeClr val="tx1"/>
                </a:solidFill>
              </a:defRPr>
            </a:lvl1pPr>
          </a:lstStyle>
          <a:p>
            <a:r>
              <a:rPr lang="en-US"/>
              <a:t>Add image here</a:t>
            </a:r>
          </a:p>
        </p:txBody>
      </p:sp>
      <p:sp>
        <p:nvSpPr>
          <p:cNvPr id="5" name="Slide Number Placeholder 1">
            <a:extLst>
              <a:ext uri="{FF2B5EF4-FFF2-40B4-BE49-F238E27FC236}">
                <a16:creationId xmlns:a16="http://schemas.microsoft.com/office/drawing/2014/main" id="{B97BD167-DF16-960F-0C06-BB8610E23F2B}"/>
              </a:ext>
            </a:extLst>
          </p:cNvPr>
          <p:cNvSpPr>
            <a:spLocks noGrp="1"/>
          </p:cNvSpPr>
          <p:nvPr>
            <p:ph type="sldNum" sz="quarter" idx="4"/>
          </p:nvPr>
        </p:nvSpPr>
        <p:spPr>
          <a:xfrm>
            <a:off x="11671663" y="6667299"/>
            <a:ext cx="520337" cy="163921"/>
          </a:xfrm>
          <a:prstGeom prst="rect">
            <a:avLst/>
          </a:prstGeom>
        </p:spPr>
        <p:txBody>
          <a:bodyPr vert="horz" lIns="91440" tIns="45720" rIns="91440" bIns="45720" rtlCol="0" anchor="ctr"/>
          <a:lstStyle>
            <a:lvl1pPr algn="r">
              <a:defRPr sz="1000">
                <a:solidFill>
                  <a:schemeClr val="tx1"/>
                </a:solidFill>
              </a:defRPr>
            </a:lvl1pPr>
          </a:lstStyle>
          <a:p>
            <a:fld id="{10F72CD9-C87C-466D-9EFA-E7957F699B62}" type="slidenum">
              <a:rPr lang="en-US" smtClean="0"/>
              <a:pPr/>
              <a:t>‹#›</a:t>
            </a:fld>
            <a:endParaRPr lang="en-US"/>
          </a:p>
        </p:txBody>
      </p:sp>
      <p:sp>
        <p:nvSpPr>
          <p:cNvPr id="10" name="Text Placeholder 3">
            <a:extLst>
              <a:ext uri="{FF2B5EF4-FFF2-40B4-BE49-F238E27FC236}">
                <a16:creationId xmlns:a16="http://schemas.microsoft.com/office/drawing/2014/main" id="{D1DA62B5-7C23-289A-090A-D59509404404}"/>
              </a:ext>
            </a:extLst>
          </p:cNvPr>
          <p:cNvSpPr>
            <a:spLocks noGrp="1"/>
          </p:cNvSpPr>
          <p:nvPr>
            <p:ph type="body" sz="quarter" idx="14" hasCustomPrompt="1"/>
          </p:nvPr>
        </p:nvSpPr>
        <p:spPr>
          <a:xfrm>
            <a:off x="467828" y="498144"/>
            <a:ext cx="1672451" cy="302955"/>
          </a:xfrm>
          <a:prstGeom prst="roundRect">
            <a:avLst>
              <a:gd name="adj" fmla="val 50000"/>
            </a:avLst>
          </a:prstGeom>
          <a:solidFill>
            <a:srgbClr val="FEE000"/>
          </a:solidFill>
        </p:spPr>
        <p:txBody>
          <a:bodyPr vert="horz" wrap="none" lIns="91440" tIns="0" rIns="91440" bIns="0" rtlCol="0" anchor="ctr" anchorCtr="0">
            <a:spAutoFit/>
          </a:bodyPr>
          <a:lstStyle>
            <a:lvl1pPr marL="0" indent="0">
              <a:buNone/>
              <a:defRPr lang="en-US" sz="1400" b="1" cap="all" baseline="0" dirty="0">
                <a:latin typeface="Century Gothic" panose="020B0502020202020204" pitchFamily="34" charset="0"/>
              </a:defRPr>
            </a:lvl1pPr>
          </a:lstStyle>
          <a:p>
            <a:pPr marL="0" lvl="0" indent="0">
              <a:lnSpc>
                <a:spcPct val="100000"/>
              </a:lnSpc>
              <a:spcBef>
                <a:spcPts val="0"/>
              </a:spcBef>
              <a:buClr>
                <a:schemeClr val="accent1"/>
              </a:buClr>
              <a:tabLst/>
            </a:pPr>
            <a:r>
              <a:rPr lang="en-US"/>
              <a:t>Add Topic Here</a:t>
            </a:r>
          </a:p>
        </p:txBody>
      </p:sp>
      <p:sp>
        <p:nvSpPr>
          <p:cNvPr id="15" name="Content Placeholder 14">
            <a:extLst>
              <a:ext uri="{FF2B5EF4-FFF2-40B4-BE49-F238E27FC236}">
                <a16:creationId xmlns:a16="http://schemas.microsoft.com/office/drawing/2014/main" id="{57FFF082-1DB1-D6A6-E9E6-25E466357067}"/>
              </a:ext>
            </a:extLst>
          </p:cNvPr>
          <p:cNvSpPr>
            <a:spLocks noGrp="1"/>
          </p:cNvSpPr>
          <p:nvPr>
            <p:ph sz="quarter" idx="16"/>
          </p:nvPr>
        </p:nvSpPr>
        <p:spPr>
          <a:xfrm>
            <a:off x="468313" y="2420938"/>
            <a:ext cx="6443662" cy="4110037"/>
          </a:xfrm>
        </p:spPr>
        <p:txBody>
          <a:bodyPr/>
          <a:lstStyle/>
          <a:p>
            <a:pPr lvl="0"/>
            <a:r>
              <a:rPr lang="en-US"/>
              <a:t>Click to edit Master text styles</a:t>
            </a:r>
          </a:p>
          <a:p>
            <a:pPr lvl="1"/>
            <a:r>
              <a:rPr lang="en-US"/>
              <a:t>Second level</a:t>
            </a:r>
          </a:p>
          <a:p>
            <a:pPr lvl="2"/>
            <a:r>
              <a:rPr lang="en-US"/>
              <a:t>Third level</a:t>
            </a:r>
          </a:p>
        </p:txBody>
      </p:sp>
      <p:sp>
        <p:nvSpPr>
          <p:cNvPr id="19" name="Footer Placeholder 18">
            <a:extLst>
              <a:ext uri="{FF2B5EF4-FFF2-40B4-BE49-F238E27FC236}">
                <a16:creationId xmlns:a16="http://schemas.microsoft.com/office/drawing/2014/main" id="{E53FEC99-C299-DBB3-D395-CECFCE16D381}"/>
              </a:ext>
            </a:extLst>
          </p:cNvPr>
          <p:cNvSpPr>
            <a:spLocks noGrp="1"/>
          </p:cNvSpPr>
          <p:nvPr>
            <p:ph type="ftr" sz="quarter" idx="17"/>
          </p:nvPr>
        </p:nvSpPr>
        <p:spPr/>
        <p:txBody>
          <a:bodyPr/>
          <a:lstStyle/>
          <a:p>
            <a:pPr marL="0" marR="0" lvl="0" indent="0" algn="l" defTabSz="91433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000000"/>
                </a:solidFill>
                <a:effectLst/>
                <a:uLnTx/>
                <a:uFillTx/>
                <a:latin typeface="Century Gothic" panose="020F0302020204030204"/>
                <a:ea typeface="+mn-ea"/>
                <a:cs typeface="+mn-cs"/>
              </a:rPr>
              <a:t>© </a:t>
            </a:r>
            <a:r>
              <a:rPr kumimoji="0" lang="en-CA" sz="1000" b="1" i="0" u="none" strike="noStrike" kern="1200" cap="none" spc="0" normalizeH="0" baseline="0" noProof="0">
                <a:ln>
                  <a:noFill/>
                </a:ln>
                <a:solidFill>
                  <a:srgbClr val="000000"/>
                </a:solidFill>
                <a:effectLst/>
                <a:uLnTx/>
                <a:uFillTx/>
                <a:latin typeface="Century Gothic" panose="020F0302020204030204"/>
                <a:ea typeface="+mn-ea"/>
                <a:cs typeface="+mn-cs"/>
              </a:rPr>
              <a:t>McCain Foods </a:t>
            </a:r>
            <a:r>
              <a:rPr kumimoji="0" lang="en-CA" sz="1000" b="0" i="0" u="none" strike="noStrike" kern="1200" cap="none" spc="0" normalizeH="0" baseline="0" noProof="0">
                <a:ln>
                  <a:noFill/>
                </a:ln>
                <a:solidFill>
                  <a:srgbClr val="000000"/>
                </a:solidFill>
                <a:effectLst/>
                <a:uLnTx/>
                <a:uFillTx/>
                <a:latin typeface="Century Gothic" panose="020F0302020204030204"/>
                <a:ea typeface="+mn-ea"/>
                <a:cs typeface="+mn-cs"/>
              </a:rPr>
              <a:t>| Confidential &amp; Proprietary</a:t>
            </a:r>
            <a:endParaRPr kumimoji="0" lang="en-US" sz="1000" b="0" i="0" u="none" strike="noStrike" kern="1200" cap="none" spc="0" normalizeH="0" baseline="0" noProof="0">
              <a:ln>
                <a:noFill/>
              </a:ln>
              <a:solidFill>
                <a:srgbClr val="000000"/>
              </a:solidFill>
              <a:effectLst/>
              <a:uLnTx/>
              <a:uFillTx/>
              <a:latin typeface="Century Gothic" panose="020F0302020204030204"/>
              <a:ea typeface="+mn-ea"/>
              <a:cs typeface="+mn-cs"/>
            </a:endParaRPr>
          </a:p>
        </p:txBody>
      </p:sp>
      <p:sp>
        <p:nvSpPr>
          <p:cNvPr id="7" name="Oval 6">
            <a:extLst>
              <a:ext uri="{FF2B5EF4-FFF2-40B4-BE49-F238E27FC236}">
                <a16:creationId xmlns:a16="http://schemas.microsoft.com/office/drawing/2014/main" id="{C49A0CB6-0941-549A-BBC1-B779DEF46A84}"/>
              </a:ext>
            </a:extLst>
          </p:cNvPr>
          <p:cNvSpPr/>
          <p:nvPr userDrawn="1"/>
        </p:nvSpPr>
        <p:spPr>
          <a:xfrm>
            <a:off x="8101677" y="5718590"/>
            <a:ext cx="640081" cy="64008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25889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Divider (image) 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0397DDB1-09BD-782A-AC3D-D084082A0646}"/>
              </a:ext>
            </a:extLst>
          </p:cNvPr>
          <p:cNvSpPr/>
          <p:nvPr userDrawn="1"/>
        </p:nvSpPr>
        <p:spPr>
          <a:xfrm>
            <a:off x="476504" y="2433029"/>
            <a:ext cx="11320272" cy="2322576"/>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8">
            <a:extLst>
              <a:ext uri="{FF2B5EF4-FFF2-40B4-BE49-F238E27FC236}">
                <a16:creationId xmlns:a16="http://schemas.microsoft.com/office/drawing/2014/main" id="{6F97AB83-7B84-1A1D-C086-1E39DE373B3F}"/>
              </a:ext>
            </a:extLst>
          </p:cNvPr>
          <p:cNvSpPr>
            <a:spLocks noGrp="1" noChangeAspect="1"/>
          </p:cNvSpPr>
          <p:nvPr>
            <p:ph type="pic" sz="quarter" idx="14"/>
          </p:nvPr>
        </p:nvSpPr>
        <p:spPr>
          <a:xfrm>
            <a:off x="558319" y="2483829"/>
            <a:ext cx="2194560" cy="2194560"/>
          </a:xfrm>
          <a:prstGeom prst="ellipse">
            <a:avLst/>
          </a:prstGeom>
          <a:solidFill>
            <a:srgbClr val="FEE000"/>
          </a:solidFill>
        </p:spPr>
        <p:txBody>
          <a:bodyPr wrap="none"/>
          <a:lstStyle>
            <a:lvl1pPr marL="0" indent="0">
              <a:buNone/>
              <a:defRPr sz="800">
                <a:latin typeface="Century Gothic" panose="020B0502020202020204" pitchFamily="34" charset="0"/>
              </a:defRPr>
            </a:lvl1pPr>
          </a:lstStyle>
          <a:p>
            <a:endParaRPr lang="en-US"/>
          </a:p>
        </p:txBody>
      </p:sp>
      <p:sp>
        <p:nvSpPr>
          <p:cNvPr id="3" name="Title 2">
            <a:extLst>
              <a:ext uri="{FF2B5EF4-FFF2-40B4-BE49-F238E27FC236}">
                <a16:creationId xmlns:a16="http://schemas.microsoft.com/office/drawing/2014/main" id="{8322B622-92A0-1898-66F1-28B1711AA17B}"/>
              </a:ext>
            </a:extLst>
          </p:cNvPr>
          <p:cNvSpPr>
            <a:spLocks noGrp="1"/>
          </p:cNvSpPr>
          <p:nvPr>
            <p:ph type="title" hasCustomPrompt="1"/>
          </p:nvPr>
        </p:nvSpPr>
        <p:spPr>
          <a:xfrm>
            <a:off x="2899953" y="2914581"/>
            <a:ext cx="8192589" cy="1352619"/>
          </a:xfrm>
          <a:prstGeom prst="rect">
            <a:avLst/>
          </a:prstGeom>
        </p:spPr>
        <p:txBody>
          <a:bodyPr/>
          <a:lstStyle>
            <a:lvl1pPr>
              <a:defRPr>
                <a:solidFill>
                  <a:schemeClr val="tx1"/>
                </a:solidFill>
              </a:defRPr>
            </a:lvl1pPr>
          </a:lstStyle>
          <a:p>
            <a:r>
              <a:rPr lang="en-US"/>
              <a:t>Add Title</a:t>
            </a:r>
          </a:p>
        </p:txBody>
      </p:sp>
    </p:spTree>
    <p:extLst>
      <p:ext uri="{BB962C8B-B14F-4D97-AF65-F5344CB8AC3E}">
        <p14:creationId xmlns:p14="http://schemas.microsoft.com/office/powerpoint/2010/main" val="115026176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aption + Title 2">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7FA97978-AB39-02C9-4B7B-3FA6AC1ED960}"/>
              </a:ext>
            </a:extLst>
          </p:cNvPr>
          <p:cNvSpPr>
            <a:spLocks noGrp="1"/>
          </p:cNvSpPr>
          <p:nvPr>
            <p:ph type="body" sz="quarter" idx="14" hasCustomPrompt="1"/>
          </p:nvPr>
        </p:nvSpPr>
        <p:spPr>
          <a:xfrm>
            <a:off x="467828" y="498145"/>
            <a:ext cx="1917087" cy="302955"/>
          </a:xfrm>
          <a:prstGeom prst="roundRect">
            <a:avLst>
              <a:gd name="adj" fmla="val 50000"/>
            </a:avLst>
          </a:prstGeom>
          <a:solidFill>
            <a:schemeClr val="accent6"/>
          </a:solidFill>
        </p:spPr>
        <p:txBody>
          <a:bodyPr wrap="none" lIns="180000" tIns="0" rIns="180000" bIns="0" anchor="ctr" anchorCtr="0">
            <a:spAutoFit/>
          </a:bodyPr>
          <a:lstStyle>
            <a:lvl1pPr marL="0" indent="0">
              <a:buNone/>
              <a:defRPr lang="en-US" sz="1400" b="1" cap="all" baseline="0" dirty="0">
                <a:solidFill>
                  <a:schemeClr val="bg1"/>
                </a:solidFill>
                <a:latin typeface="Century Gothic" panose="020B0502020202020204" pitchFamily="34" charset="0"/>
              </a:defRPr>
            </a:lvl1pPr>
          </a:lstStyle>
          <a:p>
            <a:pPr marL="53975" lvl="0">
              <a:lnSpc>
                <a:spcPct val="100000"/>
              </a:lnSpc>
              <a:spcBef>
                <a:spcPts val="0"/>
              </a:spcBef>
              <a:tabLst/>
            </a:pPr>
            <a:r>
              <a:rPr lang="en-US"/>
              <a:t>Add Topic Here</a:t>
            </a:r>
          </a:p>
        </p:txBody>
      </p:sp>
      <p:sp>
        <p:nvSpPr>
          <p:cNvPr id="2" name="Slide Number Placeholder 1">
            <a:extLst>
              <a:ext uri="{FF2B5EF4-FFF2-40B4-BE49-F238E27FC236}">
                <a16:creationId xmlns:a16="http://schemas.microsoft.com/office/drawing/2014/main" id="{04D9F6C5-A3F0-6D28-C1CA-80CC37092CEA}"/>
              </a:ext>
            </a:extLst>
          </p:cNvPr>
          <p:cNvSpPr>
            <a:spLocks noGrp="1"/>
          </p:cNvSpPr>
          <p:nvPr>
            <p:ph type="sldNum" sz="quarter" idx="4"/>
          </p:nvPr>
        </p:nvSpPr>
        <p:spPr>
          <a:xfrm>
            <a:off x="11671663" y="6667299"/>
            <a:ext cx="520337" cy="163921"/>
          </a:xfrm>
          <a:prstGeom prst="rect">
            <a:avLst/>
          </a:prstGeom>
        </p:spPr>
        <p:txBody>
          <a:bodyPr vert="horz" lIns="91440" tIns="45720" rIns="91440" bIns="45720" rtlCol="0" anchor="ctr"/>
          <a:lstStyle>
            <a:lvl1pPr algn="r">
              <a:defRPr sz="1000">
                <a:solidFill>
                  <a:schemeClr val="tx1"/>
                </a:solidFill>
              </a:defRPr>
            </a:lvl1pPr>
          </a:lstStyle>
          <a:p>
            <a:fld id="{10F72CD9-C87C-466D-9EFA-E7957F699B62}" type="slidenum">
              <a:rPr lang="en-US" smtClean="0"/>
              <a:pPr/>
              <a:t>‹#›</a:t>
            </a:fld>
            <a:endParaRPr lang="en-US"/>
          </a:p>
        </p:txBody>
      </p:sp>
      <p:sp>
        <p:nvSpPr>
          <p:cNvPr id="3" name="Title 1">
            <a:extLst>
              <a:ext uri="{FF2B5EF4-FFF2-40B4-BE49-F238E27FC236}">
                <a16:creationId xmlns:a16="http://schemas.microsoft.com/office/drawing/2014/main" id="{4BFFE900-BA86-AFE5-25DC-7979A02A339E}"/>
              </a:ext>
            </a:extLst>
          </p:cNvPr>
          <p:cNvSpPr>
            <a:spLocks noGrp="1"/>
          </p:cNvSpPr>
          <p:nvPr>
            <p:ph type="ctrTitle" hasCustomPrompt="1"/>
          </p:nvPr>
        </p:nvSpPr>
        <p:spPr>
          <a:xfrm>
            <a:off x="467827" y="1042740"/>
            <a:ext cx="11347454" cy="453595"/>
          </a:xfrm>
          <a:prstGeom prst="rect">
            <a:avLst/>
          </a:prstGeom>
        </p:spPr>
        <p:txBody>
          <a:bodyPr anchor="t" anchorCtr="0">
            <a:noAutofit/>
          </a:bodyPr>
          <a:lstStyle>
            <a:lvl1pPr algn="l">
              <a:defRPr sz="3600" b="1">
                <a:solidFill>
                  <a:schemeClr val="tx1"/>
                </a:solidFill>
                <a:latin typeface="Century Gothic" panose="020B0502020202020204" pitchFamily="34" charset="0"/>
              </a:defRPr>
            </a:lvl1pPr>
          </a:lstStyle>
          <a:p>
            <a:r>
              <a:rPr lang="en-US"/>
              <a:t>Add title here</a:t>
            </a:r>
          </a:p>
        </p:txBody>
      </p:sp>
      <p:sp>
        <p:nvSpPr>
          <p:cNvPr id="4" name="Footer Placeholder 3">
            <a:extLst>
              <a:ext uri="{FF2B5EF4-FFF2-40B4-BE49-F238E27FC236}">
                <a16:creationId xmlns:a16="http://schemas.microsoft.com/office/drawing/2014/main" id="{88AA0DD5-2C0F-4189-0A71-BC2C1916264D}"/>
              </a:ext>
            </a:extLst>
          </p:cNvPr>
          <p:cNvSpPr>
            <a:spLocks noGrp="1"/>
          </p:cNvSpPr>
          <p:nvPr>
            <p:ph type="ftr" sz="quarter" idx="15"/>
          </p:nvPr>
        </p:nvSpPr>
        <p:spPr/>
        <p:txBody>
          <a:bodyPr/>
          <a:lstStyle/>
          <a:p>
            <a:pPr marL="0" marR="0" lvl="0" indent="0" algn="l" defTabSz="91433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000000"/>
                </a:solidFill>
                <a:effectLst/>
                <a:uLnTx/>
                <a:uFillTx/>
                <a:latin typeface="Century Gothic" panose="020F0302020204030204"/>
                <a:ea typeface="+mn-ea"/>
                <a:cs typeface="+mn-cs"/>
              </a:rPr>
              <a:t>© </a:t>
            </a:r>
            <a:r>
              <a:rPr kumimoji="0" lang="en-CA" sz="1000" b="1" i="0" u="none" strike="noStrike" kern="1200" cap="none" spc="0" normalizeH="0" baseline="0" noProof="0">
                <a:ln>
                  <a:noFill/>
                </a:ln>
                <a:solidFill>
                  <a:srgbClr val="000000"/>
                </a:solidFill>
                <a:effectLst/>
                <a:uLnTx/>
                <a:uFillTx/>
                <a:latin typeface="Century Gothic" panose="020F0302020204030204"/>
                <a:ea typeface="+mn-ea"/>
                <a:cs typeface="+mn-cs"/>
              </a:rPr>
              <a:t>McCain Foods </a:t>
            </a:r>
            <a:r>
              <a:rPr kumimoji="0" lang="en-CA" sz="1000" b="0" i="0" u="none" strike="noStrike" kern="1200" cap="none" spc="0" normalizeH="0" baseline="0" noProof="0">
                <a:ln>
                  <a:noFill/>
                </a:ln>
                <a:solidFill>
                  <a:srgbClr val="000000"/>
                </a:solidFill>
                <a:effectLst/>
                <a:uLnTx/>
                <a:uFillTx/>
                <a:latin typeface="Century Gothic" panose="020F0302020204030204"/>
                <a:ea typeface="+mn-ea"/>
                <a:cs typeface="+mn-cs"/>
              </a:rPr>
              <a:t>| Confidential &amp; Proprietary</a:t>
            </a:r>
            <a:endParaRPr kumimoji="0" lang="en-US" sz="1000" b="0" i="0" u="none" strike="noStrike" kern="1200" cap="none" spc="0" normalizeH="0" baseline="0" noProof="0">
              <a:ln>
                <a:noFill/>
              </a:ln>
              <a:solidFill>
                <a:srgbClr val="000000"/>
              </a:solidFill>
              <a:effectLst/>
              <a:uLnTx/>
              <a:uFillTx/>
              <a:latin typeface="Century Gothic" panose="020F0302020204030204"/>
              <a:ea typeface="+mn-ea"/>
              <a:cs typeface="+mn-cs"/>
            </a:endParaRPr>
          </a:p>
        </p:txBody>
      </p:sp>
    </p:spTree>
    <p:extLst>
      <p:ext uri="{BB962C8B-B14F-4D97-AF65-F5344CB8AC3E}">
        <p14:creationId xmlns:p14="http://schemas.microsoft.com/office/powerpoint/2010/main" val="34713660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0874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C69257-0221-8D81-3D3D-AD3E51ACB0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F4F22D-2AF4-545F-45F4-38960BD94E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64CE61-CE17-3831-C8C7-65D2691EC1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9F0850-0D98-403E-8202-596FEC0594B5}" type="datetimeFigureOut">
              <a:rPr lang="en-US" smtClean="0"/>
              <a:t>7/8/2026</a:t>
            </a:fld>
            <a:endParaRPr lang="en-US"/>
          </a:p>
        </p:txBody>
      </p:sp>
      <p:sp>
        <p:nvSpPr>
          <p:cNvPr id="5" name="Footer Placeholder 4">
            <a:extLst>
              <a:ext uri="{FF2B5EF4-FFF2-40B4-BE49-F238E27FC236}">
                <a16:creationId xmlns:a16="http://schemas.microsoft.com/office/drawing/2014/main" id="{21666F3C-272A-D736-33FF-FE1A53C57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D7426BD-2C5C-C912-0EEB-14CE610307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5A8331-63BB-4D8F-9D5E-C991F0664B41}" type="slidenum">
              <a:rPr lang="en-US" smtClean="0"/>
              <a:t>‹#›</a:t>
            </a:fld>
            <a:endParaRPr lang="en-US"/>
          </a:p>
        </p:txBody>
      </p:sp>
    </p:spTree>
    <p:extLst>
      <p:ext uri="{BB962C8B-B14F-4D97-AF65-F5344CB8AC3E}">
        <p14:creationId xmlns:p14="http://schemas.microsoft.com/office/powerpoint/2010/main" val="40793885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EF687-80C8-6BEE-2FB9-F93B8EBB11A9}"/>
              </a:ext>
            </a:extLst>
          </p:cNvPr>
          <p:cNvSpPr txBox="1">
            <a:spLocks/>
          </p:cNvSpPr>
          <p:nvPr/>
        </p:nvSpPr>
        <p:spPr>
          <a:xfrm>
            <a:off x="372750" y="4371192"/>
            <a:ext cx="11178273" cy="1293888"/>
          </a:xfrm>
          <a:prstGeom prst="rect">
            <a:avLst/>
          </a:prstGeom>
        </p:spPr>
        <p:txBody>
          <a:bodyPr/>
          <a:lstStyle>
            <a:lvl1pPr algn="l" defTabSz="914318" rtl="0" eaLnBrk="1" latinLnBrk="0" hangingPunct="1">
              <a:lnSpc>
                <a:spcPct val="80000"/>
              </a:lnSpc>
              <a:spcBef>
                <a:spcPct val="0"/>
              </a:spcBef>
              <a:buNone/>
              <a:defRPr sz="4400" b="1" i="0" kern="1200" cap="none" spc="0" baseline="0">
                <a:solidFill>
                  <a:schemeClr val="tx1"/>
                </a:solidFill>
                <a:latin typeface="+mj-lt"/>
                <a:ea typeface="+mj-ea"/>
                <a:cs typeface="+mj-cs"/>
              </a:defRPr>
            </a:lvl1pPr>
          </a:lstStyle>
          <a:p>
            <a:r>
              <a:rPr lang="en-US" sz="3600">
                <a:solidFill>
                  <a:schemeClr val="bg1"/>
                </a:solidFill>
              </a:rPr>
              <a:t>Project Meridian – Way Forward Plan</a:t>
            </a:r>
          </a:p>
        </p:txBody>
      </p:sp>
    </p:spTree>
    <p:extLst>
      <p:ext uri="{BB962C8B-B14F-4D97-AF65-F5344CB8AC3E}">
        <p14:creationId xmlns:p14="http://schemas.microsoft.com/office/powerpoint/2010/main" val="1307489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C35AC-D1A0-B917-8D59-79BB0E3A6C92}"/>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EED5525-B383-41B2-410C-07489CA79E91}"/>
              </a:ext>
            </a:extLst>
          </p:cNvPr>
          <p:cNvSpPr>
            <a:spLocks noGrp="1"/>
          </p:cNvSpPr>
          <p:nvPr>
            <p:ph type="body" sz="quarter" idx="14"/>
          </p:nvPr>
        </p:nvSpPr>
        <p:spPr>
          <a:xfrm>
            <a:off x="467828" y="294352"/>
            <a:ext cx="1044623" cy="327751"/>
          </a:xfrm>
        </p:spPr>
        <p:txBody>
          <a:bodyPr/>
          <a:lstStyle/>
          <a:p>
            <a:r>
              <a:rPr lang="en-US">
                <a:latin typeface="Century Gothic"/>
              </a:rPr>
              <a:t>Agenda</a:t>
            </a:r>
          </a:p>
        </p:txBody>
      </p:sp>
      <p:graphicFrame>
        <p:nvGraphicFramePr>
          <p:cNvPr id="5" name="Table 4">
            <a:extLst>
              <a:ext uri="{FF2B5EF4-FFF2-40B4-BE49-F238E27FC236}">
                <a16:creationId xmlns:a16="http://schemas.microsoft.com/office/drawing/2014/main" id="{1E5EC458-6A3F-8DE3-9942-74AAF47C4C8C}"/>
              </a:ext>
            </a:extLst>
          </p:cNvPr>
          <p:cNvGraphicFramePr>
            <a:graphicFrameLocks noGrp="1"/>
          </p:cNvGraphicFramePr>
          <p:nvPr>
            <p:extLst>
              <p:ext uri="{D42A27DB-BD31-4B8C-83A1-F6EECF244321}">
                <p14:modId xmlns:p14="http://schemas.microsoft.com/office/powerpoint/2010/main" val="2448310187"/>
              </p:ext>
            </p:extLst>
          </p:nvPr>
        </p:nvGraphicFramePr>
        <p:xfrm>
          <a:off x="313509" y="741689"/>
          <a:ext cx="9175114" cy="2743200"/>
        </p:xfrm>
        <a:graphic>
          <a:graphicData uri="http://schemas.openxmlformats.org/drawingml/2006/table">
            <a:tbl>
              <a:tblPr>
                <a:tableStyleId>{10A1B5D5-9B99-4C35-A422-299274C87663}</a:tableStyleId>
              </a:tblPr>
              <a:tblGrid>
                <a:gridCol w="4522020">
                  <a:extLst>
                    <a:ext uri="{9D8B030D-6E8A-4147-A177-3AD203B41FA5}">
                      <a16:colId xmlns:a16="http://schemas.microsoft.com/office/drawing/2014/main" val="2469187541"/>
                    </a:ext>
                  </a:extLst>
                </a:gridCol>
                <a:gridCol w="4653094">
                  <a:extLst>
                    <a:ext uri="{9D8B030D-6E8A-4147-A177-3AD203B41FA5}">
                      <a16:colId xmlns:a16="http://schemas.microsoft.com/office/drawing/2014/main" val="2679813104"/>
                    </a:ext>
                  </a:extLst>
                </a:gridCol>
              </a:tblGrid>
              <a:tr h="548640">
                <a:tc>
                  <a:txBody>
                    <a:bodyPr/>
                    <a:lstStyle/>
                    <a:p>
                      <a:pPr algn="ctr" fontAlgn="ctr">
                        <a:buNone/>
                      </a:pPr>
                      <a:r>
                        <a:rPr lang="en-US" sz="1400" b="1" u="none" strike="noStrike">
                          <a:solidFill>
                            <a:srgbClr val="000000"/>
                          </a:solidFill>
                          <a:effectLst/>
                        </a:rPr>
                        <a:t>Topic</a:t>
                      </a:r>
                      <a:endParaRPr lang="en-US" sz="1400" b="1" i="0" u="none" strike="noStrike">
                        <a:solidFill>
                          <a:srgbClr val="000000"/>
                        </a:solidFill>
                        <a:effectLst/>
                        <a:latin typeface="Aptos Narrow" panose="020B0004020202020204" pitchFamily="34" charset="0"/>
                      </a:endParaRPr>
                    </a:p>
                  </a:txBody>
                  <a:tcPr marL="0" marR="0" marT="0" marB="0" anchor="ctr">
                    <a:solidFill>
                      <a:schemeClr val="accent6">
                        <a:lumMod val="20000"/>
                        <a:lumOff val="80000"/>
                      </a:schemeClr>
                    </a:solidFill>
                  </a:tcPr>
                </a:tc>
                <a:tc>
                  <a:txBody>
                    <a:bodyPr/>
                    <a:lstStyle/>
                    <a:p>
                      <a:pPr algn="ctr" fontAlgn="ctr">
                        <a:buNone/>
                      </a:pPr>
                      <a:r>
                        <a:rPr lang="en-US" sz="1400" b="1" u="none" strike="noStrike">
                          <a:solidFill>
                            <a:srgbClr val="000000"/>
                          </a:solidFill>
                          <a:effectLst/>
                        </a:rPr>
                        <a:t>Slide #</a:t>
                      </a:r>
                      <a:endParaRPr lang="en-US" sz="1400" b="1" i="0" u="none" strike="noStrike">
                        <a:solidFill>
                          <a:srgbClr val="000000"/>
                        </a:solidFill>
                        <a:effectLst/>
                        <a:latin typeface="Aptos Narrow" panose="020B000402020202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244953413"/>
                  </a:ext>
                </a:extLst>
              </a:tr>
              <a:tr h="365760">
                <a:tc>
                  <a:txBody>
                    <a:bodyPr/>
                    <a:lstStyle/>
                    <a:p>
                      <a:r>
                        <a:rPr lang="en-US" sz="1200"/>
                        <a:t> Project Meridian intro</a:t>
                      </a:r>
                    </a:p>
                  </a:txBody>
                  <a:tcPr marL="180000" marR="6350" marT="6350" marB="0" anchor="ctr">
                    <a:noFill/>
                  </a:tcPr>
                </a:tc>
                <a:tc>
                  <a:txBody>
                    <a:bodyPr/>
                    <a:lstStyle/>
                    <a:p>
                      <a:pPr algn="ctr" fontAlgn="b">
                        <a:buNone/>
                      </a:pPr>
                      <a:r>
                        <a:rPr lang="en-US" sz="1200" b="0" i="0" u="none" strike="noStrike" kern="1200">
                          <a:solidFill>
                            <a:srgbClr val="000000"/>
                          </a:solidFill>
                          <a:effectLst/>
                          <a:latin typeface="+mj-lt"/>
                          <a:ea typeface="+mn-ea"/>
                          <a:cs typeface="+mn-cs"/>
                        </a:rPr>
                        <a:t>3</a:t>
                      </a:r>
                    </a:p>
                  </a:txBody>
                  <a:tcPr marL="6350" marR="6350" marT="6350" marB="0" anchor="ctr">
                    <a:noFill/>
                  </a:tcPr>
                </a:tc>
                <a:extLst>
                  <a:ext uri="{0D108BD9-81ED-4DB2-BD59-A6C34878D82A}">
                    <a16:rowId xmlns:a16="http://schemas.microsoft.com/office/drawing/2014/main" val="742296878"/>
                  </a:ext>
                </a:extLst>
              </a:tr>
              <a:tr h="365760">
                <a:tc>
                  <a:txBody>
                    <a:bodyPr/>
                    <a:lstStyle/>
                    <a:p>
                      <a:pPr marL="0" marR="0" lvl="0" indent="0" algn="l" defTabSz="914318" rtl="0" eaLnBrk="1" fontAlgn="b" latinLnBrk="0" hangingPunct="1">
                        <a:lnSpc>
                          <a:spcPct val="100000"/>
                        </a:lnSpc>
                        <a:spcBef>
                          <a:spcPts val="0"/>
                        </a:spcBef>
                        <a:spcAft>
                          <a:spcPts val="0"/>
                        </a:spcAft>
                        <a:buClrTx/>
                        <a:buSzTx/>
                        <a:buFontTx/>
                        <a:buNone/>
                        <a:tabLst/>
                        <a:defRPr/>
                      </a:pPr>
                      <a:r>
                        <a:rPr lang="en-US" sz="1200"/>
                        <a:t>Supply Chain Assistant</a:t>
                      </a:r>
                      <a:endParaRPr lang="en-US" sz="1200" b="0" i="0" u="none" strike="noStrike" kern="1200">
                        <a:solidFill>
                          <a:srgbClr val="000000"/>
                        </a:solidFill>
                        <a:effectLst/>
                        <a:latin typeface="+mn-lt"/>
                        <a:ea typeface="+mn-ea"/>
                        <a:cs typeface="+mn-cs"/>
                      </a:endParaRPr>
                    </a:p>
                  </a:txBody>
                  <a:tcPr marL="180000" marR="6350" marT="6350" marB="0" anchor="ctr">
                    <a:noFill/>
                  </a:tcPr>
                </a:tc>
                <a:tc>
                  <a:txBody>
                    <a:bodyPr/>
                    <a:lstStyle/>
                    <a:p>
                      <a:pPr algn="ctr" fontAlgn="b">
                        <a:buNone/>
                      </a:pPr>
                      <a:r>
                        <a:rPr lang="sv-SE" sz="1200" b="0" i="0" u="none" strike="noStrike" kern="1200">
                          <a:solidFill>
                            <a:srgbClr val="000000"/>
                          </a:solidFill>
                          <a:effectLst/>
                          <a:latin typeface="+mj-lt"/>
                          <a:ea typeface="+mn-ea"/>
                          <a:cs typeface="+mn-cs"/>
                        </a:rPr>
                        <a:t>7</a:t>
                      </a:r>
                    </a:p>
                  </a:txBody>
                  <a:tcPr marL="6350" marR="6350" marT="6350" marB="0" anchor="ctr">
                    <a:noFill/>
                  </a:tcPr>
                </a:tc>
                <a:extLst>
                  <a:ext uri="{0D108BD9-81ED-4DB2-BD59-A6C34878D82A}">
                    <a16:rowId xmlns:a16="http://schemas.microsoft.com/office/drawing/2014/main" val="2044104281"/>
                  </a:ext>
                </a:extLst>
              </a:tr>
              <a:tr h="365760">
                <a:tc>
                  <a:txBody>
                    <a:bodyPr/>
                    <a:lstStyle/>
                    <a:p>
                      <a:pPr algn="l" fontAlgn="b">
                        <a:buNone/>
                      </a:pPr>
                      <a:r>
                        <a:rPr lang="en-US" sz="1200"/>
                        <a:t>Our approach</a:t>
                      </a:r>
                      <a:endParaRPr lang="en-US" sz="1200" b="0" i="0" u="none" strike="noStrike" kern="1200">
                        <a:solidFill>
                          <a:srgbClr val="000000"/>
                        </a:solidFill>
                        <a:effectLst/>
                        <a:latin typeface="+mj-lt"/>
                        <a:ea typeface="+mn-ea"/>
                        <a:cs typeface="+mn-cs"/>
                      </a:endParaRPr>
                    </a:p>
                  </a:txBody>
                  <a:tcPr marL="180000" marR="6350" marT="6350" marB="0" anchor="ctr">
                    <a:noFill/>
                  </a:tcPr>
                </a:tc>
                <a:tc>
                  <a:txBody>
                    <a:bodyPr/>
                    <a:lstStyle/>
                    <a:p>
                      <a:pPr algn="ctr" fontAlgn="b">
                        <a:buNone/>
                      </a:pPr>
                      <a:r>
                        <a:rPr lang="en-US" sz="1200" b="0" i="0" u="none" strike="noStrike" kern="1200">
                          <a:solidFill>
                            <a:srgbClr val="000000"/>
                          </a:solidFill>
                          <a:effectLst/>
                          <a:latin typeface="+mj-lt"/>
                          <a:ea typeface="+mn-ea"/>
                          <a:cs typeface="+mn-cs"/>
                        </a:rPr>
                        <a:t>12</a:t>
                      </a:r>
                    </a:p>
                  </a:txBody>
                  <a:tcPr marL="6350" marR="6350" marT="6350" marB="0" anchor="ctr">
                    <a:noFill/>
                  </a:tcPr>
                </a:tc>
                <a:extLst>
                  <a:ext uri="{0D108BD9-81ED-4DB2-BD59-A6C34878D82A}">
                    <a16:rowId xmlns:a16="http://schemas.microsoft.com/office/drawing/2014/main" val="3853112222"/>
                  </a:ext>
                </a:extLst>
              </a:tr>
              <a:tr h="365760">
                <a:tc>
                  <a:txBody>
                    <a:bodyPr/>
                    <a:lstStyle/>
                    <a:p>
                      <a:pPr algn="l" fontAlgn="b">
                        <a:buNone/>
                      </a:pPr>
                      <a:r>
                        <a:rPr lang="en-US" sz="1200"/>
                        <a:t>Roadmap &amp; timelines</a:t>
                      </a:r>
                      <a:endParaRPr lang="en-US" sz="1200" b="0" i="0" u="none" strike="noStrike" kern="1200">
                        <a:solidFill>
                          <a:srgbClr val="000000"/>
                        </a:solidFill>
                        <a:effectLst/>
                        <a:latin typeface="+mj-lt"/>
                        <a:ea typeface="+mn-ea"/>
                        <a:cs typeface="+mn-cs"/>
                      </a:endParaRPr>
                    </a:p>
                  </a:txBody>
                  <a:tcPr marL="180000" marR="6350" marT="6350" marB="0" anchor="ctr">
                    <a:noFill/>
                  </a:tcPr>
                </a:tc>
                <a:tc>
                  <a:txBody>
                    <a:bodyPr/>
                    <a:lstStyle/>
                    <a:p>
                      <a:pPr algn="ctr" fontAlgn="b">
                        <a:buNone/>
                      </a:pPr>
                      <a:r>
                        <a:rPr lang="en-US" sz="1200" b="0" i="0" u="none" strike="noStrike" kern="1200">
                          <a:solidFill>
                            <a:srgbClr val="000000"/>
                          </a:solidFill>
                          <a:effectLst/>
                          <a:latin typeface="+mj-lt"/>
                          <a:ea typeface="+mn-ea"/>
                          <a:cs typeface="+mn-cs"/>
                        </a:rPr>
                        <a:t>18</a:t>
                      </a:r>
                    </a:p>
                  </a:txBody>
                  <a:tcPr marL="6350" marR="6350" marT="6350" marB="0" anchor="ctr">
                    <a:noFill/>
                  </a:tcPr>
                </a:tc>
                <a:extLst>
                  <a:ext uri="{0D108BD9-81ED-4DB2-BD59-A6C34878D82A}">
                    <a16:rowId xmlns:a16="http://schemas.microsoft.com/office/drawing/2014/main" val="2886485857"/>
                  </a:ext>
                </a:extLst>
              </a:tr>
              <a:tr h="365760">
                <a:tc>
                  <a:txBody>
                    <a:bodyPr/>
                    <a:lstStyle/>
                    <a:p>
                      <a:pPr algn="l" fontAlgn="b">
                        <a:buNone/>
                      </a:pPr>
                      <a:r>
                        <a:rPr lang="en-US" sz="1200"/>
                        <a:t>Roles and Responsibilities</a:t>
                      </a:r>
                      <a:endParaRPr lang="en-US" sz="1200" b="0" i="0" u="none" strike="noStrike" kern="1200">
                        <a:solidFill>
                          <a:srgbClr val="000000"/>
                        </a:solidFill>
                        <a:effectLst/>
                        <a:latin typeface="+mj-lt"/>
                        <a:ea typeface="+mn-ea"/>
                        <a:cs typeface="+mn-cs"/>
                      </a:endParaRPr>
                    </a:p>
                  </a:txBody>
                  <a:tcPr marL="180000" marR="6350" marT="6350" marB="0" anchor="ctr">
                    <a:noFill/>
                  </a:tcPr>
                </a:tc>
                <a:tc>
                  <a:txBody>
                    <a:bodyPr/>
                    <a:lstStyle/>
                    <a:p>
                      <a:pPr algn="ctr" fontAlgn="b">
                        <a:buNone/>
                      </a:pPr>
                      <a:r>
                        <a:rPr lang="en-US" sz="1200" b="0" i="0" u="none" strike="noStrike" kern="1200">
                          <a:solidFill>
                            <a:srgbClr val="000000"/>
                          </a:solidFill>
                          <a:effectLst/>
                          <a:latin typeface="+mj-lt"/>
                          <a:ea typeface="+mn-ea"/>
                          <a:cs typeface="+mn-cs"/>
                        </a:rPr>
                        <a:t>21</a:t>
                      </a:r>
                    </a:p>
                  </a:txBody>
                  <a:tcPr marL="6350" marR="6350" marT="6350" marB="0" anchor="ctr">
                    <a:noFill/>
                  </a:tcPr>
                </a:tc>
                <a:extLst>
                  <a:ext uri="{0D108BD9-81ED-4DB2-BD59-A6C34878D82A}">
                    <a16:rowId xmlns:a16="http://schemas.microsoft.com/office/drawing/2014/main" val="924549058"/>
                  </a:ext>
                </a:extLst>
              </a:tr>
              <a:tr h="365760">
                <a:tc>
                  <a:txBody>
                    <a:bodyPr/>
                    <a:lstStyle/>
                    <a:p>
                      <a:pPr algn="l" fontAlgn="b">
                        <a:buNone/>
                      </a:pPr>
                      <a:r>
                        <a:rPr lang="en-US" sz="1200" b="0" i="0" u="none" strike="noStrike" kern="1200">
                          <a:solidFill>
                            <a:srgbClr val="000000"/>
                          </a:solidFill>
                          <a:effectLst/>
                          <a:latin typeface="+mj-lt"/>
                          <a:ea typeface="+mn-ea"/>
                          <a:cs typeface="+mn-cs"/>
                        </a:rPr>
                        <a:t>Appendix</a:t>
                      </a:r>
                    </a:p>
                  </a:txBody>
                  <a:tcPr marL="180000" marR="6350" marT="6350" marB="0" anchor="ctr">
                    <a:noFill/>
                  </a:tcPr>
                </a:tc>
                <a:tc>
                  <a:txBody>
                    <a:bodyPr/>
                    <a:lstStyle/>
                    <a:p>
                      <a:pPr algn="ctr" fontAlgn="b">
                        <a:buNone/>
                      </a:pPr>
                      <a:r>
                        <a:rPr lang="en-US" sz="1200" b="0" i="0" u="none" strike="noStrike" kern="1200">
                          <a:solidFill>
                            <a:srgbClr val="000000"/>
                          </a:solidFill>
                          <a:effectLst/>
                          <a:latin typeface="+mj-lt"/>
                          <a:ea typeface="+mn-ea"/>
                          <a:cs typeface="+mn-cs"/>
                        </a:rPr>
                        <a:t>23</a:t>
                      </a:r>
                    </a:p>
                  </a:txBody>
                  <a:tcPr marL="6350" marR="6350" marT="6350" marB="0" anchor="ctr">
                    <a:noFill/>
                  </a:tcPr>
                </a:tc>
                <a:extLst>
                  <a:ext uri="{0D108BD9-81ED-4DB2-BD59-A6C34878D82A}">
                    <a16:rowId xmlns:a16="http://schemas.microsoft.com/office/drawing/2014/main" val="130540218"/>
                  </a:ext>
                </a:extLst>
              </a:tr>
            </a:tbl>
          </a:graphicData>
        </a:graphic>
      </p:graphicFrame>
    </p:spTree>
    <p:extLst>
      <p:ext uri="{BB962C8B-B14F-4D97-AF65-F5344CB8AC3E}">
        <p14:creationId xmlns:p14="http://schemas.microsoft.com/office/powerpoint/2010/main" val="2820753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09C5655-81CD-4B95-FD1F-BF8F72A97D0D}"/>
              </a:ext>
            </a:extLst>
          </p:cNvPr>
          <p:cNvSpPr>
            <a:spLocks noGrp="1"/>
          </p:cNvSpPr>
          <p:nvPr>
            <p:ph type="pic" sz="quarter" idx="14"/>
          </p:nvPr>
        </p:nvSpPr>
        <p:spPr/>
        <p:txBody>
          <a:bodyPr/>
          <a:lstStyle/>
          <a:p>
            <a:endParaRPr lang="en-IN"/>
          </a:p>
        </p:txBody>
      </p:sp>
      <p:sp>
        <p:nvSpPr>
          <p:cNvPr id="7" name="Title 6">
            <a:extLst>
              <a:ext uri="{FF2B5EF4-FFF2-40B4-BE49-F238E27FC236}">
                <a16:creationId xmlns:a16="http://schemas.microsoft.com/office/drawing/2014/main" id="{06F75849-DFCA-9EF5-01E5-E425E26FDFA1}"/>
              </a:ext>
            </a:extLst>
          </p:cNvPr>
          <p:cNvSpPr>
            <a:spLocks noGrp="1"/>
          </p:cNvSpPr>
          <p:nvPr>
            <p:ph type="title"/>
          </p:nvPr>
        </p:nvSpPr>
        <p:spPr/>
        <p:txBody>
          <a:bodyPr/>
          <a:lstStyle/>
          <a:p>
            <a:r>
              <a:rPr lang="en-US"/>
              <a:t>Project Meridian Overview</a:t>
            </a:r>
            <a:endParaRPr lang="en-IN"/>
          </a:p>
        </p:txBody>
      </p:sp>
    </p:spTree>
    <p:extLst>
      <p:ext uri="{BB962C8B-B14F-4D97-AF65-F5344CB8AC3E}">
        <p14:creationId xmlns:p14="http://schemas.microsoft.com/office/powerpoint/2010/main" val="3810052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8DAC2-B6B1-DEFF-64D7-0FFEF1F42DA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1AED00E-3C68-05FC-E69A-9EA9023310AD}"/>
              </a:ext>
            </a:extLst>
          </p:cNvPr>
          <p:cNvSpPr>
            <a:spLocks noGrp="1"/>
          </p:cNvSpPr>
          <p:nvPr>
            <p:ph type="body" sz="quarter" idx="14"/>
          </p:nvPr>
        </p:nvSpPr>
        <p:spPr>
          <a:xfrm>
            <a:off x="467828" y="485747"/>
            <a:ext cx="1725508" cy="327751"/>
          </a:xfrm>
        </p:spPr>
        <p:txBody>
          <a:bodyPr/>
          <a:lstStyle/>
          <a:p>
            <a:r>
              <a:rPr lang="en-US">
                <a:latin typeface="Century Gothic"/>
              </a:rPr>
              <a:t>Business case</a:t>
            </a:r>
          </a:p>
        </p:txBody>
      </p:sp>
      <p:sp>
        <p:nvSpPr>
          <p:cNvPr id="4" name="Title 3">
            <a:extLst>
              <a:ext uri="{FF2B5EF4-FFF2-40B4-BE49-F238E27FC236}">
                <a16:creationId xmlns:a16="http://schemas.microsoft.com/office/drawing/2014/main" id="{D132E27A-0755-8585-5100-F7BE45ECD563}"/>
              </a:ext>
            </a:extLst>
          </p:cNvPr>
          <p:cNvSpPr>
            <a:spLocks noGrp="1"/>
          </p:cNvSpPr>
          <p:nvPr>
            <p:ph type="ctrTitle"/>
          </p:nvPr>
        </p:nvSpPr>
        <p:spPr>
          <a:xfrm>
            <a:off x="467827" y="1042740"/>
            <a:ext cx="10703756" cy="453595"/>
          </a:xfrm>
        </p:spPr>
        <p:txBody>
          <a:bodyPr/>
          <a:lstStyle/>
          <a:p>
            <a:r>
              <a:rPr lang="en-CA">
                <a:latin typeface="+mn-lt"/>
              </a:rPr>
              <a:t>Overview – Project Meridian</a:t>
            </a:r>
            <a:endParaRPr lang="en-US"/>
          </a:p>
        </p:txBody>
      </p:sp>
      <p:sp>
        <p:nvSpPr>
          <p:cNvPr id="3" name="TextBox 2">
            <a:extLst>
              <a:ext uri="{FF2B5EF4-FFF2-40B4-BE49-F238E27FC236}">
                <a16:creationId xmlns:a16="http://schemas.microsoft.com/office/drawing/2014/main" id="{8E3474A6-0F74-DA1F-CFEA-6637D283E575}"/>
              </a:ext>
            </a:extLst>
          </p:cNvPr>
          <p:cNvSpPr txBox="1"/>
          <p:nvPr/>
        </p:nvSpPr>
        <p:spPr>
          <a:xfrm>
            <a:off x="630862" y="1843050"/>
            <a:ext cx="10930275"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Project Meridian is an initiative which is targeting to embed automation in AI in the customer service lifecycle processes. With this initiative business have identified multiple operational efficiency and high value customer satisfaction initiative. Following are the high-level use cases:</a:t>
            </a:r>
          </a:p>
          <a:p>
            <a:endParaRPr lang="en-US" sz="1600"/>
          </a:p>
          <a:p>
            <a:pPr marL="285750" indent="-285750" fontAlgn="t">
              <a:buFont typeface="Arial" panose="020B0604020202020204" pitchFamily="34" charset="0"/>
              <a:buChar char="•"/>
            </a:pPr>
            <a:r>
              <a:rPr lang="en-US" sz="1600"/>
              <a:t>Order Entry &amp; Capture </a:t>
            </a:r>
          </a:p>
          <a:p>
            <a:pPr marL="285750" indent="-285750" fontAlgn="t">
              <a:buFont typeface="Arial" panose="020B0604020202020204" pitchFamily="34" charset="0"/>
              <a:buChar char="•"/>
            </a:pPr>
            <a:r>
              <a:rPr lang="en-US" sz="1600"/>
              <a:t>Order Management &amp; Visibility </a:t>
            </a:r>
          </a:p>
          <a:p>
            <a:pPr marL="285750" indent="-285750" fontAlgn="t">
              <a:buFont typeface="Arial" panose="020B0604020202020204" pitchFamily="34" charset="0"/>
              <a:buChar char="•"/>
            </a:pPr>
            <a:r>
              <a:rPr lang="en-US" sz="1600"/>
              <a:t>Inventory &amp; Stock Visibility </a:t>
            </a:r>
          </a:p>
          <a:p>
            <a:pPr marL="285750" indent="-285750" fontAlgn="t">
              <a:buFont typeface="Arial" panose="020B0604020202020204" pitchFamily="34" charset="0"/>
              <a:buChar char="•"/>
            </a:pPr>
            <a:r>
              <a:rPr lang="en-US" sz="1600"/>
              <a:t>Credit Management </a:t>
            </a:r>
          </a:p>
          <a:p>
            <a:pPr marL="285750" indent="-285750" fontAlgn="t">
              <a:buFont typeface="Arial" panose="020B0604020202020204" pitchFamily="34" charset="0"/>
              <a:buChar char="•"/>
            </a:pPr>
            <a:r>
              <a:rPr lang="en-US" sz="1600"/>
              <a:t>Pro-forma &amp; Pre-Invoice Processing </a:t>
            </a:r>
          </a:p>
          <a:p>
            <a:pPr marL="285750" indent="-285750" fontAlgn="t">
              <a:buFont typeface="Arial" panose="020B0604020202020204" pitchFamily="34" charset="0"/>
              <a:buChar char="•"/>
            </a:pPr>
            <a:r>
              <a:rPr lang="en-US" sz="1600"/>
              <a:t>Delivery Planning &amp; Execution </a:t>
            </a:r>
          </a:p>
          <a:p>
            <a:pPr marL="285750" indent="-285750" fontAlgn="t">
              <a:buFont typeface="Arial" panose="020B0604020202020204" pitchFamily="34" charset="0"/>
              <a:buChar char="•"/>
            </a:pPr>
            <a:r>
              <a:rPr lang="en-US" sz="1600"/>
              <a:t>Shipment &amp; Logistics </a:t>
            </a:r>
          </a:p>
          <a:p>
            <a:pPr marL="285750" indent="-285750" fontAlgn="t">
              <a:buFont typeface="Arial" panose="020B0604020202020204" pitchFamily="34" charset="0"/>
              <a:buChar char="•"/>
            </a:pPr>
            <a:r>
              <a:rPr lang="en-US" sz="1600"/>
              <a:t>Customer Delivery Invoicing</a:t>
            </a:r>
          </a:p>
          <a:p>
            <a:pPr marL="285750" indent="-285750" fontAlgn="t">
              <a:buFont typeface="Arial" panose="020B0604020202020204" pitchFamily="34" charset="0"/>
              <a:buChar char="•"/>
            </a:pPr>
            <a:r>
              <a:rPr lang="en-US" sz="1600"/>
              <a:t> Claims &amp; Credit Notes</a:t>
            </a:r>
          </a:p>
          <a:p>
            <a:endParaRPr lang="en-US" sz="1600"/>
          </a:p>
          <a:p>
            <a:r>
              <a:rPr lang="en-US" sz="1600"/>
              <a:t>Order Management &amp; Visibility is the prioritized use case as per the data availability, architecture feasibility and requested across regions.</a:t>
            </a:r>
          </a:p>
          <a:p>
            <a:endParaRPr lang="en-US" sz="1600"/>
          </a:p>
        </p:txBody>
      </p:sp>
    </p:spTree>
    <p:extLst>
      <p:ext uri="{BB962C8B-B14F-4D97-AF65-F5344CB8AC3E}">
        <p14:creationId xmlns:p14="http://schemas.microsoft.com/office/powerpoint/2010/main" val="1767191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691B3-8C4F-841F-9AE4-A8A75E4DE63F}"/>
            </a:ext>
          </a:extLst>
        </p:cNvPr>
        <p:cNvGrpSpPr/>
        <p:nvPr/>
      </p:nvGrpSpPr>
      <p:grpSpPr>
        <a:xfrm>
          <a:off x="0" y="0"/>
          <a:ext cx="0" cy="0"/>
          <a:chOff x="0" y="0"/>
          <a:chExt cx="0" cy="0"/>
        </a:xfrm>
      </p:grpSpPr>
      <p:sp>
        <p:nvSpPr>
          <p:cNvPr id="20" name="Flecha: a la derecha 19">
            <a:extLst>
              <a:ext uri="{FF2B5EF4-FFF2-40B4-BE49-F238E27FC236}">
                <a16:creationId xmlns:a16="http://schemas.microsoft.com/office/drawing/2014/main" id="{A2DBDB2A-CB0F-D27F-6498-6F0FA4DF9325}"/>
              </a:ext>
            </a:extLst>
          </p:cNvPr>
          <p:cNvSpPr/>
          <p:nvPr/>
        </p:nvSpPr>
        <p:spPr>
          <a:xfrm rot="922344">
            <a:off x="890124" y="2489745"/>
            <a:ext cx="11395107" cy="2035669"/>
          </a:xfrm>
          <a:prstGeom prs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Text 1">
            <a:extLst>
              <a:ext uri="{FF2B5EF4-FFF2-40B4-BE49-F238E27FC236}">
                <a16:creationId xmlns:a16="http://schemas.microsoft.com/office/drawing/2014/main" id="{93D012D5-5064-02EF-85A8-B5FEA8C738FE}"/>
              </a:ext>
            </a:extLst>
          </p:cNvPr>
          <p:cNvSpPr/>
          <p:nvPr/>
        </p:nvSpPr>
        <p:spPr>
          <a:xfrm>
            <a:off x="548640" y="121920"/>
            <a:ext cx="10972800" cy="365760"/>
          </a:xfrm>
          <a:prstGeom prst="rect">
            <a:avLst/>
          </a:prstGeom>
          <a:noFill/>
          <a:ln/>
        </p:spPr>
        <p:txBody>
          <a:bodyPr wrap="square" lIns="0" tIns="0" rIns="0" bIns="0" rtlCol="0" anchor="ctr"/>
          <a:lstStyle/>
          <a:p>
            <a:endParaRPr lang="en-US" sz="1333"/>
          </a:p>
        </p:txBody>
      </p:sp>
      <p:sp>
        <p:nvSpPr>
          <p:cNvPr id="4" name="Text 2">
            <a:extLst>
              <a:ext uri="{FF2B5EF4-FFF2-40B4-BE49-F238E27FC236}">
                <a16:creationId xmlns:a16="http://schemas.microsoft.com/office/drawing/2014/main" id="{3932CE22-C36C-A51C-B5BB-B8164DEC778E}"/>
              </a:ext>
            </a:extLst>
          </p:cNvPr>
          <p:cNvSpPr/>
          <p:nvPr/>
        </p:nvSpPr>
        <p:spPr>
          <a:xfrm>
            <a:off x="548640" y="463296"/>
            <a:ext cx="10972800" cy="670560"/>
          </a:xfrm>
          <a:prstGeom prst="rect">
            <a:avLst/>
          </a:prstGeom>
          <a:noFill/>
          <a:ln/>
        </p:spPr>
        <p:txBody>
          <a:bodyPr wrap="square" lIns="0" tIns="0" rIns="0" bIns="0" rtlCol="0" anchor="ctr"/>
          <a:lstStyle/>
          <a:p>
            <a:r>
              <a:rPr lang="en-US" sz="3200" b="1">
                <a:solidFill>
                  <a:srgbClr val="FFFFFF"/>
                </a:solidFill>
                <a:latin typeface="Calibri" pitchFamily="34" charset="0"/>
                <a:ea typeface="Calibri" pitchFamily="34" charset="-122"/>
                <a:cs typeface="Calibri" pitchFamily="34" charset="-120"/>
              </a:rPr>
              <a:t>Implementation Phases</a:t>
            </a:r>
            <a:endParaRPr lang="en-US" sz="3200"/>
          </a:p>
        </p:txBody>
      </p:sp>
      <p:sp>
        <p:nvSpPr>
          <p:cNvPr id="41" name="Shape 33">
            <a:extLst>
              <a:ext uri="{FF2B5EF4-FFF2-40B4-BE49-F238E27FC236}">
                <a16:creationId xmlns:a16="http://schemas.microsoft.com/office/drawing/2014/main" id="{7A702201-64BE-D4F0-92A8-C9ED5FB26690}"/>
              </a:ext>
            </a:extLst>
          </p:cNvPr>
          <p:cNvSpPr/>
          <p:nvPr/>
        </p:nvSpPr>
        <p:spPr>
          <a:xfrm>
            <a:off x="365760" y="6217920"/>
            <a:ext cx="11460480" cy="463296"/>
          </a:xfrm>
          <a:prstGeom prst="rect">
            <a:avLst/>
          </a:prstGeom>
          <a:solidFill>
            <a:srgbClr val="0F172A"/>
          </a:solidFill>
          <a:ln w="12700">
            <a:solidFill>
              <a:srgbClr val="0F172A"/>
            </a:solidFill>
            <a:prstDash val="solid"/>
          </a:ln>
        </p:spPr>
        <p:txBody>
          <a:bodyPr/>
          <a:lstStyle/>
          <a:p>
            <a:endParaRPr lang="en-US" sz="2400"/>
          </a:p>
        </p:txBody>
      </p:sp>
      <p:sp>
        <p:nvSpPr>
          <p:cNvPr id="42" name="Text 34">
            <a:extLst>
              <a:ext uri="{FF2B5EF4-FFF2-40B4-BE49-F238E27FC236}">
                <a16:creationId xmlns:a16="http://schemas.microsoft.com/office/drawing/2014/main" id="{3FF86A14-E79D-99A1-A78E-F4B4CEAEFA3C}"/>
              </a:ext>
            </a:extLst>
          </p:cNvPr>
          <p:cNvSpPr/>
          <p:nvPr/>
        </p:nvSpPr>
        <p:spPr>
          <a:xfrm>
            <a:off x="365760" y="6217920"/>
            <a:ext cx="11460480" cy="463296"/>
          </a:xfrm>
          <a:prstGeom prst="rect">
            <a:avLst/>
          </a:prstGeom>
          <a:noFill/>
          <a:ln/>
        </p:spPr>
        <p:txBody>
          <a:bodyPr wrap="square" lIns="0" tIns="0" rIns="0" bIns="0" rtlCol="0" anchor="ctr"/>
          <a:lstStyle/>
          <a:p>
            <a:r>
              <a:rPr lang="en-US" sz="1467">
                <a:solidFill>
                  <a:schemeClr val="bg1"/>
                </a:solidFill>
              </a:rPr>
              <a:t>   </a:t>
            </a:r>
          </a:p>
        </p:txBody>
      </p:sp>
      <p:grpSp>
        <p:nvGrpSpPr>
          <p:cNvPr id="21" name="Grupo 20">
            <a:extLst>
              <a:ext uri="{FF2B5EF4-FFF2-40B4-BE49-F238E27FC236}">
                <a16:creationId xmlns:a16="http://schemas.microsoft.com/office/drawing/2014/main" id="{C91DE953-FD04-3B1B-39AD-FC409FE4D871}"/>
              </a:ext>
            </a:extLst>
          </p:cNvPr>
          <p:cNvGrpSpPr/>
          <p:nvPr/>
        </p:nvGrpSpPr>
        <p:grpSpPr>
          <a:xfrm>
            <a:off x="1308912" y="1667655"/>
            <a:ext cx="9931469" cy="3448099"/>
            <a:chOff x="1105434" y="1782159"/>
            <a:chExt cx="7448602" cy="2586074"/>
          </a:xfrm>
        </p:grpSpPr>
        <p:sp>
          <p:nvSpPr>
            <p:cNvPr id="5" name="Rounded Rectangle 2">
              <a:extLst>
                <a:ext uri="{FF2B5EF4-FFF2-40B4-BE49-F238E27FC236}">
                  <a16:creationId xmlns:a16="http://schemas.microsoft.com/office/drawing/2014/main" id="{66F5D3A2-92DE-D300-4E88-39E6C69207F1}"/>
                </a:ext>
              </a:extLst>
            </p:cNvPr>
            <p:cNvSpPr/>
            <p:nvPr/>
          </p:nvSpPr>
          <p:spPr>
            <a:xfrm>
              <a:off x="1105434" y="1820392"/>
              <a:ext cx="1774523" cy="2547841"/>
            </a:xfrm>
            <a:prstGeom prst="roundRect">
              <a:avLst/>
            </a:prstGeom>
            <a:solidFill>
              <a:srgbClr val="145A8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defRPr sz="2800" b="1"/>
              </a:pPr>
              <a:endParaRPr lang="es-AR" sz="3733"/>
            </a:p>
            <a:p>
              <a:pPr algn="ctr">
                <a:defRPr sz="2800" b="1"/>
              </a:pPr>
              <a:r>
                <a:rPr sz="3733"/>
                <a:t>1</a:t>
              </a:r>
            </a:p>
            <a:p>
              <a:pPr>
                <a:defRPr sz="1400"/>
              </a:pPr>
              <a:r>
                <a:rPr lang="es-AR" sz="1867" b="1"/>
                <a:t>     </a:t>
              </a:r>
              <a:r>
                <a:rPr sz="1867" b="1"/>
                <a:t>EDP Connect</a:t>
              </a:r>
              <a:br>
                <a:rPr sz="1867" b="1"/>
              </a:br>
              <a:endParaRPr sz="1867" b="1"/>
            </a:p>
          </p:txBody>
        </p:sp>
        <p:sp>
          <p:nvSpPr>
            <p:cNvPr id="6" name="Rectangle 5">
              <a:extLst>
                <a:ext uri="{FF2B5EF4-FFF2-40B4-BE49-F238E27FC236}">
                  <a16:creationId xmlns:a16="http://schemas.microsoft.com/office/drawing/2014/main" id="{345CB63C-363E-BE65-F0F3-2BCEACB92A18}"/>
                </a:ext>
              </a:extLst>
            </p:cNvPr>
            <p:cNvSpPr/>
            <p:nvPr/>
          </p:nvSpPr>
          <p:spPr>
            <a:xfrm>
              <a:off x="1247241" y="3595455"/>
              <a:ext cx="1490909" cy="582364"/>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defRPr sz="1400" b="1"/>
              </a:pPr>
              <a:r>
                <a:rPr lang="en-US" sz="2667">
                  <a:solidFill>
                    <a:schemeClr val="tx1"/>
                  </a:solidFill>
                </a:rPr>
                <a:t>700+</a:t>
              </a:r>
            </a:p>
            <a:p>
              <a:pPr>
                <a:defRPr sz="1400" b="1"/>
              </a:pPr>
              <a:r>
                <a:rPr lang="en-US" sz="1333">
                  <a:solidFill>
                    <a:schemeClr val="tx1"/>
                  </a:solidFill>
                </a:rPr>
                <a:t>H</a:t>
              </a:r>
              <a:r>
                <a:rPr sz="1333">
                  <a:solidFill>
                    <a:schemeClr val="tx1"/>
                  </a:solidFill>
                </a:rPr>
                <a:t>ours </a:t>
              </a:r>
              <a:r>
                <a:rPr lang="en-US" sz="1333">
                  <a:solidFill>
                    <a:schemeClr val="tx1"/>
                  </a:solidFill>
                </a:rPr>
                <a:t>saved in total</a:t>
              </a:r>
              <a:endParaRPr sz="1333"/>
            </a:p>
          </p:txBody>
        </p:sp>
        <p:sp>
          <p:nvSpPr>
            <p:cNvPr id="7" name="Rounded Rectangle 4">
              <a:extLst>
                <a:ext uri="{FF2B5EF4-FFF2-40B4-BE49-F238E27FC236}">
                  <a16:creationId xmlns:a16="http://schemas.microsoft.com/office/drawing/2014/main" id="{154C0252-1127-6AEF-4241-8290589D55CB}"/>
                </a:ext>
              </a:extLst>
            </p:cNvPr>
            <p:cNvSpPr/>
            <p:nvPr/>
          </p:nvSpPr>
          <p:spPr>
            <a:xfrm>
              <a:off x="2955308" y="1782159"/>
              <a:ext cx="1774523" cy="2547841"/>
            </a:xfrm>
            <a:prstGeom prst="roundRect">
              <a:avLst/>
            </a:prstGeom>
            <a:solidFill>
              <a:srgbClr val="288CC8"/>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defRPr sz="2800" b="1"/>
              </a:pPr>
              <a:endParaRPr lang="es-AR" sz="3733"/>
            </a:p>
            <a:p>
              <a:pPr algn="ctr">
                <a:defRPr sz="2800" b="1"/>
              </a:pPr>
              <a:r>
                <a:rPr sz="3733"/>
                <a:t>2</a:t>
              </a:r>
            </a:p>
            <a:p>
              <a:pPr>
                <a:defRPr sz="1400"/>
              </a:pPr>
              <a:r>
                <a:rPr lang="en-US" sz="1867" b="1"/>
                <a:t>SAP – (</a:t>
              </a:r>
              <a:r>
                <a:rPr sz="1867" b="1"/>
                <a:t>S</a:t>
              </a:r>
              <a:r>
                <a:rPr lang="en-US" sz="1867" b="1"/>
                <a:t>4)</a:t>
              </a:r>
              <a:r>
                <a:rPr sz="1867" b="1"/>
                <a:t> </a:t>
              </a:r>
              <a:r>
                <a:rPr lang="en-US" sz="1867" b="1"/>
                <a:t> Includes a portion  of claims</a:t>
              </a:r>
              <a:endParaRPr sz="1867" b="1"/>
            </a:p>
          </p:txBody>
        </p:sp>
        <p:sp>
          <p:nvSpPr>
            <p:cNvPr id="8" name="Rectangle 7">
              <a:extLst>
                <a:ext uri="{FF2B5EF4-FFF2-40B4-BE49-F238E27FC236}">
                  <a16:creationId xmlns:a16="http://schemas.microsoft.com/office/drawing/2014/main" id="{4166DDD3-616C-FB66-E50D-543F52AD57C2}"/>
                </a:ext>
              </a:extLst>
            </p:cNvPr>
            <p:cNvSpPr/>
            <p:nvPr/>
          </p:nvSpPr>
          <p:spPr>
            <a:xfrm>
              <a:off x="3068593" y="3623174"/>
              <a:ext cx="1503407" cy="582364"/>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pPr>
              <a:endParaRPr lang="en-US" sz="2667">
                <a:solidFill>
                  <a:schemeClr val="tx1"/>
                </a:solidFill>
              </a:endParaRPr>
            </a:p>
            <a:p>
              <a:pPr algn="ctr">
                <a:defRPr sz="1400" b="1"/>
              </a:pPr>
              <a:r>
                <a:rPr lang="en-US" sz="2667">
                  <a:solidFill>
                    <a:schemeClr val="tx1"/>
                  </a:solidFill>
                </a:rPr>
                <a:t>900</a:t>
              </a:r>
              <a:r>
                <a:rPr sz="1867">
                  <a:solidFill>
                    <a:schemeClr val="tx1"/>
                  </a:solidFill>
                </a:rPr>
                <a:t>+ </a:t>
              </a:r>
              <a:endParaRPr lang="en-US" sz="1333">
                <a:solidFill>
                  <a:schemeClr val="tx1"/>
                </a:solidFill>
              </a:endParaRPr>
            </a:p>
            <a:p>
              <a:pPr>
                <a:defRPr sz="1400" b="1"/>
              </a:pPr>
              <a:r>
                <a:rPr lang="en-US" sz="1333">
                  <a:solidFill>
                    <a:schemeClr val="tx1"/>
                  </a:solidFill>
                </a:rPr>
                <a:t>Hours saved in total</a:t>
              </a:r>
              <a:endParaRPr lang="en-US" sz="1333"/>
            </a:p>
            <a:p>
              <a:pPr algn="ctr">
                <a:defRPr sz="1400" b="1"/>
              </a:pPr>
              <a:endParaRPr sz="1867">
                <a:solidFill>
                  <a:schemeClr val="tx1"/>
                </a:solidFill>
              </a:endParaRPr>
            </a:p>
          </p:txBody>
        </p:sp>
        <p:sp>
          <p:nvSpPr>
            <p:cNvPr id="9" name="Rounded Rectangle 6">
              <a:extLst>
                <a:ext uri="{FF2B5EF4-FFF2-40B4-BE49-F238E27FC236}">
                  <a16:creationId xmlns:a16="http://schemas.microsoft.com/office/drawing/2014/main" id="{0EACD80C-5100-8D29-E282-697A819D81D0}"/>
                </a:ext>
              </a:extLst>
            </p:cNvPr>
            <p:cNvSpPr/>
            <p:nvPr/>
          </p:nvSpPr>
          <p:spPr>
            <a:xfrm>
              <a:off x="4805182" y="1801301"/>
              <a:ext cx="1826757" cy="2560055"/>
            </a:xfrm>
            <a:prstGeom prst="roundRect">
              <a:avLst/>
            </a:prstGeom>
            <a:solidFill>
              <a:srgbClr val="46C8B4"/>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defRPr sz="2800" b="1"/>
              </a:pPr>
              <a:endParaRPr lang="es-AR" sz="3733"/>
            </a:p>
            <a:p>
              <a:pPr algn="ctr">
                <a:defRPr sz="2800" b="1"/>
              </a:pPr>
              <a:r>
                <a:rPr sz="3733"/>
                <a:t>3</a:t>
              </a:r>
            </a:p>
            <a:p>
              <a:pPr>
                <a:defRPr sz="1400"/>
              </a:pPr>
              <a:r>
                <a:rPr sz="1733" b="1"/>
                <a:t>Boundary systems</a:t>
              </a:r>
              <a:r>
                <a:rPr lang="en-US" sz="1733" b="1"/>
                <a:t>, tracking information</a:t>
              </a:r>
              <a:endParaRPr sz="1733" b="1"/>
            </a:p>
          </p:txBody>
        </p:sp>
        <p:sp>
          <p:nvSpPr>
            <p:cNvPr id="10" name="Rectangle 9">
              <a:extLst>
                <a:ext uri="{FF2B5EF4-FFF2-40B4-BE49-F238E27FC236}">
                  <a16:creationId xmlns:a16="http://schemas.microsoft.com/office/drawing/2014/main" id="{D08ED26B-1E74-6B95-A0F1-C1F1F46D4854}"/>
                </a:ext>
              </a:extLst>
            </p:cNvPr>
            <p:cNvSpPr/>
            <p:nvPr/>
          </p:nvSpPr>
          <p:spPr>
            <a:xfrm>
              <a:off x="4921953" y="3623174"/>
              <a:ext cx="1613203" cy="582364"/>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pPr>
              <a:r>
                <a:rPr sz="2667">
                  <a:solidFill>
                    <a:schemeClr val="tx1"/>
                  </a:solidFill>
                </a:rPr>
                <a:t>1</a:t>
              </a:r>
              <a:r>
                <a:rPr lang="en-US" sz="2667">
                  <a:solidFill>
                    <a:schemeClr val="tx1"/>
                  </a:solidFill>
                </a:rPr>
                <a:t>,200+</a:t>
              </a:r>
              <a:r>
                <a:rPr sz="1867">
                  <a:solidFill>
                    <a:schemeClr val="tx1"/>
                  </a:solidFill>
                </a:rPr>
                <a:t> </a:t>
              </a:r>
              <a:endParaRPr lang="en-US" sz="1867">
                <a:solidFill>
                  <a:schemeClr val="tx1"/>
                </a:solidFill>
              </a:endParaRPr>
            </a:p>
            <a:p>
              <a:pPr algn="ctr">
                <a:defRPr sz="1400" b="1"/>
              </a:pPr>
              <a:r>
                <a:rPr sz="1333">
                  <a:solidFill>
                    <a:schemeClr val="tx1"/>
                  </a:solidFill>
                </a:rPr>
                <a:t>hours saved</a:t>
              </a:r>
              <a:r>
                <a:rPr lang="en-US" sz="1333">
                  <a:solidFill>
                    <a:schemeClr val="tx1"/>
                  </a:solidFill>
                </a:rPr>
                <a:t> in total</a:t>
              </a:r>
              <a:endParaRPr sz="1333">
                <a:solidFill>
                  <a:schemeClr val="tx1"/>
                </a:solidFill>
              </a:endParaRPr>
            </a:p>
          </p:txBody>
        </p:sp>
        <p:sp>
          <p:nvSpPr>
            <p:cNvPr id="11" name="Rounded Rectangle 8">
              <a:extLst>
                <a:ext uri="{FF2B5EF4-FFF2-40B4-BE49-F238E27FC236}">
                  <a16:creationId xmlns:a16="http://schemas.microsoft.com/office/drawing/2014/main" id="{9DB61BC6-A57F-27C6-CC88-AD136FEFEA10}"/>
                </a:ext>
              </a:extLst>
            </p:cNvPr>
            <p:cNvSpPr/>
            <p:nvPr/>
          </p:nvSpPr>
          <p:spPr>
            <a:xfrm>
              <a:off x="6727278" y="1782159"/>
              <a:ext cx="1826758" cy="2560055"/>
            </a:xfrm>
            <a:prstGeom prst="roundRect">
              <a:avLst/>
            </a:prstGeom>
            <a:solidFill>
              <a:srgbClr val="78EB78"/>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defRPr sz="2800" b="1"/>
              </a:pPr>
              <a:endParaRPr lang="es-AR" sz="3733"/>
            </a:p>
            <a:p>
              <a:pPr algn="ctr">
                <a:defRPr sz="2800" b="1"/>
              </a:pPr>
              <a:r>
                <a:rPr sz="3733"/>
                <a:t>4</a:t>
              </a:r>
            </a:p>
            <a:p>
              <a:pPr algn="ctr">
                <a:defRPr sz="1400"/>
              </a:pPr>
              <a:r>
                <a:rPr sz="1867" b="1"/>
                <a:t>Customer Access</a:t>
              </a:r>
            </a:p>
          </p:txBody>
        </p:sp>
        <p:sp>
          <p:nvSpPr>
            <p:cNvPr id="12" name="Rectangle 11">
              <a:extLst>
                <a:ext uri="{FF2B5EF4-FFF2-40B4-BE49-F238E27FC236}">
                  <a16:creationId xmlns:a16="http://schemas.microsoft.com/office/drawing/2014/main" id="{C67A711C-4790-BE7F-BF25-8E65D296B83A}"/>
                </a:ext>
              </a:extLst>
            </p:cNvPr>
            <p:cNvSpPr/>
            <p:nvPr/>
          </p:nvSpPr>
          <p:spPr>
            <a:xfrm>
              <a:off x="6834351" y="3644260"/>
              <a:ext cx="1612612" cy="572378"/>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pPr>
              <a:r>
                <a:rPr lang="en-US" sz="2667">
                  <a:solidFill>
                    <a:schemeClr val="tx1"/>
                  </a:solidFill>
                </a:rPr>
                <a:t>3</a:t>
              </a:r>
              <a:r>
                <a:rPr sz="2667">
                  <a:solidFill>
                    <a:schemeClr val="tx1"/>
                  </a:solidFill>
                </a:rPr>
                <a:t>,</a:t>
              </a:r>
              <a:r>
                <a:rPr lang="en-US" sz="2667">
                  <a:solidFill>
                    <a:schemeClr val="tx1"/>
                  </a:solidFill>
                </a:rPr>
                <a:t>300+</a:t>
              </a:r>
              <a:endParaRPr lang="en-US" sz="1867">
                <a:solidFill>
                  <a:schemeClr val="tx1"/>
                </a:solidFill>
              </a:endParaRPr>
            </a:p>
            <a:p>
              <a:pPr algn="ctr">
                <a:defRPr sz="1400" b="1"/>
              </a:pPr>
              <a:r>
                <a:rPr lang="en-US" sz="1333">
                  <a:solidFill>
                    <a:schemeClr val="tx1"/>
                  </a:solidFill>
                </a:rPr>
                <a:t>hours saved in total</a:t>
              </a:r>
              <a:endParaRPr sz="1333">
                <a:solidFill>
                  <a:schemeClr val="tx1"/>
                </a:solidFill>
              </a:endParaRPr>
            </a:p>
          </p:txBody>
        </p:sp>
      </p:grpSp>
      <p:sp>
        <p:nvSpPr>
          <p:cNvPr id="13" name="TextBox 12">
            <a:extLst>
              <a:ext uri="{FF2B5EF4-FFF2-40B4-BE49-F238E27FC236}">
                <a16:creationId xmlns:a16="http://schemas.microsoft.com/office/drawing/2014/main" id="{1E384263-A519-10F2-18C1-1100EBA180A6}"/>
              </a:ext>
            </a:extLst>
          </p:cNvPr>
          <p:cNvSpPr txBox="1"/>
          <p:nvPr/>
        </p:nvSpPr>
        <p:spPr>
          <a:xfrm>
            <a:off x="1900746" y="6246325"/>
            <a:ext cx="9925495" cy="584775"/>
          </a:xfrm>
          <a:prstGeom prst="rect">
            <a:avLst/>
          </a:prstGeom>
          <a:noFill/>
        </p:spPr>
        <p:txBody>
          <a:bodyPr wrap="square" rtlCol="0">
            <a:spAutoFit/>
          </a:bodyPr>
          <a:lstStyle/>
          <a:p>
            <a:r>
              <a:rPr lang="en-US" sz="1600">
                <a:solidFill>
                  <a:srgbClr val="00B0F0"/>
                </a:solidFill>
              </a:rPr>
              <a:t>Times based on 1FTE per Business Unit (15 BU)                    Approx. 116 CS agents globally</a:t>
            </a:r>
          </a:p>
          <a:p>
            <a:endParaRPr lang="en-US" sz="1600">
              <a:solidFill>
                <a:schemeClr val="bg1"/>
              </a:solidFill>
            </a:endParaRPr>
          </a:p>
        </p:txBody>
      </p:sp>
      <p:sp>
        <p:nvSpPr>
          <p:cNvPr id="14" name="TextBox 12">
            <a:extLst>
              <a:ext uri="{FF2B5EF4-FFF2-40B4-BE49-F238E27FC236}">
                <a16:creationId xmlns:a16="http://schemas.microsoft.com/office/drawing/2014/main" id="{CE561C00-5E00-13D9-E87E-3DF3BFBBD5DB}"/>
              </a:ext>
            </a:extLst>
          </p:cNvPr>
          <p:cNvSpPr txBox="1"/>
          <p:nvPr/>
        </p:nvSpPr>
        <p:spPr>
          <a:xfrm>
            <a:off x="3857417" y="5146132"/>
            <a:ext cx="4099925" cy="1077218"/>
          </a:xfrm>
          <a:prstGeom prst="rect">
            <a:avLst/>
          </a:prstGeom>
          <a:noFill/>
        </p:spPr>
        <p:txBody>
          <a:bodyPr wrap="square" rtlCol="0">
            <a:spAutoFit/>
          </a:bodyPr>
          <a:lstStyle/>
          <a:p>
            <a:pPr algn="ctr"/>
            <a:r>
              <a:rPr lang="en-US" sz="1600">
                <a:solidFill>
                  <a:srgbClr val="00B0F0"/>
                </a:solidFill>
              </a:rPr>
              <a:t>~ 7600</a:t>
            </a:r>
          </a:p>
          <a:p>
            <a:pPr algn="ctr"/>
            <a:r>
              <a:rPr lang="en-US" sz="1600">
                <a:solidFill>
                  <a:srgbClr val="00B0F0"/>
                </a:solidFill>
              </a:rPr>
              <a:t>Baseline Total Hours/year </a:t>
            </a:r>
          </a:p>
          <a:p>
            <a:pPr algn="ctr"/>
            <a:r>
              <a:rPr lang="en-US" sz="1600">
                <a:solidFill>
                  <a:srgbClr val="00B0F0"/>
                </a:solidFill>
              </a:rPr>
              <a:t>(1 FTE / BU)</a:t>
            </a:r>
          </a:p>
          <a:p>
            <a:pPr algn="ctr"/>
            <a:endParaRPr lang="en-US" sz="1600">
              <a:solidFill>
                <a:schemeClr val="bg1"/>
              </a:solidFill>
            </a:endParaRPr>
          </a:p>
        </p:txBody>
      </p:sp>
      <p:sp>
        <p:nvSpPr>
          <p:cNvPr id="16" name="Title 3">
            <a:extLst>
              <a:ext uri="{FF2B5EF4-FFF2-40B4-BE49-F238E27FC236}">
                <a16:creationId xmlns:a16="http://schemas.microsoft.com/office/drawing/2014/main" id="{A48AFA44-91FC-1C1F-08A4-B3B27011A769}"/>
              </a:ext>
            </a:extLst>
          </p:cNvPr>
          <p:cNvSpPr txBox="1">
            <a:spLocks/>
          </p:cNvSpPr>
          <p:nvPr/>
        </p:nvSpPr>
        <p:spPr>
          <a:xfrm>
            <a:off x="344634" y="620001"/>
            <a:ext cx="10703756" cy="45359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a:latin typeface="+mn-lt"/>
              </a:rPr>
              <a:t>Business Use Case for Project Meridian</a:t>
            </a:r>
            <a:endParaRPr lang="en-US"/>
          </a:p>
        </p:txBody>
      </p:sp>
    </p:spTree>
    <p:extLst>
      <p:ext uri="{BB962C8B-B14F-4D97-AF65-F5344CB8AC3E}">
        <p14:creationId xmlns:p14="http://schemas.microsoft.com/office/powerpoint/2010/main" val="813569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09E2F-412A-0310-3316-6556E43F413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4D392DA-1284-0392-E72E-E7CBD462D3B6}"/>
              </a:ext>
            </a:extLst>
          </p:cNvPr>
          <p:cNvSpPr>
            <a:spLocks noGrp="1"/>
          </p:cNvSpPr>
          <p:nvPr>
            <p:ph type="body" sz="quarter" idx="14"/>
          </p:nvPr>
        </p:nvSpPr>
        <p:spPr>
          <a:xfrm>
            <a:off x="467828" y="513293"/>
            <a:ext cx="1844457" cy="272659"/>
          </a:xfrm>
        </p:spPr>
        <p:txBody>
          <a:bodyPr/>
          <a:lstStyle/>
          <a:p>
            <a:r>
              <a:rPr lang="en-US">
                <a:latin typeface="Century Gothic"/>
              </a:rPr>
              <a:t>Order Visibility</a:t>
            </a:r>
          </a:p>
        </p:txBody>
      </p:sp>
      <p:sp>
        <p:nvSpPr>
          <p:cNvPr id="4" name="Title 3">
            <a:extLst>
              <a:ext uri="{FF2B5EF4-FFF2-40B4-BE49-F238E27FC236}">
                <a16:creationId xmlns:a16="http://schemas.microsoft.com/office/drawing/2014/main" id="{03F5A98E-6920-5365-4734-3D2D4545A8F3}"/>
              </a:ext>
            </a:extLst>
          </p:cNvPr>
          <p:cNvSpPr>
            <a:spLocks noGrp="1"/>
          </p:cNvSpPr>
          <p:nvPr>
            <p:ph type="ctrTitle"/>
          </p:nvPr>
        </p:nvSpPr>
        <p:spPr>
          <a:xfrm>
            <a:off x="467827" y="1042740"/>
            <a:ext cx="10703756" cy="453595"/>
          </a:xfrm>
        </p:spPr>
        <p:txBody>
          <a:bodyPr/>
          <a:lstStyle/>
          <a:p>
            <a:r>
              <a:rPr lang="en-CA">
                <a:latin typeface="+mn-lt"/>
              </a:rPr>
              <a:t>Customer Service Assistant – Order Visibility</a:t>
            </a:r>
            <a:endParaRPr lang="en-US"/>
          </a:p>
        </p:txBody>
      </p:sp>
      <p:sp>
        <p:nvSpPr>
          <p:cNvPr id="3" name="TextBox 2">
            <a:extLst>
              <a:ext uri="{FF2B5EF4-FFF2-40B4-BE49-F238E27FC236}">
                <a16:creationId xmlns:a16="http://schemas.microsoft.com/office/drawing/2014/main" id="{2049A1E0-2075-331F-826C-CB725653848A}"/>
              </a:ext>
            </a:extLst>
          </p:cNvPr>
          <p:cNvSpPr txBox="1"/>
          <p:nvPr/>
        </p:nvSpPr>
        <p:spPr>
          <a:xfrm>
            <a:off x="575193" y="1744780"/>
            <a:ext cx="977132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The Sales team currently lacks real-time, self-service visibility into SAP order data, leading to over-reliance on manual lookups, delayed customer responses, and increased load on operations and IT teams. This provides an opportunity to provide a system that can provide single pane of data in new age of conversational AI</a:t>
            </a:r>
          </a:p>
        </p:txBody>
      </p:sp>
      <p:sp>
        <p:nvSpPr>
          <p:cNvPr id="5" name="TextBox 4">
            <a:extLst>
              <a:ext uri="{FF2B5EF4-FFF2-40B4-BE49-F238E27FC236}">
                <a16:creationId xmlns:a16="http://schemas.microsoft.com/office/drawing/2014/main" id="{1626A90F-EFAF-C188-2ABE-48846730F358}"/>
              </a:ext>
            </a:extLst>
          </p:cNvPr>
          <p:cNvSpPr txBox="1"/>
          <p:nvPr/>
        </p:nvSpPr>
        <p:spPr>
          <a:xfrm>
            <a:off x="530089" y="2824222"/>
            <a:ext cx="9861535"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Current Pain Points</a:t>
            </a:r>
          </a:p>
          <a:p>
            <a:pPr marL="285750" lvl="0" indent="-285750">
              <a:buFont typeface="Arial" panose="020B0604020202020204" pitchFamily="34" charset="0"/>
              <a:buChar char="•"/>
            </a:pPr>
            <a:r>
              <a:rPr lang="en-US" sz="1600"/>
              <a:t>Sales reps depend on Operations or IT to pull order status from SAP, creating bottlenecks and delays</a:t>
            </a:r>
          </a:p>
          <a:p>
            <a:pPr marL="285750" lvl="0" indent="-285750">
              <a:buFont typeface="Arial" panose="020B0604020202020204" pitchFamily="34" charset="0"/>
              <a:buChar char="•"/>
            </a:pPr>
            <a:r>
              <a:rPr lang="en-US" sz="1600"/>
              <a:t>No self-service interface exists for real-time or near-real-time order tracking</a:t>
            </a:r>
          </a:p>
          <a:p>
            <a:pPr marL="285750" lvl="0" indent="-285750">
              <a:buFont typeface="Arial" panose="020B0604020202020204" pitchFamily="34" charset="0"/>
              <a:buChar char="•"/>
            </a:pPr>
            <a:r>
              <a:rPr lang="en-US" sz="1600"/>
              <a:t>Customer-facing queries on delivery ETAs and shipment tracking require manual effort</a:t>
            </a:r>
          </a:p>
          <a:p>
            <a:pPr marL="285750" lvl="0" indent="-285750">
              <a:buFont typeface="Arial" panose="020B0604020202020204" pitchFamily="34" charset="0"/>
              <a:buChar char="•"/>
            </a:pPr>
            <a:r>
              <a:rPr lang="en-US" sz="1600"/>
              <a:t>Lack of a unified view across the order lifecycle — from creation to fulfillment</a:t>
            </a:r>
          </a:p>
          <a:p>
            <a:pPr marL="285750" lvl="0" indent="-285750">
              <a:buFont typeface="Arial" panose="020B0604020202020204" pitchFamily="34" charset="0"/>
              <a:buChar char="•"/>
            </a:pPr>
            <a:r>
              <a:rPr lang="en-US" sz="1600"/>
              <a:t>Escalations and follow-ups consume significant non-value-added time for the sales team</a:t>
            </a:r>
          </a:p>
          <a:p>
            <a:r>
              <a:rPr lang="en-US" sz="1600" b="1"/>
              <a:t>Business Objectives</a:t>
            </a:r>
          </a:p>
          <a:p>
            <a:pPr marL="285750" lvl="0" indent="-285750">
              <a:buFont typeface="Arial" panose="020B0604020202020204" pitchFamily="34" charset="0"/>
              <a:buChar char="•"/>
            </a:pPr>
            <a:r>
              <a:rPr lang="en-US" sz="1600"/>
              <a:t>Enable Sales team self-service for order status queries via a conversational interface</a:t>
            </a:r>
          </a:p>
          <a:p>
            <a:pPr marL="285750" lvl="0" indent="-285750">
              <a:buFont typeface="Arial" panose="020B0604020202020204" pitchFamily="34" charset="0"/>
              <a:buChar char="•"/>
            </a:pPr>
            <a:r>
              <a:rPr lang="en-US" sz="1600"/>
              <a:t>Reduce average time-to-answer for order visibility queries from hours to seconds</a:t>
            </a:r>
          </a:p>
          <a:p>
            <a:pPr marL="285750" lvl="0" indent="-285750">
              <a:buFont typeface="Arial" panose="020B0604020202020204" pitchFamily="34" charset="0"/>
              <a:buChar char="•"/>
            </a:pPr>
            <a:r>
              <a:rPr lang="en-US" sz="1600"/>
              <a:t>Minimize dependency on IT/Operations for routine data lookups</a:t>
            </a:r>
          </a:p>
          <a:p>
            <a:pPr marL="285750" lvl="0" indent="-285750">
              <a:buFont typeface="Arial" panose="020B0604020202020204" pitchFamily="34" charset="0"/>
              <a:buChar char="•"/>
            </a:pPr>
            <a:r>
              <a:rPr lang="en-US" sz="1600"/>
              <a:t>Provide a scalable, governed, and secure chat interface aligned with the Azure data strategy</a:t>
            </a:r>
          </a:p>
          <a:p>
            <a:pPr marL="285750" lvl="0" indent="-285750">
              <a:buFont typeface="Arial" panose="020B0604020202020204" pitchFamily="34" charset="0"/>
              <a:buChar char="•"/>
            </a:pPr>
            <a:r>
              <a:rPr lang="en-US" sz="1600"/>
              <a:t>Deliver measurable ROI with rapid time-to-value </a:t>
            </a:r>
          </a:p>
          <a:p>
            <a:endParaRPr lang="en-US" sz="1600"/>
          </a:p>
        </p:txBody>
      </p:sp>
    </p:spTree>
    <p:extLst>
      <p:ext uri="{BB962C8B-B14F-4D97-AF65-F5344CB8AC3E}">
        <p14:creationId xmlns:p14="http://schemas.microsoft.com/office/powerpoint/2010/main" val="3927208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73FCA-8FBE-E6BC-85F2-40D4F2D9D716}"/>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D6A142B-C9E8-8060-EE1D-6D75F270C97B}"/>
              </a:ext>
            </a:extLst>
          </p:cNvPr>
          <p:cNvSpPr>
            <a:spLocks noGrp="1"/>
          </p:cNvSpPr>
          <p:nvPr>
            <p:ph type="pic" sz="quarter" idx="14"/>
          </p:nvPr>
        </p:nvSpPr>
        <p:spPr/>
        <p:txBody>
          <a:bodyPr/>
          <a:lstStyle/>
          <a:p>
            <a:endParaRPr lang="en-IN"/>
          </a:p>
        </p:txBody>
      </p:sp>
      <p:sp>
        <p:nvSpPr>
          <p:cNvPr id="7" name="Title 6">
            <a:extLst>
              <a:ext uri="{FF2B5EF4-FFF2-40B4-BE49-F238E27FC236}">
                <a16:creationId xmlns:a16="http://schemas.microsoft.com/office/drawing/2014/main" id="{523D9F1D-453D-563F-9A09-9998CBB4039B}"/>
              </a:ext>
            </a:extLst>
          </p:cNvPr>
          <p:cNvSpPr>
            <a:spLocks noGrp="1"/>
          </p:cNvSpPr>
          <p:nvPr>
            <p:ph type="title"/>
          </p:nvPr>
        </p:nvSpPr>
        <p:spPr/>
        <p:txBody>
          <a:bodyPr/>
          <a:lstStyle/>
          <a:p>
            <a:r>
              <a:rPr lang="en-US"/>
              <a:t>Supply Chain Assistant</a:t>
            </a:r>
            <a:endParaRPr lang="en-IN"/>
          </a:p>
        </p:txBody>
      </p:sp>
    </p:spTree>
    <p:extLst>
      <p:ext uri="{BB962C8B-B14F-4D97-AF65-F5344CB8AC3E}">
        <p14:creationId xmlns:p14="http://schemas.microsoft.com/office/powerpoint/2010/main" val="1867706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FAC50-6F15-FFFC-4207-D3E737AB9CC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1461B70-22A6-8388-1E5D-CAC4E3B423D8}"/>
              </a:ext>
            </a:extLst>
          </p:cNvPr>
          <p:cNvSpPr>
            <a:spLocks noGrp="1"/>
          </p:cNvSpPr>
          <p:nvPr>
            <p:ph type="body" sz="quarter" idx="14"/>
          </p:nvPr>
        </p:nvSpPr>
        <p:spPr>
          <a:xfrm>
            <a:off x="467828" y="513293"/>
            <a:ext cx="2591006" cy="272659"/>
          </a:xfrm>
        </p:spPr>
        <p:txBody>
          <a:bodyPr/>
          <a:lstStyle/>
          <a:p>
            <a:r>
              <a:rPr lang="en-US">
                <a:latin typeface="Century Gothic"/>
              </a:rPr>
              <a:t>Supply Chain Assistant</a:t>
            </a:r>
          </a:p>
        </p:txBody>
      </p:sp>
      <p:sp>
        <p:nvSpPr>
          <p:cNvPr id="4" name="Title 3">
            <a:extLst>
              <a:ext uri="{FF2B5EF4-FFF2-40B4-BE49-F238E27FC236}">
                <a16:creationId xmlns:a16="http://schemas.microsoft.com/office/drawing/2014/main" id="{21828483-2331-69C1-CE3C-9793BED1B3EA}"/>
              </a:ext>
            </a:extLst>
          </p:cNvPr>
          <p:cNvSpPr>
            <a:spLocks noGrp="1"/>
          </p:cNvSpPr>
          <p:nvPr>
            <p:ph type="ctrTitle"/>
          </p:nvPr>
        </p:nvSpPr>
        <p:spPr>
          <a:xfrm>
            <a:off x="467827" y="1042740"/>
            <a:ext cx="10703756" cy="453595"/>
          </a:xfrm>
        </p:spPr>
        <p:txBody>
          <a:bodyPr/>
          <a:lstStyle/>
          <a:p>
            <a:r>
              <a:rPr lang="en-CA">
                <a:latin typeface="+mn-lt"/>
              </a:rPr>
              <a:t>Overview </a:t>
            </a:r>
            <a:endParaRPr lang="en-US"/>
          </a:p>
        </p:txBody>
      </p:sp>
      <p:sp>
        <p:nvSpPr>
          <p:cNvPr id="11" name="TextBox 10">
            <a:extLst>
              <a:ext uri="{FF2B5EF4-FFF2-40B4-BE49-F238E27FC236}">
                <a16:creationId xmlns:a16="http://schemas.microsoft.com/office/drawing/2014/main" id="{C104972D-1160-C98A-A266-F26F6DA900FB}"/>
              </a:ext>
            </a:extLst>
          </p:cNvPr>
          <p:cNvSpPr txBox="1"/>
          <p:nvPr/>
        </p:nvSpPr>
        <p:spPr>
          <a:xfrm>
            <a:off x="548905" y="1753123"/>
            <a:ext cx="10622677" cy="1267655"/>
          </a:xfrm>
          <a:prstGeom prst="rect">
            <a:avLst/>
          </a:prstGeom>
          <a:noFill/>
        </p:spPr>
        <p:txBody>
          <a:bodyPr wrap="square">
            <a:spAutoFit/>
          </a:bodyPr>
          <a:lstStyle/>
          <a:p>
            <a:pPr fontAlgn="t">
              <a:lnSpc>
                <a:spcPts val="1500"/>
              </a:lnSpc>
              <a:buNone/>
            </a:pPr>
            <a:r>
              <a:rPr lang="en-US" sz="1600" b="1" i="0">
                <a:effectLst/>
              </a:rPr>
              <a:t>Primary Objective</a:t>
            </a:r>
          </a:p>
          <a:p>
            <a:pPr fontAlgn="t">
              <a:lnSpc>
                <a:spcPts val="1500"/>
              </a:lnSpc>
              <a:buNone/>
            </a:pPr>
            <a:endParaRPr lang="en-US" sz="1600" b="1" i="0">
              <a:effectLst/>
            </a:endParaRPr>
          </a:p>
          <a:p>
            <a:pPr fontAlgn="t">
              <a:lnSpc>
                <a:spcPts val="1500"/>
              </a:lnSpc>
              <a:buNone/>
            </a:pPr>
            <a:r>
              <a:rPr lang="en-US" sz="1600" b="0" i="0">
                <a:effectLst/>
              </a:rPr>
              <a:t>To develop and deploy an AI-powered Supply Chain Assistant on Databricks Genie capable of answering </a:t>
            </a:r>
            <a:r>
              <a:rPr lang="en-US" sz="1600" b="1" i="0">
                <a:effectLst/>
              </a:rPr>
              <a:t>10 predefined, high-value business questions</a:t>
            </a:r>
            <a:r>
              <a:rPr lang="en-US" sz="1600" b="0" i="0">
                <a:effectLst/>
              </a:rPr>
              <a:t> across order management, delivery, inventory, and service level performance.</a:t>
            </a:r>
          </a:p>
          <a:p>
            <a:pPr fontAlgn="t">
              <a:lnSpc>
                <a:spcPts val="1500"/>
              </a:lnSpc>
              <a:buNone/>
            </a:pPr>
            <a:endParaRPr lang="en-US" sz="1600"/>
          </a:p>
          <a:p>
            <a:pPr fontAlgn="t">
              <a:lnSpc>
                <a:spcPts val="1500"/>
              </a:lnSpc>
              <a:buNone/>
            </a:pPr>
            <a:endParaRPr lang="en-US" sz="1600" b="0" i="0">
              <a:effectLst/>
            </a:endParaRPr>
          </a:p>
        </p:txBody>
      </p:sp>
      <p:sp>
        <p:nvSpPr>
          <p:cNvPr id="13" name="TextBox 12">
            <a:extLst>
              <a:ext uri="{FF2B5EF4-FFF2-40B4-BE49-F238E27FC236}">
                <a16:creationId xmlns:a16="http://schemas.microsoft.com/office/drawing/2014/main" id="{DC269CF2-0268-0E92-6519-2DBEB07BAAF1}"/>
              </a:ext>
            </a:extLst>
          </p:cNvPr>
          <p:cNvSpPr txBox="1"/>
          <p:nvPr/>
        </p:nvSpPr>
        <p:spPr>
          <a:xfrm>
            <a:off x="548905" y="2994255"/>
            <a:ext cx="10300292" cy="1652375"/>
          </a:xfrm>
          <a:prstGeom prst="rect">
            <a:avLst/>
          </a:prstGeom>
          <a:noFill/>
        </p:spPr>
        <p:txBody>
          <a:bodyPr wrap="square">
            <a:spAutoFit/>
          </a:bodyPr>
          <a:lstStyle/>
          <a:p>
            <a:pPr fontAlgn="t">
              <a:lnSpc>
                <a:spcPts val="1500"/>
              </a:lnSpc>
              <a:buNone/>
            </a:pPr>
            <a:endParaRPr lang="en-US" sz="1600" b="0" i="0">
              <a:effectLst/>
              <a:latin typeface="Segoe UI" panose="020B0502040204020203" pitchFamily="34" charset="0"/>
            </a:endParaRPr>
          </a:p>
          <a:p>
            <a:pPr fontAlgn="t">
              <a:lnSpc>
                <a:spcPts val="1500"/>
              </a:lnSpc>
              <a:buNone/>
            </a:pPr>
            <a:r>
              <a:rPr lang="en-US" sz="1600" b="1"/>
              <a:t>Key Goals</a:t>
            </a:r>
          </a:p>
          <a:p>
            <a:pPr fontAlgn="t">
              <a:lnSpc>
                <a:spcPts val="1500"/>
              </a:lnSpc>
              <a:buNone/>
            </a:pPr>
            <a:endParaRPr lang="en-US" sz="1600"/>
          </a:p>
          <a:p>
            <a:pPr marL="285750" indent="-285750" fontAlgn="t">
              <a:lnSpc>
                <a:spcPts val="1500"/>
              </a:lnSpc>
              <a:buFont typeface="Arial" panose="020B0604020202020204" pitchFamily="34" charset="0"/>
              <a:buChar char="•"/>
            </a:pPr>
            <a:r>
              <a:rPr lang="en-US" sz="1600"/>
              <a:t>Enable self-service analytics for business users (Customer Service, Supply Chain, Operations)</a:t>
            </a:r>
          </a:p>
          <a:p>
            <a:pPr marL="285750" indent="-285750" fontAlgn="t">
              <a:lnSpc>
                <a:spcPts val="1500"/>
              </a:lnSpc>
              <a:buFont typeface="Arial" panose="020B0604020202020204" pitchFamily="34" charset="0"/>
              <a:buChar char="•"/>
            </a:pPr>
            <a:r>
              <a:rPr lang="en-US" sz="1600"/>
              <a:t>Provide real-time / near-real-time insights using enterprise data platform (EDP)</a:t>
            </a:r>
          </a:p>
          <a:p>
            <a:pPr marL="285750" indent="-285750" fontAlgn="t">
              <a:lnSpc>
                <a:spcPts val="1500"/>
              </a:lnSpc>
              <a:buFont typeface="Arial" panose="020B0604020202020204" pitchFamily="34" charset="0"/>
              <a:buChar char="•"/>
            </a:pPr>
            <a:r>
              <a:rPr lang="en-US" sz="1600"/>
              <a:t>Reduce dependency on manual Power BI reports and SME interventions</a:t>
            </a:r>
          </a:p>
          <a:p>
            <a:pPr marL="285750" indent="-285750" fontAlgn="t">
              <a:lnSpc>
                <a:spcPts val="1500"/>
              </a:lnSpc>
              <a:buFont typeface="Arial" panose="020B0604020202020204" pitchFamily="34" charset="0"/>
              <a:buChar char="•"/>
            </a:pPr>
            <a:r>
              <a:rPr lang="en-US" sz="1600"/>
              <a:t>Improve decision-making speed and accuracy across supply chain operations</a:t>
            </a:r>
          </a:p>
          <a:p>
            <a:pPr marL="285750" indent="-285750" fontAlgn="t">
              <a:lnSpc>
                <a:spcPts val="1500"/>
              </a:lnSpc>
              <a:buFont typeface="Arial" panose="020B0604020202020204" pitchFamily="34" charset="0"/>
              <a:buChar char="•"/>
            </a:pPr>
            <a:r>
              <a:rPr lang="en-US" sz="1600"/>
              <a:t>Establish a scalable agent-based architecture for domain-specific queries</a:t>
            </a:r>
          </a:p>
        </p:txBody>
      </p:sp>
    </p:spTree>
    <p:extLst>
      <p:ext uri="{BB962C8B-B14F-4D97-AF65-F5344CB8AC3E}">
        <p14:creationId xmlns:p14="http://schemas.microsoft.com/office/powerpoint/2010/main" val="1540544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FE54E-4803-4C45-0937-DD92FE89027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2A604F4-04E0-AC29-9684-67DF1B8B967F}"/>
              </a:ext>
            </a:extLst>
          </p:cNvPr>
          <p:cNvSpPr>
            <a:spLocks noGrp="1"/>
          </p:cNvSpPr>
          <p:nvPr>
            <p:ph type="body" sz="quarter" idx="14"/>
          </p:nvPr>
        </p:nvSpPr>
        <p:spPr>
          <a:xfrm>
            <a:off x="467828" y="513293"/>
            <a:ext cx="2591006" cy="272659"/>
          </a:xfrm>
        </p:spPr>
        <p:txBody>
          <a:bodyPr/>
          <a:lstStyle/>
          <a:p>
            <a:r>
              <a:rPr lang="en-US">
                <a:latin typeface="Century Gothic"/>
              </a:rPr>
              <a:t>Supply Chain Assistant</a:t>
            </a:r>
          </a:p>
        </p:txBody>
      </p:sp>
      <p:sp>
        <p:nvSpPr>
          <p:cNvPr id="4" name="Title 3">
            <a:extLst>
              <a:ext uri="{FF2B5EF4-FFF2-40B4-BE49-F238E27FC236}">
                <a16:creationId xmlns:a16="http://schemas.microsoft.com/office/drawing/2014/main" id="{D87C8A9E-E3F7-12ED-655B-C1A1545CE5E8}"/>
              </a:ext>
            </a:extLst>
          </p:cNvPr>
          <p:cNvSpPr>
            <a:spLocks noGrp="1"/>
          </p:cNvSpPr>
          <p:nvPr>
            <p:ph type="ctrTitle"/>
          </p:nvPr>
        </p:nvSpPr>
        <p:spPr>
          <a:xfrm>
            <a:off x="467827" y="1042740"/>
            <a:ext cx="10703756" cy="453595"/>
          </a:xfrm>
        </p:spPr>
        <p:txBody>
          <a:bodyPr/>
          <a:lstStyle/>
          <a:p>
            <a:r>
              <a:rPr lang="en-CA">
                <a:latin typeface="+mn-lt"/>
              </a:rPr>
              <a:t>Architecture</a:t>
            </a:r>
            <a:endParaRPr lang="en-US"/>
          </a:p>
        </p:txBody>
      </p:sp>
      <p:pic>
        <p:nvPicPr>
          <p:cNvPr id="6" name="Picture 5">
            <a:extLst>
              <a:ext uri="{FF2B5EF4-FFF2-40B4-BE49-F238E27FC236}">
                <a16:creationId xmlns:a16="http://schemas.microsoft.com/office/drawing/2014/main" id="{7D7C023E-92AF-B6C1-54B9-249215D467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330" y="1583581"/>
            <a:ext cx="10064750" cy="4953744"/>
          </a:xfrm>
          <a:prstGeom prst="rect">
            <a:avLst/>
          </a:prstGeom>
        </p:spPr>
      </p:pic>
    </p:spTree>
    <p:extLst>
      <p:ext uri="{BB962C8B-B14F-4D97-AF65-F5344CB8AC3E}">
        <p14:creationId xmlns:p14="http://schemas.microsoft.com/office/powerpoint/2010/main" val="806385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2C66B9-8E2C-31DB-7147-4AF7FFFFA7D5}"/>
              </a:ext>
            </a:extLst>
          </p:cNvPr>
          <p:cNvSpPr>
            <a:spLocks noGrp="1"/>
          </p:cNvSpPr>
          <p:nvPr>
            <p:ph type="body" sz="quarter" idx="14"/>
          </p:nvPr>
        </p:nvSpPr>
        <p:spPr>
          <a:xfrm>
            <a:off x="467828" y="513293"/>
            <a:ext cx="968449" cy="272659"/>
          </a:xfrm>
        </p:spPr>
        <p:txBody>
          <a:bodyPr/>
          <a:lstStyle/>
          <a:p>
            <a:r>
              <a:rPr lang="en-US"/>
              <a:t>Retro</a:t>
            </a:r>
          </a:p>
        </p:txBody>
      </p:sp>
      <p:sp>
        <p:nvSpPr>
          <p:cNvPr id="3" name="Title 2">
            <a:extLst>
              <a:ext uri="{FF2B5EF4-FFF2-40B4-BE49-F238E27FC236}">
                <a16:creationId xmlns:a16="http://schemas.microsoft.com/office/drawing/2014/main" id="{22148A0F-BA21-9988-26EE-093EA491B8C9}"/>
              </a:ext>
            </a:extLst>
          </p:cNvPr>
          <p:cNvSpPr>
            <a:spLocks noGrp="1"/>
          </p:cNvSpPr>
          <p:nvPr>
            <p:ph type="ctrTitle"/>
          </p:nvPr>
        </p:nvSpPr>
        <p:spPr/>
        <p:txBody>
          <a:bodyPr/>
          <a:lstStyle/>
          <a:p>
            <a:r>
              <a:rPr lang="en-US"/>
              <a:t>Retrospective…</a:t>
            </a:r>
          </a:p>
        </p:txBody>
      </p:sp>
      <p:sp>
        <p:nvSpPr>
          <p:cNvPr id="9" name="TextBox 8">
            <a:extLst>
              <a:ext uri="{FF2B5EF4-FFF2-40B4-BE49-F238E27FC236}">
                <a16:creationId xmlns:a16="http://schemas.microsoft.com/office/drawing/2014/main" id="{B662A2D8-FC5F-A3E7-3D4C-003B8AEFFB65}"/>
              </a:ext>
            </a:extLst>
          </p:cNvPr>
          <p:cNvSpPr txBox="1"/>
          <p:nvPr/>
        </p:nvSpPr>
        <p:spPr>
          <a:xfrm>
            <a:off x="467827" y="2064685"/>
            <a:ext cx="11068653" cy="3892348"/>
          </a:xfrm>
          <a:prstGeom prst="rect">
            <a:avLst/>
          </a:prstGeom>
          <a:noFill/>
        </p:spPr>
        <p:txBody>
          <a:bodyPr wrap="square">
            <a:spAutoFit/>
          </a:bodyPr>
          <a:lstStyle/>
          <a:p>
            <a:pPr marR="0">
              <a:lnSpc>
                <a:spcPct val="115000"/>
              </a:lnSpc>
              <a:spcAft>
                <a:spcPts val="800"/>
              </a:spcAft>
            </a:pPr>
            <a:r>
              <a:rPr lang="en-US" sz="1600" b="1" kern="100">
                <a:effectLst/>
                <a:latin typeface="Aptos" panose="020B0004020202020204" pitchFamily="34" charset="0"/>
                <a:ea typeface="Aptos" panose="020B0004020202020204" pitchFamily="34" charset="0"/>
                <a:cs typeface="Times New Roman" panose="02020603050405020304" pitchFamily="18" charset="0"/>
              </a:rPr>
              <a:t>1. Incorrect Business Logic from SMEs</a:t>
            </a:r>
            <a:r>
              <a:rPr lang="en-US" sz="1600" b="1" kern="100">
                <a:latin typeface="Aptos" panose="020B0004020202020204" pitchFamily="34" charset="0"/>
                <a:ea typeface="Aptos" panose="020B0004020202020204" pitchFamily="34" charset="0"/>
                <a:cs typeface="Times New Roman" panose="02020603050405020304" pitchFamily="18" charset="0"/>
              </a:rPr>
              <a:t>: </a:t>
            </a:r>
            <a:r>
              <a:rPr lang="en-US" sz="1600" kern="100">
                <a:latin typeface="Aptos" panose="020B0004020202020204" pitchFamily="34" charset="0"/>
                <a:ea typeface="Aptos" panose="020B0004020202020204" pitchFamily="34" charset="0"/>
                <a:cs typeface="Times New Roman" panose="02020603050405020304" pitchFamily="18" charset="0"/>
              </a:rPr>
              <a:t>Data was available within Prod tables, but the team was required to create a copy of these tables and work on the same. But while making the data copy, joins of the tables, and the tables themselves weren't correct, this caused the underlying data to be wrong.</a:t>
            </a:r>
          </a:p>
          <a:p>
            <a:pPr marR="0">
              <a:lnSpc>
                <a:spcPct val="115000"/>
              </a:lnSpc>
              <a:spcAft>
                <a:spcPts val="800"/>
              </a:spcAft>
            </a:pPr>
            <a:r>
              <a:rPr lang="en-US" sz="1600" b="1" kern="100">
                <a:effectLst/>
                <a:latin typeface="Aptos" panose="020B0004020202020204" pitchFamily="34" charset="0"/>
                <a:ea typeface="Aptos" panose="020B0004020202020204" pitchFamily="34" charset="0"/>
                <a:cs typeface="Times New Roman" panose="02020603050405020304" pitchFamily="18" charset="0"/>
              </a:rPr>
              <a:t>Insight</a:t>
            </a:r>
            <a:r>
              <a:rPr lang="en-US" sz="1600" kern="100">
                <a:effectLst/>
                <a:latin typeface="Aptos" panose="020B0004020202020204" pitchFamily="34" charset="0"/>
                <a:ea typeface="Aptos" panose="020B0004020202020204" pitchFamily="34" charset="0"/>
                <a:cs typeface="Times New Roman" panose="02020603050405020304" pitchFamily="18" charset="0"/>
              </a:rPr>
              <a:t>: The system was functioning </a:t>
            </a:r>
            <a:r>
              <a:rPr lang="en-US" sz="1600" b="1" kern="100">
                <a:effectLst/>
                <a:latin typeface="Aptos" panose="020B0004020202020204" pitchFamily="34" charset="0"/>
                <a:ea typeface="Aptos" panose="020B0004020202020204" pitchFamily="34" charset="0"/>
                <a:cs typeface="Times New Roman" panose="02020603050405020304" pitchFamily="18" charset="0"/>
              </a:rPr>
              <a:t>correctly based on defined logic</a:t>
            </a:r>
            <a:r>
              <a:rPr lang="en-US" sz="1600" kern="100">
                <a:effectLst/>
                <a:latin typeface="Aptos" panose="020B0004020202020204" pitchFamily="34" charset="0"/>
                <a:ea typeface="Aptos" panose="020B0004020202020204" pitchFamily="34" charset="0"/>
                <a:cs typeface="Times New Roman" panose="02020603050405020304" pitchFamily="18" charset="0"/>
              </a:rPr>
              <a:t>, but the </a:t>
            </a:r>
            <a:r>
              <a:rPr lang="en-US" sz="1600" b="1" kern="100">
                <a:effectLst/>
                <a:latin typeface="Aptos" panose="020B0004020202020204" pitchFamily="34" charset="0"/>
                <a:ea typeface="Aptos" panose="020B0004020202020204" pitchFamily="34" charset="0"/>
                <a:cs typeface="Times New Roman" panose="02020603050405020304" pitchFamily="18" charset="0"/>
              </a:rPr>
              <a:t>logic itself was flawed</a:t>
            </a:r>
          </a:p>
          <a:p>
            <a:pPr marR="0">
              <a:lnSpc>
                <a:spcPct val="115000"/>
              </a:lnSpc>
              <a:spcAft>
                <a:spcPts val="800"/>
              </a:spcAft>
            </a:pPr>
            <a:r>
              <a:rPr lang="en-US" sz="1600" b="1" kern="100">
                <a:latin typeface="Aptos" panose="020B0004020202020204" pitchFamily="34" charset="0"/>
                <a:ea typeface="Aptos" panose="020B0004020202020204" pitchFamily="34" charset="0"/>
                <a:cs typeface="Times New Roman" panose="02020603050405020304" pitchFamily="18" charset="0"/>
              </a:rPr>
              <a:t>Plan: </a:t>
            </a:r>
            <a:r>
              <a:rPr lang="en-US" sz="1600" kern="100">
                <a:latin typeface="Aptos" panose="020B0004020202020204" pitchFamily="34" charset="0"/>
                <a:ea typeface="Aptos" panose="020B0004020202020204" pitchFamily="34" charset="0"/>
                <a:cs typeface="Times New Roman" panose="02020603050405020304" pitchFamily="18" charset="0"/>
              </a:rPr>
              <a:t>Get </a:t>
            </a:r>
            <a:r>
              <a:rPr lang="en-US" sz="1600" b="1" kern="100">
                <a:latin typeface="Aptos" panose="020B0004020202020204" pitchFamily="34" charset="0"/>
                <a:ea typeface="Aptos" panose="020B0004020202020204" pitchFamily="34" charset="0"/>
                <a:cs typeface="Times New Roman" panose="02020603050405020304" pitchFamily="18" charset="0"/>
              </a:rPr>
              <a:t>EDP consultant and business stakeholders validate the logic and data</a:t>
            </a:r>
            <a:r>
              <a:rPr lang="en-US" sz="1600" kern="100">
                <a:latin typeface="Aptos" panose="020B0004020202020204" pitchFamily="34" charset="0"/>
                <a:ea typeface="Aptos" panose="020B0004020202020204" pitchFamily="34" charset="0"/>
                <a:cs typeface="Times New Roman" panose="02020603050405020304" pitchFamily="18" charset="0"/>
              </a:rPr>
              <a:t>, not just the SQL queries</a:t>
            </a:r>
          </a:p>
          <a:p>
            <a:pPr marR="0">
              <a:lnSpc>
                <a:spcPct val="115000"/>
              </a:lnSpc>
              <a:spcAft>
                <a:spcPts val="800"/>
              </a:spcAft>
            </a:pPr>
            <a:r>
              <a:rPr lang="en-US" sz="1600" b="1" kern="100">
                <a:effectLst/>
                <a:latin typeface="Aptos" panose="020B0004020202020204" pitchFamily="34" charset="0"/>
                <a:ea typeface="Aptos" panose="020B0004020202020204" pitchFamily="34" charset="0"/>
                <a:cs typeface="Times New Roman" panose="02020603050405020304" pitchFamily="18" charset="0"/>
              </a:rPr>
              <a:t>2. No Production Data Access: </a:t>
            </a:r>
            <a:r>
              <a:rPr lang="en-US" sz="1600" kern="100">
                <a:effectLst/>
                <a:latin typeface="Aptos" panose="020B0004020202020204" pitchFamily="34" charset="0"/>
                <a:ea typeface="Aptos" panose="020B0004020202020204" pitchFamily="34" charset="0"/>
                <a:cs typeface="Times New Roman" panose="02020603050405020304" pitchFamily="18" charset="0"/>
              </a:rPr>
              <a:t>Development team</a:t>
            </a:r>
            <a:r>
              <a:rPr lang="en-US" sz="1600" kern="100">
                <a:latin typeface="Aptos" panose="020B0004020202020204" pitchFamily="34" charset="0"/>
                <a:ea typeface="Aptos" panose="020B0004020202020204" pitchFamily="34" charset="0"/>
                <a:cs typeface="Times New Roman" panose="02020603050405020304" pitchFamily="18" charset="0"/>
              </a:rPr>
              <a:t>, </a:t>
            </a:r>
            <a:r>
              <a:rPr lang="en-US" sz="1600" kern="100">
                <a:effectLst/>
                <a:latin typeface="Aptos" panose="020B0004020202020204" pitchFamily="34" charset="0"/>
                <a:ea typeface="Aptos" panose="020B0004020202020204" pitchFamily="34" charset="0"/>
                <a:cs typeface="Times New Roman" panose="02020603050405020304" pitchFamily="18" charset="0"/>
              </a:rPr>
              <a:t>Did </a:t>
            </a:r>
            <a:r>
              <a:rPr lang="en-US" sz="1600" b="1" kern="100">
                <a:effectLst/>
                <a:latin typeface="Aptos" panose="020B0004020202020204" pitchFamily="34" charset="0"/>
                <a:ea typeface="Aptos" panose="020B0004020202020204" pitchFamily="34" charset="0"/>
                <a:cs typeface="Times New Roman" panose="02020603050405020304" pitchFamily="18" charset="0"/>
              </a:rPr>
              <a:t>not have direct access to production data</a:t>
            </a:r>
            <a:r>
              <a:rPr lang="en-US" sz="1600" b="1" kern="100">
                <a:latin typeface="Aptos" panose="020B0004020202020204" pitchFamily="34" charset="0"/>
                <a:ea typeface="Aptos" panose="020B0004020202020204" pitchFamily="34" charset="0"/>
                <a:cs typeface="Times New Roman" panose="02020603050405020304" pitchFamily="18" charset="0"/>
              </a:rPr>
              <a:t>, </a:t>
            </a:r>
            <a:r>
              <a:rPr lang="en-US" sz="1600" kern="100">
                <a:effectLst/>
                <a:latin typeface="Aptos" panose="020B0004020202020204" pitchFamily="34" charset="0"/>
                <a:ea typeface="Aptos" panose="020B0004020202020204" pitchFamily="34" charset="0"/>
                <a:cs typeface="Times New Roman" panose="02020603050405020304" pitchFamily="18" charset="0"/>
              </a:rPr>
              <a:t>Relied on assumptions / partial datasets</a:t>
            </a:r>
            <a:r>
              <a:rPr lang="en-US" sz="1600" kern="100">
                <a:latin typeface="Aptos" panose="020B0004020202020204" pitchFamily="34" charset="0"/>
                <a:ea typeface="Aptos" panose="020B0004020202020204" pitchFamily="34" charset="0"/>
                <a:cs typeface="Times New Roman" panose="02020603050405020304" pitchFamily="18" charset="0"/>
              </a:rPr>
              <a:t>. </a:t>
            </a:r>
            <a:r>
              <a:rPr lang="en-US" sz="1600" kern="100">
                <a:effectLst/>
                <a:latin typeface="Aptos" panose="020B0004020202020204" pitchFamily="34" charset="0"/>
                <a:ea typeface="Aptos" panose="020B0004020202020204" pitchFamily="34" charset="0"/>
                <a:cs typeface="Times New Roman" panose="02020603050405020304" pitchFamily="18" charset="0"/>
              </a:rPr>
              <a:t>Could not validate</a:t>
            </a:r>
            <a:r>
              <a:rPr lang="en-US" sz="1600" kern="100">
                <a:latin typeface="Aptos" panose="020B0004020202020204" pitchFamily="34" charset="0"/>
                <a:ea typeface="Aptos" panose="020B0004020202020204" pitchFamily="34" charset="0"/>
                <a:cs typeface="Times New Roman" panose="02020603050405020304" pitchFamily="18" charset="0"/>
              </a:rPr>
              <a:t>, </a:t>
            </a:r>
            <a:r>
              <a:rPr lang="en-US" sz="1600" kern="100">
                <a:effectLst/>
                <a:latin typeface="Aptos" panose="020B0004020202020204" pitchFamily="34" charset="0"/>
                <a:ea typeface="Aptos" panose="020B0004020202020204" pitchFamily="34" charset="0"/>
                <a:cs typeface="Times New Roman" panose="02020603050405020304" pitchFamily="18" charset="0"/>
              </a:rPr>
              <a:t>Real-world data scenarios, Data completeness or anomalies</a:t>
            </a:r>
          </a:p>
          <a:p>
            <a:pPr>
              <a:lnSpc>
                <a:spcPct val="115000"/>
              </a:lnSpc>
              <a:spcAft>
                <a:spcPts val="800"/>
              </a:spcAft>
            </a:pPr>
            <a:r>
              <a:rPr lang="en-US" sz="1600" b="1" kern="100">
                <a:latin typeface="Aptos" panose="020B0004020202020204" pitchFamily="34" charset="0"/>
                <a:ea typeface="Aptos" panose="020B0004020202020204" pitchFamily="34" charset="0"/>
                <a:cs typeface="Times New Roman" panose="02020603050405020304" pitchFamily="18" charset="0"/>
              </a:rPr>
              <a:t>Insight</a:t>
            </a:r>
            <a:r>
              <a:rPr lang="en-US" sz="1600" kern="100">
                <a:latin typeface="Aptos" panose="020B0004020202020204" pitchFamily="34" charset="0"/>
                <a:ea typeface="Aptos" panose="020B0004020202020204" pitchFamily="34" charset="0"/>
                <a:cs typeface="Times New Roman" panose="02020603050405020304" pitchFamily="18" charset="0"/>
              </a:rPr>
              <a:t>: </a:t>
            </a:r>
            <a:r>
              <a:rPr lang="en-US" sz="1600" b="1" kern="100">
                <a:latin typeface="Aptos" panose="020B0004020202020204" pitchFamily="34" charset="0"/>
                <a:ea typeface="Aptos" panose="020B0004020202020204" pitchFamily="34" charset="0"/>
                <a:cs typeface="Times New Roman" panose="02020603050405020304" pitchFamily="18" charset="0"/>
              </a:rPr>
              <a:t>Data</a:t>
            </a:r>
            <a:r>
              <a:rPr lang="en-US" sz="1600" kern="100">
                <a:latin typeface="Aptos" panose="020B0004020202020204" pitchFamily="34" charset="0"/>
                <a:ea typeface="Aptos" panose="020B0004020202020204" pitchFamily="34" charset="0"/>
                <a:cs typeface="Times New Roman" panose="02020603050405020304" pitchFamily="18" charset="0"/>
              </a:rPr>
              <a:t> used in Supply chain assistant was </a:t>
            </a:r>
            <a:r>
              <a:rPr lang="en-US" sz="1600" b="1" kern="100">
                <a:latin typeface="Aptos" panose="020B0004020202020204" pitchFamily="34" charset="0"/>
                <a:ea typeface="Aptos" panose="020B0004020202020204" pitchFamily="34" charset="0"/>
                <a:cs typeface="Times New Roman" panose="02020603050405020304" pitchFamily="18" charset="0"/>
              </a:rPr>
              <a:t>old and incomplete</a:t>
            </a:r>
            <a:r>
              <a:rPr lang="en-US" sz="1600" kern="100">
                <a:latin typeface="Aptos" panose="020B0004020202020204" pitchFamily="34" charset="0"/>
                <a:ea typeface="Aptos" panose="020B0004020202020204" pitchFamily="34" charset="0"/>
                <a:cs typeface="Times New Roman" panose="02020603050405020304" pitchFamily="18" charset="0"/>
              </a:rPr>
              <a:t>, hence the </a:t>
            </a:r>
            <a:r>
              <a:rPr lang="en-US" sz="1600" b="1" kern="100">
                <a:latin typeface="Aptos" panose="020B0004020202020204" pitchFamily="34" charset="0"/>
                <a:ea typeface="Aptos" panose="020B0004020202020204" pitchFamily="34" charset="0"/>
                <a:cs typeface="Times New Roman" panose="02020603050405020304" pitchFamily="18" charset="0"/>
              </a:rPr>
              <a:t>summarizations didn’t match </a:t>
            </a:r>
            <a:r>
              <a:rPr lang="en-US" sz="1600" kern="100">
                <a:latin typeface="Aptos" panose="020B0004020202020204" pitchFamily="34" charset="0"/>
                <a:ea typeface="Aptos" panose="020B0004020202020204" pitchFamily="34" charset="0"/>
                <a:cs typeface="Times New Roman" panose="02020603050405020304" pitchFamily="18" charset="0"/>
              </a:rPr>
              <a:t>in the final output with the </a:t>
            </a:r>
          </a:p>
          <a:p>
            <a:r>
              <a:rPr lang="en-US" sz="1600" b="1" kern="100">
                <a:latin typeface="Aptos" panose="020B0004020202020204" pitchFamily="34" charset="0"/>
                <a:cs typeface="Times New Roman" panose="02020603050405020304" pitchFamily="18" charset="0"/>
              </a:rPr>
              <a:t>Plan: </a:t>
            </a:r>
            <a:r>
              <a:rPr lang="en-US" sz="1600" kern="100">
                <a:latin typeface="Aptos" panose="020B0004020202020204" pitchFamily="34" charset="0"/>
                <a:cs typeface="Times New Roman" panose="02020603050405020304" pitchFamily="18" charset="0"/>
              </a:rPr>
              <a:t>Create data tables after </a:t>
            </a:r>
            <a:r>
              <a:rPr lang="en-US" sz="1600" b="1" kern="100">
                <a:latin typeface="Aptos" panose="020B0004020202020204" pitchFamily="34" charset="0"/>
                <a:cs typeface="Times New Roman" panose="02020603050405020304" pitchFamily="18" charset="0"/>
              </a:rPr>
              <a:t>joining the relevant tables</a:t>
            </a:r>
            <a:r>
              <a:rPr lang="en-US" sz="1600" kern="100">
                <a:latin typeface="Aptos" panose="020B0004020202020204" pitchFamily="34" charset="0"/>
                <a:cs typeface="Times New Roman" panose="02020603050405020304" pitchFamily="18" charset="0"/>
              </a:rPr>
              <a:t>, and get the </a:t>
            </a:r>
            <a:r>
              <a:rPr lang="en-US" sz="1600" b="1" kern="100">
                <a:latin typeface="Aptos" panose="020B0004020202020204" pitchFamily="34" charset="0"/>
                <a:cs typeface="Times New Roman" panose="02020603050405020304" pitchFamily="18" charset="0"/>
              </a:rPr>
              <a:t>data validated by business stakeholders </a:t>
            </a:r>
            <a:r>
              <a:rPr lang="en-US" sz="1600" kern="100">
                <a:latin typeface="Aptos" panose="020B0004020202020204" pitchFamily="34" charset="0"/>
                <a:cs typeface="Times New Roman" panose="02020603050405020304" pitchFamily="18" charset="0"/>
              </a:rPr>
              <a:t>before agents are built.</a:t>
            </a:r>
          </a:p>
          <a:p>
            <a:endParaRPr lang="en-US" sz="1600" kern="10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67397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E56A1-2150-D981-1F3F-59461C487E7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A68AF74-947D-DC77-EAA6-F97C0F4D3D84}"/>
              </a:ext>
            </a:extLst>
          </p:cNvPr>
          <p:cNvSpPr>
            <a:spLocks noGrp="1"/>
          </p:cNvSpPr>
          <p:nvPr>
            <p:ph type="body" sz="quarter" idx="14"/>
          </p:nvPr>
        </p:nvSpPr>
        <p:spPr>
          <a:xfrm>
            <a:off x="467828" y="513293"/>
            <a:ext cx="968449" cy="272659"/>
          </a:xfrm>
        </p:spPr>
        <p:txBody>
          <a:bodyPr/>
          <a:lstStyle/>
          <a:p>
            <a:r>
              <a:rPr lang="en-US"/>
              <a:t>Retro</a:t>
            </a:r>
          </a:p>
        </p:txBody>
      </p:sp>
      <p:sp>
        <p:nvSpPr>
          <p:cNvPr id="3" name="Title 2">
            <a:extLst>
              <a:ext uri="{FF2B5EF4-FFF2-40B4-BE49-F238E27FC236}">
                <a16:creationId xmlns:a16="http://schemas.microsoft.com/office/drawing/2014/main" id="{F7D2359A-3192-AE35-A087-D8C272CFDCEC}"/>
              </a:ext>
            </a:extLst>
          </p:cNvPr>
          <p:cNvSpPr>
            <a:spLocks noGrp="1"/>
          </p:cNvSpPr>
          <p:nvPr>
            <p:ph type="ctrTitle"/>
          </p:nvPr>
        </p:nvSpPr>
        <p:spPr/>
        <p:txBody>
          <a:bodyPr/>
          <a:lstStyle/>
          <a:p>
            <a:r>
              <a:rPr lang="en-US"/>
              <a:t>Retrospective</a:t>
            </a:r>
          </a:p>
        </p:txBody>
      </p:sp>
      <p:sp>
        <p:nvSpPr>
          <p:cNvPr id="9" name="TextBox 8">
            <a:extLst>
              <a:ext uri="{FF2B5EF4-FFF2-40B4-BE49-F238E27FC236}">
                <a16:creationId xmlns:a16="http://schemas.microsoft.com/office/drawing/2014/main" id="{1B3EDAE4-AC0A-5766-2FE6-EDA0D802593A}"/>
              </a:ext>
            </a:extLst>
          </p:cNvPr>
          <p:cNvSpPr txBox="1"/>
          <p:nvPr/>
        </p:nvSpPr>
        <p:spPr>
          <a:xfrm>
            <a:off x="467827" y="2055541"/>
            <a:ext cx="11068653" cy="3948197"/>
          </a:xfrm>
          <a:prstGeom prst="rect">
            <a:avLst/>
          </a:prstGeom>
          <a:noFill/>
        </p:spPr>
        <p:txBody>
          <a:bodyPr wrap="square">
            <a:spAutoFit/>
          </a:bodyPr>
          <a:lstStyle/>
          <a:p>
            <a:r>
              <a:rPr lang="en-US" sz="1600" b="1" kern="100">
                <a:latin typeface="Aptos" panose="020B0004020202020204" pitchFamily="34" charset="0"/>
                <a:cs typeface="Times New Roman" panose="02020603050405020304" pitchFamily="18" charset="0"/>
              </a:rPr>
              <a:t>3. </a:t>
            </a:r>
            <a:r>
              <a:rPr lang="en-US" sz="1600" b="1"/>
              <a:t>No Standardized KPI Definitions: </a:t>
            </a:r>
            <a:r>
              <a:rPr lang="en-US" sz="1600"/>
              <a:t>Metrics like Fill Rate, Delivery variance and Shortages were </a:t>
            </a:r>
            <a:r>
              <a:rPr lang="en-US" sz="1600" b="1"/>
              <a:t>interpreted differently across systems</a:t>
            </a:r>
          </a:p>
          <a:p>
            <a:pPr marL="228600" indent="-228600">
              <a:buFont typeface="+mj-lt"/>
              <a:buAutoNum type="arabicPeriod" startAt="3"/>
            </a:pPr>
            <a:endParaRPr lang="en-US" sz="1600" b="1"/>
          </a:p>
          <a:p>
            <a:r>
              <a:rPr lang="en-US" sz="1600" b="1"/>
              <a:t>Insight:</a:t>
            </a:r>
            <a:r>
              <a:rPr lang="en-US" sz="1600"/>
              <a:t> The metrics were supposed to be matched with the data coming in the </a:t>
            </a:r>
            <a:r>
              <a:rPr lang="en-US" sz="1600" b="1"/>
              <a:t>Power BI reports</a:t>
            </a:r>
            <a:r>
              <a:rPr lang="en-US" sz="1600"/>
              <a:t>, but the logic of creating these metrics was </a:t>
            </a:r>
            <a:r>
              <a:rPr lang="en-US" sz="1600" b="1"/>
              <a:t>never shared with the team</a:t>
            </a:r>
          </a:p>
          <a:p>
            <a:pPr marL="228600" indent="-228600">
              <a:buFont typeface="+mj-lt"/>
              <a:buAutoNum type="arabicPeriod" startAt="3"/>
            </a:pPr>
            <a:endParaRPr lang="en-US" sz="1600" b="1"/>
          </a:p>
          <a:p>
            <a:r>
              <a:rPr lang="en-US" sz="1600" b="1"/>
              <a:t>Plan: </a:t>
            </a:r>
            <a:r>
              <a:rPr lang="en-US" sz="1600"/>
              <a:t>Get </a:t>
            </a:r>
            <a:r>
              <a:rPr lang="en-US" sz="1600" b="1"/>
              <a:t>logic of the dimensions and metrics created within Power BI</a:t>
            </a:r>
            <a:r>
              <a:rPr lang="en-US" sz="1600"/>
              <a:t>, so that the same can be </a:t>
            </a:r>
            <a:r>
              <a:rPr lang="en-US" sz="1600" b="1"/>
              <a:t>recreated within source tables</a:t>
            </a:r>
          </a:p>
          <a:p>
            <a:endParaRPr lang="en-US" sz="1600" b="1"/>
          </a:p>
          <a:p>
            <a:r>
              <a:rPr lang="en-US" sz="1600" b="1"/>
              <a:t>4. Ground truth comparison just looked into the SQL queries: </a:t>
            </a:r>
            <a:r>
              <a:rPr lang="en-US" sz="1600"/>
              <a:t>While comparing the Ground Truth, only SQL queries were compared, and that showcased 97% match with the queries supplied by the operations team. No data output match was done to ensure that the queries are returning the expected data as well. </a:t>
            </a:r>
          </a:p>
          <a:p>
            <a:pPr lvl="0"/>
            <a:endParaRPr lang="en-US" sz="1600"/>
          </a:p>
          <a:p>
            <a:pPr>
              <a:lnSpc>
                <a:spcPct val="115000"/>
              </a:lnSpc>
              <a:spcAft>
                <a:spcPts val="800"/>
              </a:spcAft>
            </a:pPr>
            <a:r>
              <a:rPr lang="en-US" sz="1600" b="1"/>
              <a:t>Insight:</a:t>
            </a:r>
            <a:r>
              <a:rPr lang="en-US" sz="1600"/>
              <a:t> </a:t>
            </a:r>
            <a:r>
              <a:rPr lang="en-US" sz="1600" b="1"/>
              <a:t>Output data has to be matched </a:t>
            </a:r>
            <a:r>
              <a:rPr lang="en-US" sz="1600"/>
              <a:t>as well, not just the queries to ascertain accuracy</a:t>
            </a:r>
          </a:p>
          <a:p>
            <a:pPr>
              <a:lnSpc>
                <a:spcPct val="115000"/>
              </a:lnSpc>
              <a:spcAft>
                <a:spcPts val="800"/>
              </a:spcAft>
            </a:pPr>
            <a:r>
              <a:rPr lang="en-US" sz="1600" b="1"/>
              <a:t>Plan: </a:t>
            </a:r>
            <a:r>
              <a:rPr lang="en-US" sz="1600"/>
              <a:t>Get the </a:t>
            </a:r>
            <a:r>
              <a:rPr lang="en-US" sz="1600" b="1"/>
              <a:t>output</a:t>
            </a:r>
            <a:r>
              <a:rPr lang="en-US" sz="1600"/>
              <a:t> </a:t>
            </a:r>
            <a:r>
              <a:rPr lang="en-US" sz="1600" b="1"/>
              <a:t>data matched along with the SQL queries</a:t>
            </a:r>
            <a:r>
              <a:rPr lang="en-US" sz="1600"/>
              <a:t>, to establish the ground truth</a:t>
            </a:r>
          </a:p>
        </p:txBody>
      </p:sp>
    </p:spTree>
    <p:extLst>
      <p:ext uri="{BB962C8B-B14F-4D97-AF65-F5344CB8AC3E}">
        <p14:creationId xmlns:p14="http://schemas.microsoft.com/office/powerpoint/2010/main" val="1008783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583FC-1251-A70F-4085-FEE58D0BE91C}"/>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61256D8-A97C-24AA-4761-3DBC5CD826E7}"/>
              </a:ext>
            </a:extLst>
          </p:cNvPr>
          <p:cNvSpPr>
            <a:spLocks noGrp="1"/>
          </p:cNvSpPr>
          <p:nvPr>
            <p:ph type="pic" sz="quarter" idx="14"/>
          </p:nvPr>
        </p:nvSpPr>
        <p:spPr/>
        <p:txBody>
          <a:bodyPr/>
          <a:lstStyle/>
          <a:p>
            <a:endParaRPr lang="en-IN"/>
          </a:p>
        </p:txBody>
      </p:sp>
      <p:sp>
        <p:nvSpPr>
          <p:cNvPr id="7" name="Title 6">
            <a:extLst>
              <a:ext uri="{FF2B5EF4-FFF2-40B4-BE49-F238E27FC236}">
                <a16:creationId xmlns:a16="http://schemas.microsoft.com/office/drawing/2014/main" id="{12262938-E482-4994-75E0-8EA1310AB500}"/>
              </a:ext>
            </a:extLst>
          </p:cNvPr>
          <p:cNvSpPr>
            <a:spLocks noGrp="1"/>
          </p:cNvSpPr>
          <p:nvPr>
            <p:ph type="title"/>
          </p:nvPr>
        </p:nvSpPr>
        <p:spPr/>
        <p:txBody>
          <a:bodyPr/>
          <a:lstStyle/>
          <a:p>
            <a:r>
              <a:rPr lang="en-IN"/>
              <a:t>Order Visibility – Our Approach</a:t>
            </a:r>
          </a:p>
        </p:txBody>
      </p:sp>
    </p:spTree>
    <p:extLst>
      <p:ext uri="{BB962C8B-B14F-4D97-AF65-F5344CB8AC3E}">
        <p14:creationId xmlns:p14="http://schemas.microsoft.com/office/powerpoint/2010/main" val="4260094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0DBA2-CA81-D924-AA6C-6EDBAFFA267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AD4FC5A-614B-9FA6-6678-1E32C2134AF5}"/>
              </a:ext>
            </a:extLst>
          </p:cNvPr>
          <p:cNvSpPr>
            <a:spLocks noGrp="1"/>
          </p:cNvSpPr>
          <p:nvPr>
            <p:ph type="body" sz="quarter" idx="14"/>
          </p:nvPr>
        </p:nvSpPr>
        <p:spPr>
          <a:xfrm>
            <a:off x="467828" y="513293"/>
            <a:ext cx="2591006" cy="272659"/>
          </a:xfrm>
        </p:spPr>
        <p:txBody>
          <a:bodyPr/>
          <a:lstStyle/>
          <a:p>
            <a:r>
              <a:rPr lang="en-US">
                <a:latin typeface="Century Gothic"/>
              </a:rPr>
              <a:t>Supply Chain Assistant</a:t>
            </a:r>
          </a:p>
        </p:txBody>
      </p:sp>
      <p:sp>
        <p:nvSpPr>
          <p:cNvPr id="4" name="Title 3">
            <a:extLst>
              <a:ext uri="{FF2B5EF4-FFF2-40B4-BE49-F238E27FC236}">
                <a16:creationId xmlns:a16="http://schemas.microsoft.com/office/drawing/2014/main" id="{9C11878D-F867-4E96-A158-9A7020087119}"/>
              </a:ext>
            </a:extLst>
          </p:cNvPr>
          <p:cNvSpPr>
            <a:spLocks noGrp="1"/>
          </p:cNvSpPr>
          <p:nvPr>
            <p:ph type="ctrTitle"/>
          </p:nvPr>
        </p:nvSpPr>
        <p:spPr>
          <a:xfrm>
            <a:off x="467827" y="1042740"/>
            <a:ext cx="10703756" cy="453595"/>
          </a:xfrm>
        </p:spPr>
        <p:txBody>
          <a:bodyPr/>
          <a:lstStyle/>
          <a:p>
            <a:r>
              <a:rPr lang="en-US">
                <a:latin typeface="+mn-lt"/>
              </a:rPr>
              <a:t>Architecture – 1 – Reutilization of Existing Infra/ Genie Capability</a:t>
            </a:r>
            <a:endParaRPr lang="en-US"/>
          </a:p>
        </p:txBody>
      </p:sp>
      <p:sp>
        <p:nvSpPr>
          <p:cNvPr id="3" name="TextBox 2">
            <a:extLst>
              <a:ext uri="{FF2B5EF4-FFF2-40B4-BE49-F238E27FC236}">
                <a16:creationId xmlns:a16="http://schemas.microsoft.com/office/drawing/2014/main" id="{DE8FA297-5D2F-7172-6070-90217FBC9722}"/>
              </a:ext>
            </a:extLst>
          </p:cNvPr>
          <p:cNvSpPr txBox="1"/>
          <p:nvPr/>
        </p:nvSpPr>
        <p:spPr>
          <a:xfrm>
            <a:off x="7973568" y="2670172"/>
            <a:ext cx="3806006"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a:p>
          <a:p>
            <a:pPr marL="285750" indent="-285750">
              <a:buFont typeface="Arial" panose="020B0604020202020204" pitchFamily="34" charset="0"/>
              <a:buChar char="•"/>
            </a:pPr>
            <a:endParaRPr lang="en-US" sz="1200"/>
          </a:p>
          <a:p>
            <a:pPr marL="285750" indent="-285750">
              <a:buFont typeface="Arial" panose="020B0604020202020204" pitchFamily="34" charset="0"/>
              <a:buChar char="•"/>
            </a:pPr>
            <a:r>
              <a:rPr lang="en-US" sz="1200"/>
              <a:t>Re-utilized Existing Architecture for Genie Space, </a:t>
            </a:r>
            <a:r>
              <a:rPr lang="en-US" sz="1200" err="1"/>
              <a:t>databricks</a:t>
            </a:r>
            <a:r>
              <a:rPr lang="en-US" sz="1200"/>
              <a:t> connectors, Request and response </a:t>
            </a:r>
            <a:r>
              <a:rPr lang="en-US" sz="1200" err="1"/>
              <a:t>api</a:t>
            </a:r>
            <a:r>
              <a:rPr lang="en-US" sz="1200"/>
              <a:t>, intent parser</a:t>
            </a:r>
          </a:p>
          <a:p>
            <a:pPr marL="285750" indent="-285750">
              <a:buFont typeface="Arial" panose="020B0604020202020204" pitchFamily="34" charset="0"/>
              <a:buChar char="•"/>
            </a:pPr>
            <a:r>
              <a:rPr lang="en-US" sz="1200"/>
              <a:t>As the issue was the business logic, so the logic SQL layer will be improved</a:t>
            </a:r>
          </a:p>
          <a:p>
            <a:pPr marL="285750" indent="-285750">
              <a:buFont typeface="Arial" panose="020B0604020202020204" pitchFamily="34" charset="0"/>
              <a:buChar char="•"/>
            </a:pPr>
            <a:r>
              <a:rPr lang="en-US" sz="1200"/>
              <a:t>Rather than silver layer which is a </a:t>
            </a:r>
            <a:r>
              <a:rPr lang="en-US" sz="1200" err="1"/>
              <a:t>modiefied</a:t>
            </a:r>
            <a:r>
              <a:rPr lang="en-US" sz="1200"/>
              <a:t> </a:t>
            </a:r>
            <a:r>
              <a:rPr lang="en-US" sz="1200" err="1"/>
              <a:t>datamart</a:t>
            </a:r>
            <a:r>
              <a:rPr lang="en-US" sz="1200"/>
              <a:t>, exact sap data from bronze layer will be used as a source of truth</a:t>
            </a:r>
          </a:p>
          <a:p>
            <a:pPr marL="285750" indent="-285750">
              <a:buFont typeface="Arial" panose="020B0604020202020204" pitchFamily="34" charset="0"/>
              <a:buChar char="•"/>
            </a:pPr>
            <a:r>
              <a:rPr lang="en-US" sz="1200"/>
              <a:t>Improve the Ground Truth layer</a:t>
            </a:r>
          </a:p>
          <a:p>
            <a:pPr marL="285750" indent="-285750">
              <a:buFont typeface="Arial" panose="020B0604020202020204" pitchFamily="34" charset="0"/>
              <a:buChar char="•"/>
            </a:pPr>
            <a:r>
              <a:rPr lang="en-US" sz="1200"/>
              <a:t>Create new agent on genie with source truth as bronze layer and update the logics</a:t>
            </a:r>
          </a:p>
          <a:p>
            <a:endParaRPr lang="en-US" sz="1200"/>
          </a:p>
        </p:txBody>
      </p:sp>
      <p:pic>
        <p:nvPicPr>
          <p:cNvPr id="7" name="Picture 6">
            <a:extLst>
              <a:ext uri="{FF2B5EF4-FFF2-40B4-BE49-F238E27FC236}">
                <a16:creationId xmlns:a16="http://schemas.microsoft.com/office/drawing/2014/main" id="{A9D997A1-AF46-D183-311E-5639CD18EF03}"/>
              </a:ext>
            </a:extLst>
          </p:cNvPr>
          <p:cNvPicPr>
            <a:picLocks noChangeAspect="1"/>
          </p:cNvPicPr>
          <p:nvPr/>
        </p:nvPicPr>
        <p:blipFill>
          <a:blip r:embed="rId2"/>
          <a:stretch>
            <a:fillRect/>
          </a:stretch>
        </p:blipFill>
        <p:spPr>
          <a:xfrm>
            <a:off x="164484" y="2235522"/>
            <a:ext cx="7809084" cy="3790374"/>
          </a:xfrm>
          <a:prstGeom prst="rect">
            <a:avLst/>
          </a:prstGeom>
        </p:spPr>
      </p:pic>
    </p:spTree>
    <p:extLst>
      <p:ext uri="{BB962C8B-B14F-4D97-AF65-F5344CB8AC3E}">
        <p14:creationId xmlns:p14="http://schemas.microsoft.com/office/powerpoint/2010/main" val="460287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74320" y="137160"/>
            <a:ext cx="11612880" cy="320040"/>
          </a:xfrm>
          <a:prstGeom prst="rect">
            <a:avLst/>
          </a:prstGeom>
          <a:noFill/>
          <a:ln/>
        </p:spPr>
        <p:txBody>
          <a:bodyPr wrap="square" lIns="0" tIns="0" rIns="0" bIns="0" rtlCol="0" anchor="ctr"/>
          <a:lstStyle/>
          <a:p>
            <a:r>
              <a:rPr lang="en-US" sz="1800" b="1">
                <a:solidFill>
                  <a:srgbClr val="1F3864"/>
                </a:solidFill>
              </a:rPr>
              <a:t>Architecture 2 - </a:t>
            </a:r>
            <a:r>
              <a:rPr lang="en-CA"/>
              <a:t>Building Semantic engineer from Scratch</a:t>
            </a:r>
            <a:r>
              <a:rPr lang="en-US" sz="1800" b="1">
                <a:solidFill>
                  <a:srgbClr val="1F3864"/>
                </a:solidFill>
              </a:rPr>
              <a:t> </a:t>
            </a:r>
            <a:endParaRPr lang="en-US" sz="1800"/>
          </a:p>
        </p:txBody>
      </p:sp>
      <p:sp>
        <p:nvSpPr>
          <p:cNvPr id="4" name="Text 2"/>
          <p:cNvSpPr/>
          <p:nvPr/>
        </p:nvSpPr>
        <p:spPr>
          <a:xfrm>
            <a:off x="45720" y="1572768"/>
            <a:ext cx="502920" cy="457200"/>
          </a:xfrm>
          <a:prstGeom prst="rect">
            <a:avLst/>
          </a:prstGeom>
          <a:noFill/>
          <a:ln/>
        </p:spPr>
        <p:txBody>
          <a:bodyPr wrap="square" lIns="0" tIns="0" rIns="0" bIns="0" rtlCol="0" anchor="ctr"/>
          <a:lstStyle/>
          <a:p>
            <a:pPr marL="0" indent="0" algn="ctr">
              <a:buNone/>
            </a:pPr>
            <a:r>
              <a:rPr lang="en-US" sz="700" b="1">
                <a:solidFill>
                  <a:srgbClr val="6B6B6B"/>
                </a:solidFill>
              </a:rPr>
              <a:t>AGENT CORE</a:t>
            </a:r>
            <a:endParaRPr lang="en-US" sz="700"/>
          </a:p>
        </p:txBody>
      </p:sp>
      <p:sp>
        <p:nvSpPr>
          <p:cNvPr id="5" name="Text 3"/>
          <p:cNvSpPr/>
          <p:nvPr/>
        </p:nvSpPr>
        <p:spPr>
          <a:xfrm>
            <a:off x="45720" y="3108960"/>
            <a:ext cx="502920" cy="457200"/>
          </a:xfrm>
          <a:prstGeom prst="rect">
            <a:avLst/>
          </a:prstGeom>
          <a:noFill/>
          <a:ln/>
        </p:spPr>
        <p:txBody>
          <a:bodyPr wrap="square" lIns="0" tIns="0" rIns="0" bIns="0" rtlCol="0" anchor="ctr"/>
          <a:lstStyle/>
          <a:p>
            <a:pPr marL="0" indent="0" algn="ctr">
              <a:buNone/>
            </a:pPr>
            <a:r>
              <a:rPr lang="en-US" sz="700" b="1">
                <a:solidFill>
                  <a:srgbClr val="6B6B6B"/>
                </a:solidFill>
              </a:rPr>
              <a:t>DATA SOURCES</a:t>
            </a:r>
            <a:endParaRPr lang="en-US" sz="700"/>
          </a:p>
        </p:txBody>
      </p:sp>
      <p:sp>
        <p:nvSpPr>
          <p:cNvPr id="6" name="Text 4"/>
          <p:cNvSpPr/>
          <p:nvPr/>
        </p:nvSpPr>
        <p:spPr>
          <a:xfrm>
            <a:off x="45720" y="4297680"/>
            <a:ext cx="502920" cy="457200"/>
          </a:xfrm>
          <a:prstGeom prst="rect">
            <a:avLst/>
          </a:prstGeom>
          <a:noFill/>
          <a:ln/>
        </p:spPr>
        <p:txBody>
          <a:bodyPr wrap="square" lIns="0" tIns="0" rIns="0" bIns="0" rtlCol="0" anchor="ctr"/>
          <a:lstStyle/>
          <a:p>
            <a:pPr marL="0" indent="0" algn="ctr">
              <a:buNone/>
            </a:pPr>
            <a:r>
              <a:rPr lang="en-US" sz="700" b="1">
                <a:solidFill>
                  <a:srgbClr val="6B6B6B"/>
                </a:solidFill>
              </a:rPr>
              <a:t>AZURE SERVICES</a:t>
            </a:r>
            <a:endParaRPr lang="en-US" sz="700"/>
          </a:p>
        </p:txBody>
      </p:sp>
      <p:sp>
        <p:nvSpPr>
          <p:cNvPr id="7" name="Text 5"/>
          <p:cNvSpPr/>
          <p:nvPr/>
        </p:nvSpPr>
        <p:spPr>
          <a:xfrm>
            <a:off x="45720" y="5349240"/>
            <a:ext cx="502920" cy="457200"/>
          </a:xfrm>
          <a:prstGeom prst="rect">
            <a:avLst/>
          </a:prstGeom>
          <a:noFill/>
          <a:ln/>
        </p:spPr>
        <p:txBody>
          <a:bodyPr wrap="square" lIns="0" tIns="0" rIns="0" bIns="0" rtlCol="0" anchor="ctr"/>
          <a:lstStyle/>
          <a:p>
            <a:pPr marL="0" indent="0" algn="ctr">
              <a:buNone/>
            </a:pPr>
            <a:r>
              <a:rPr lang="en-US" sz="700" b="1">
                <a:solidFill>
                  <a:srgbClr val="6B6B6B"/>
                </a:solidFill>
              </a:rPr>
              <a:t>SECURITY</a:t>
            </a:r>
            <a:endParaRPr lang="en-US" sz="700"/>
          </a:p>
        </p:txBody>
      </p:sp>
      <p:sp>
        <p:nvSpPr>
          <p:cNvPr id="14" name="Shape 12"/>
          <p:cNvSpPr/>
          <p:nvPr/>
        </p:nvSpPr>
        <p:spPr>
          <a:xfrm>
            <a:off x="3672048" y="530352"/>
            <a:ext cx="2103120" cy="658368"/>
          </a:xfrm>
          <a:prstGeom prst="roundRect">
            <a:avLst>
              <a:gd name="adj" fmla="val 11111"/>
            </a:avLst>
          </a:prstGeom>
          <a:solidFill>
            <a:srgbClr val="D6E4F0"/>
          </a:solidFill>
          <a:ln w="6350">
            <a:solidFill>
              <a:srgbClr val="2E75B6"/>
            </a:solidFill>
            <a:prstDash val="solid"/>
          </a:ln>
        </p:spPr>
        <p:txBody>
          <a:bodyPr/>
          <a:lstStyle/>
          <a:p>
            <a:endParaRPr lang="en-US"/>
          </a:p>
        </p:txBody>
      </p:sp>
      <p:sp>
        <p:nvSpPr>
          <p:cNvPr id="15" name="Text 13"/>
          <p:cNvSpPr/>
          <p:nvPr/>
        </p:nvSpPr>
        <p:spPr>
          <a:xfrm>
            <a:off x="3717768" y="566928"/>
            <a:ext cx="2011680" cy="219456"/>
          </a:xfrm>
          <a:prstGeom prst="rect">
            <a:avLst/>
          </a:prstGeom>
          <a:noFill/>
          <a:ln/>
        </p:spPr>
        <p:txBody>
          <a:bodyPr wrap="square" lIns="0" tIns="0" rIns="0" bIns="0" rtlCol="0" anchor="ctr"/>
          <a:lstStyle/>
          <a:p>
            <a:pPr marL="0" indent="0" algn="ctr">
              <a:buNone/>
            </a:pPr>
            <a:r>
              <a:rPr lang="en-US" sz="1100" b="1">
                <a:solidFill>
                  <a:srgbClr val="2E75B6"/>
                </a:solidFill>
              </a:rPr>
              <a:t>Web app- Phase 1</a:t>
            </a:r>
            <a:endParaRPr lang="en-US" sz="1100"/>
          </a:p>
        </p:txBody>
      </p:sp>
      <p:sp>
        <p:nvSpPr>
          <p:cNvPr id="16" name="Text 14"/>
          <p:cNvSpPr/>
          <p:nvPr/>
        </p:nvSpPr>
        <p:spPr>
          <a:xfrm>
            <a:off x="3717768" y="932688"/>
            <a:ext cx="2011680" cy="201168"/>
          </a:xfrm>
          <a:prstGeom prst="rect">
            <a:avLst/>
          </a:prstGeom>
          <a:noFill/>
          <a:ln/>
        </p:spPr>
        <p:txBody>
          <a:bodyPr wrap="square" lIns="0" tIns="0" rIns="0" bIns="0" rtlCol="0" anchor="ctr"/>
          <a:lstStyle/>
          <a:p>
            <a:pPr marL="0" indent="0" algn="ctr">
              <a:buNone/>
            </a:pPr>
            <a:r>
              <a:rPr lang="en-US" sz="900">
                <a:solidFill>
                  <a:srgbClr val="6B6B6B"/>
                </a:solidFill>
              </a:rPr>
              <a:t>Next.js SSR / React</a:t>
            </a:r>
            <a:endParaRPr lang="en-US" sz="900"/>
          </a:p>
        </p:txBody>
      </p:sp>
      <p:sp>
        <p:nvSpPr>
          <p:cNvPr id="17" name="Shape 15"/>
          <p:cNvSpPr/>
          <p:nvPr/>
        </p:nvSpPr>
        <p:spPr>
          <a:xfrm>
            <a:off x="5958048" y="530352"/>
            <a:ext cx="2103120" cy="658368"/>
          </a:xfrm>
          <a:prstGeom prst="roundRect">
            <a:avLst>
              <a:gd name="adj" fmla="val 11111"/>
            </a:avLst>
          </a:prstGeom>
          <a:solidFill>
            <a:srgbClr val="F1EFE8"/>
          </a:solidFill>
          <a:ln w="6350">
            <a:solidFill>
              <a:srgbClr val="5F5E5A"/>
            </a:solidFill>
            <a:prstDash val="solid"/>
          </a:ln>
        </p:spPr>
        <p:txBody>
          <a:bodyPr/>
          <a:lstStyle/>
          <a:p>
            <a:endParaRPr lang="en-US"/>
          </a:p>
        </p:txBody>
      </p:sp>
      <p:sp>
        <p:nvSpPr>
          <p:cNvPr id="18" name="Text 16"/>
          <p:cNvSpPr/>
          <p:nvPr/>
        </p:nvSpPr>
        <p:spPr>
          <a:xfrm>
            <a:off x="6003768" y="566928"/>
            <a:ext cx="2011680" cy="219456"/>
          </a:xfrm>
          <a:prstGeom prst="rect">
            <a:avLst/>
          </a:prstGeom>
          <a:noFill/>
          <a:ln/>
        </p:spPr>
        <p:txBody>
          <a:bodyPr wrap="square" lIns="0" tIns="0" rIns="0" bIns="0" rtlCol="0" anchor="ctr"/>
          <a:lstStyle/>
          <a:p>
            <a:pPr marL="0" indent="0" algn="ctr">
              <a:buNone/>
            </a:pPr>
            <a:r>
              <a:rPr lang="en-US" sz="1100" b="1">
                <a:solidFill>
                  <a:srgbClr val="5F5E5A"/>
                </a:solidFill>
              </a:rPr>
              <a:t>Azure APIM</a:t>
            </a:r>
            <a:endParaRPr lang="en-US" sz="1100"/>
          </a:p>
        </p:txBody>
      </p:sp>
      <p:sp>
        <p:nvSpPr>
          <p:cNvPr id="19" name="Text 17"/>
          <p:cNvSpPr/>
          <p:nvPr/>
        </p:nvSpPr>
        <p:spPr>
          <a:xfrm>
            <a:off x="6003768" y="932688"/>
            <a:ext cx="2011680" cy="201168"/>
          </a:xfrm>
          <a:prstGeom prst="rect">
            <a:avLst/>
          </a:prstGeom>
          <a:noFill/>
          <a:ln/>
        </p:spPr>
        <p:txBody>
          <a:bodyPr wrap="square" lIns="0" tIns="0" rIns="0" bIns="0" rtlCol="0" anchor="ctr"/>
          <a:lstStyle/>
          <a:p>
            <a:pPr marL="0" indent="0" algn="ctr">
              <a:buNone/>
            </a:pPr>
            <a:r>
              <a:rPr lang="en-US" sz="900">
                <a:solidFill>
                  <a:srgbClr val="6B6B6B"/>
                </a:solidFill>
              </a:rPr>
              <a:t>Gateway + auth</a:t>
            </a:r>
            <a:endParaRPr lang="en-US" sz="900"/>
          </a:p>
        </p:txBody>
      </p:sp>
      <p:sp>
        <p:nvSpPr>
          <p:cNvPr id="22" name="Shape 20"/>
          <p:cNvSpPr/>
          <p:nvPr/>
        </p:nvSpPr>
        <p:spPr>
          <a:xfrm>
            <a:off x="4723608" y="1188720"/>
            <a:ext cx="0" cy="310896"/>
          </a:xfrm>
          <a:prstGeom prst="line">
            <a:avLst/>
          </a:prstGeom>
          <a:noFill/>
          <a:ln w="12700">
            <a:solidFill>
              <a:srgbClr val="2E75B6"/>
            </a:solidFill>
            <a:prstDash val="solid"/>
            <a:tailEnd type="arrow"/>
          </a:ln>
        </p:spPr>
        <p:txBody>
          <a:bodyPr/>
          <a:lstStyle/>
          <a:p>
            <a:endParaRPr lang="en-US"/>
          </a:p>
        </p:txBody>
      </p:sp>
      <p:sp>
        <p:nvSpPr>
          <p:cNvPr id="23" name="Shape 21"/>
          <p:cNvSpPr/>
          <p:nvPr/>
        </p:nvSpPr>
        <p:spPr>
          <a:xfrm>
            <a:off x="566927" y="1499616"/>
            <a:ext cx="10893549" cy="1453896"/>
          </a:xfrm>
          <a:prstGeom prst="rect">
            <a:avLst/>
          </a:prstGeom>
          <a:solidFill>
            <a:srgbClr val="FFFFFF">
              <a:alpha val="0"/>
            </a:srgbClr>
          </a:solidFill>
          <a:ln w="6350">
            <a:solidFill>
              <a:srgbClr val="2E75B6"/>
            </a:solidFill>
            <a:prstDash val="dash"/>
          </a:ln>
        </p:spPr>
        <p:txBody>
          <a:bodyPr/>
          <a:lstStyle/>
          <a:p>
            <a:endParaRPr lang="en-US"/>
          </a:p>
        </p:txBody>
      </p:sp>
      <p:sp>
        <p:nvSpPr>
          <p:cNvPr id="24" name="Text 22"/>
          <p:cNvSpPr/>
          <p:nvPr/>
        </p:nvSpPr>
        <p:spPr>
          <a:xfrm>
            <a:off x="685800" y="1522476"/>
            <a:ext cx="8961120" cy="182880"/>
          </a:xfrm>
          <a:prstGeom prst="rect">
            <a:avLst/>
          </a:prstGeom>
          <a:noFill/>
          <a:ln/>
        </p:spPr>
        <p:txBody>
          <a:bodyPr wrap="square" lIns="0" tIns="0" rIns="0" bIns="0" rtlCol="0" anchor="ctr"/>
          <a:lstStyle/>
          <a:p>
            <a:pPr marL="0" indent="0">
              <a:buNone/>
            </a:pPr>
            <a:r>
              <a:rPr lang="en-US" sz="800" i="1">
                <a:solidFill>
                  <a:srgbClr val="6B6B6B"/>
                </a:solidFill>
              </a:rPr>
              <a:t>LangGraph agent — Azure Container Apps</a:t>
            </a:r>
            <a:endParaRPr lang="en-US" sz="800"/>
          </a:p>
        </p:txBody>
      </p:sp>
      <p:sp>
        <p:nvSpPr>
          <p:cNvPr id="25" name="Shape 23"/>
          <p:cNvSpPr/>
          <p:nvPr/>
        </p:nvSpPr>
        <p:spPr>
          <a:xfrm>
            <a:off x="685800" y="1691640"/>
            <a:ext cx="1920240" cy="658368"/>
          </a:xfrm>
          <a:prstGeom prst="roundRect">
            <a:avLst>
              <a:gd name="adj" fmla="val 11111"/>
            </a:avLst>
          </a:prstGeom>
          <a:solidFill>
            <a:srgbClr val="EEEDFE"/>
          </a:solidFill>
          <a:ln w="6350">
            <a:solidFill>
              <a:srgbClr val="534AB7"/>
            </a:solidFill>
            <a:prstDash val="solid"/>
          </a:ln>
        </p:spPr>
        <p:txBody>
          <a:bodyPr/>
          <a:lstStyle/>
          <a:p>
            <a:endParaRPr lang="en-US"/>
          </a:p>
        </p:txBody>
      </p:sp>
      <p:sp>
        <p:nvSpPr>
          <p:cNvPr id="26" name="Text 24"/>
          <p:cNvSpPr/>
          <p:nvPr/>
        </p:nvSpPr>
        <p:spPr>
          <a:xfrm>
            <a:off x="731520" y="1728216"/>
            <a:ext cx="1828800" cy="219456"/>
          </a:xfrm>
          <a:prstGeom prst="rect">
            <a:avLst/>
          </a:prstGeom>
          <a:noFill/>
          <a:ln/>
        </p:spPr>
        <p:txBody>
          <a:bodyPr wrap="square" lIns="0" tIns="0" rIns="0" bIns="0" rtlCol="0" anchor="ctr"/>
          <a:lstStyle/>
          <a:p>
            <a:pPr marL="0" indent="0" algn="ctr">
              <a:buNone/>
            </a:pPr>
            <a:r>
              <a:rPr lang="en-US" sz="1100" b="1">
                <a:solidFill>
                  <a:srgbClr val="534AB7"/>
                </a:solidFill>
              </a:rPr>
              <a:t>Intent classifier</a:t>
            </a:r>
            <a:endParaRPr lang="en-US" sz="1100"/>
          </a:p>
        </p:txBody>
      </p:sp>
      <p:sp>
        <p:nvSpPr>
          <p:cNvPr id="27" name="Text 25"/>
          <p:cNvSpPr/>
          <p:nvPr/>
        </p:nvSpPr>
        <p:spPr>
          <a:xfrm>
            <a:off x="731520" y="2093976"/>
            <a:ext cx="1828800" cy="201168"/>
          </a:xfrm>
          <a:prstGeom prst="rect">
            <a:avLst/>
          </a:prstGeom>
          <a:noFill/>
          <a:ln/>
        </p:spPr>
        <p:txBody>
          <a:bodyPr wrap="square" lIns="0" tIns="0" rIns="0" bIns="0" rtlCol="0" anchor="ctr"/>
          <a:lstStyle/>
          <a:p>
            <a:pPr marL="0" indent="0" algn="ctr">
              <a:buNone/>
            </a:pPr>
            <a:r>
              <a:rPr lang="en-US" sz="900">
                <a:solidFill>
                  <a:srgbClr val="6B6B6B"/>
                </a:solidFill>
              </a:rPr>
              <a:t>GPT-4o query type</a:t>
            </a:r>
            <a:endParaRPr lang="en-US" sz="900"/>
          </a:p>
        </p:txBody>
      </p:sp>
      <p:sp>
        <p:nvSpPr>
          <p:cNvPr id="28" name="Shape 26"/>
          <p:cNvSpPr/>
          <p:nvPr/>
        </p:nvSpPr>
        <p:spPr>
          <a:xfrm>
            <a:off x="2749238" y="1682496"/>
            <a:ext cx="1920240" cy="658368"/>
          </a:xfrm>
          <a:prstGeom prst="roundRect">
            <a:avLst>
              <a:gd name="adj" fmla="val 11111"/>
            </a:avLst>
          </a:prstGeom>
          <a:solidFill>
            <a:srgbClr val="FAEEDA"/>
          </a:solidFill>
          <a:ln w="6350">
            <a:solidFill>
              <a:srgbClr val="854F0B"/>
            </a:solidFill>
            <a:prstDash val="solid"/>
          </a:ln>
        </p:spPr>
        <p:txBody>
          <a:bodyPr/>
          <a:lstStyle/>
          <a:p>
            <a:endParaRPr lang="en-US"/>
          </a:p>
        </p:txBody>
      </p:sp>
      <p:sp>
        <p:nvSpPr>
          <p:cNvPr id="29" name="Text 27"/>
          <p:cNvSpPr/>
          <p:nvPr/>
        </p:nvSpPr>
        <p:spPr>
          <a:xfrm>
            <a:off x="2788920" y="1728216"/>
            <a:ext cx="1828800" cy="219456"/>
          </a:xfrm>
          <a:prstGeom prst="rect">
            <a:avLst/>
          </a:prstGeom>
          <a:noFill/>
          <a:ln/>
        </p:spPr>
        <p:txBody>
          <a:bodyPr wrap="square" lIns="0" tIns="0" rIns="0" bIns="0" rtlCol="0" anchor="ctr"/>
          <a:lstStyle/>
          <a:p>
            <a:pPr marL="0" indent="0" algn="ctr">
              <a:buNone/>
            </a:pPr>
            <a:r>
              <a:rPr lang="en-US" sz="1100" b="1">
                <a:solidFill>
                  <a:srgbClr val="854F0B"/>
                </a:solidFill>
              </a:rPr>
              <a:t>Data router</a:t>
            </a:r>
            <a:endParaRPr lang="en-US" sz="1100"/>
          </a:p>
        </p:txBody>
      </p:sp>
      <p:sp>
        <p:nvSpPr>
          <p:cNvPr id="30" name="Text 28"/>
          <p:cNvSpPr/>
          <p:nvPr/>
        </p:nvSpPr>
        <p:spPr>
          <a:xfrm>
            <a:off x="2788920" y="2093976"/>
            <a:ext cx="1828800" cy="201168"/>
          </a:xfrm>
          <a:prstGeom prst="rect">
            <a:avLst/>
          </a:prstGeom>
          <a:noFill/>
          <a:ln/>
        </p:spPr>
        <p:txBody>
          <a:bodyPr wrap="square" lIns="0" tIns="0" rIns="0" bIns="0" rtlCol="0" anchor="ctr"/>
          <a:lstStyle/>
          <a:p>
            <a:pPr marL="0" indent="0" algn="ctr">
              <a:buNone/>
            </a:pPr>
            <a:r>
              <a:rPr lang="en-US" sz="900">
                <a:solidFill>
                  <a:srgbClr val="6B6B6B"/>
                </a:solidFill>
              </a:rPr>
              <a:t>EDP vs SAP vs both</a:t>
            </a:r>
            <a:endParaRPr lang="en-US" sz="900"/>
          </a:p>
        </p:txBody>
      </p:sp>
      <p:sp>
        <p:nvSpPr>
          <p:cNvPr id="31" name="Shape 29"/>
          <p:cNvSpPr/>
          <p:nvPr/>
        </p:nvSpPr>
        <p:spPr>
          <a:xfrm>
            <a:off x="4800600" y="1691640"/>
            <a:ext cx="1920240" cy="658368"/>
          </a:xfrm>
          <a:prstGeom prst="roundRect">
            <a:avLst>
              <a:gd name="adj" fmla="val 11111"/>
            </a:avLst>
          </a:prstGeom>
          <a:solidFill>
            <a:srgbClr val="D6E4F0"/>
          </a:solidFill>
          <a:ln w="6350">
            <a:solidFill>
              <a:srgbClr val="2E75B6"/>
            </a:solidFill>
            <a:prstDash val="solid"/>
          </a:ln>
        </p:spPr>
        <p:txBody>
          <a:bodyPr/>
          <a:lstStyle/>
          <a:p>
            <a:endParaRPr lang="en-US"/>
          </a:p>
        </p:txBody>
      </p:sp>
      <p:sp>
        <p:nvSpPr>
          <p:cNvPr id="32" name="Text 30"/>
          <p:cNvSpPr/>
          <p:nvPr/>
        </p:nvSpPr>
        <p:spPr>
          <a:xfrm>
            <a:off x="4846320" y="1728216"/>
            <a:ext cx="1828800" cy="219456"/>
          </a:xfrm>
          <a:prstGeom prst="rect">
            <a:avLst/>
          </a:prstGeom>
          <a:noFill/>
          <a:ln/>
        </p:spPr>
        <p:txBody>
          <a:bodyPr wrap="square" lIns="0" tIns="0" rIns="0" bIns="0" rtlCol="0" anchor="ctr"/>
          <a:lstStyle/>
          <a:p>
            <a:pPr marL="0" indent="0" algn="ctr">
              <a:buNone/>
            </a:pPr>
            <a:r>
              <a:rPr lang="en-US" sz="1100" b="1">
                <a:solidFill>
                  <a:srgbClr val="2E75B6"/>
                </a:solidFill>
              </a:rPr>
              <a:t>Query generator</a:t>
            </a:r>
            <a:endParaRPr lang="en-US" sz="1100"/>
          </a:p>
        </p:txBody>
      </p:sp>
      <p:sp>
        <p:nvSpPr>
          <p:cNvPr id="33" name="Text 31"/>
          <p:cNvSpPr/>
          <p:nvPr/>
        </p:nvSpPr>
        <p:spPr>
          <a:xfrm>
            <a:off x="4846320" y="2093976"/>
            <a:ext cx="1828800" cy="201168"/>
          </a:xfrm>
          <a:prstGeom prst="rect">
            <a:avLst/>
          </a:prstGeom>
          <a:noFill/>
          <a:ln/>
        </p:spPr>
        <p:txBody>
          <a:bodyPr wrap="square" lIns="0" tIns="0" rIns="0" bIns="0" rtlCol="0" anchor="ctr"/>
          <a:lstStyle/>
          <a:p>
            <a:pPr marL="0" indent="0" algn="ctr">
              <a:buNone/>
            </a:pPr>
            <a:r>
              <a:rPr lang="en-US" sz="900">
                <a:solidFill>
                  <a:srgbClr val="6B6B6B"/>
                </a:solidFill>
              </a:rPr>
              <a:t>Schema/MDL + LLM Model + Verified Query + Logics→ Query generated</a:t>
            </a:r>
            <a:endParaRPr lang="en-US" sz="900"/>
          </a:p>
        </p:txBody>
      </p:sp>
      <p:sp>
        <p:nvSpPr>
          <p:cNvPr id="34" name="Shape 32"/>
          <p:cNvSpPr/>
          <p:nvPr/>
        </p:nvSpPr>
        <p:spPr>
          <a:xfrm>
            <a:off x="6858000" y="1691640"/>
            <a:ext cx="1920240" cy="658368"/>
          </a:xfrm>
          <a:prstGeom prst="roundRect">
            <a:avLst>
              <a:gd name="adj" fmla="val 11111"/>
            </a:avLst>
          </a:prstGeom>
          <a:solidFill>
            <a:srgbClr val="FAECE7"/>
          </a:solidFill>
          <a:ln w="6350">
            <a:solidFill>
              <a:srgbClr val="993C1D"/>
            </a:solidFill>
            <a:prstDash val="solid"/>
          </a:ln>
        </p:spPr>
        <p:txBody>
          <a:bodyPr/>
          <a:lstStyle/>
          <a:p>
            <a:endParaRPr lang="en-US"/>
          </a:p>
        </p:txBody>
      </p:sp>
      <p:sp>
        <p:nvSpPr>
          <p:cNvPr id="35" name="Text 33"/>
          <p:cNvSpPr/>
          <p:nvPr/>
        </p:nvSpPr>
        <p:spPr>
          <a:xfrm>
            <a:off x="6903720" y="1728216"/>
            <a:ext cx="1828800" cy="219456"/>
          </a:xfrm>
          <a:prstGeom prst="rect">
            <a:avLst/>
          </a:prstGeom>
          <a:noFill/>
          <a:ln/>
        </p:spPr>
        <p:txBody>
          <a:bodyPr wrap="square" lIns="0" tIns="0" rIns="0" bIns="0" rtlCol="0" anchor="ctr"/>
          <a:lstStyle/>
          <a:p>
            <a:pPr marL="0" indent="0" algn="ctr">
              <a:buNone/>
            </a:pPr>
            <a:r>
              <a:rPr lang="en-US" sz="1100"/>
              <a:t>Query Validator</a:t>
            </a:r>
          </a:p>
        </p:txBody>
      </p:sp>
      <p:sp>
        <p:nvSpPr>
          <p:cNvPr id="36" name="Text 34"/>
          <p:cNvSpPr/>
          <p:nvPr/>
        </p:nvSpPr>
        <p:spPr>
          <a:xfrm>
            <a:off x="6903720" y="2093976"/>
            <a:ext cx="1828800" cy="201168"/>
          </a:xfrm>
          <a:prstGeom prst="rect">
            <a:avLst/>
          </a:prstGeom>
          <a:noFill/>
          <a:ln/>
        </p:spPr>
        <p:txBody>
          <a:bodyPr wrap="square" lIns="0" tIns="0" rIns="0" bIns="0" rtlCol="0" anchor="ctr"/>
          <a:lstStyle/>
          <a:p>
            <a:pPr marL="0" indent="0" algn="ctr">
              <a:buNone/>
            </a:pPr>
            <a:r>
              <a:rPr lang="en-US" sz="900">
                <a:solidFill>
                  <a:srgbClr val="6B6B6B"/>
                </a:solidFill>
              </a:rPr>
              <a:t>Validates the query generator by checking the proper format</a:t>
            </a:r>
            <a:endParaRPr lang="en-US" sz="900"/>
          </a:p>
        </p:txBody>
      </p:sp>
      <p:sp>
        <p:nvSpPr>
          <p:cNvPr id="37" name="Shape 35"/>
          <p:cNvSpPr/>
          <p:nvPr/>
        </p:nvSpPr>
        <p:spPr>
          <a:xfrm>
            <a:off x="8915400" y="1691640"/>
            <a:ext cx="1920240" cy="658368"/>
          </a:xfrm>
          <a:prstGeom prst="roundRect">
            <a:avLst>
              <a:gd name="adj" fmla="val 11111"/>
            </a:avLst>
          </a:prstGeom>
          <a:solidFill>
            <a:srgbClr val="EEEDFE"/>
          </a:solidFill>
          <a:ln w="6350">
            <a:solidFill>
              <a:srgbClr val="534AB7"/>
            </a:solidFill>
            <a:prstDash val="solid"/>
          </a:ln>
        </p:spPr>
        <p:txBody>
          <a:bodyPr/>
          <a:lstStyle/>
          <a:p>
            <a:endParaRPr lang="en-US"/>
          </a:p>
        </p:txBody>
      </p:sp>
      <p:sp>
        <p:nvSpPr>
          <p:cNvPr id="38" name="Text 36"/>
          <p:cNvSpPr/>
          <p:nvPr/>
        </p:nvSpPr>
        <p:spPr>
          <a:xfrm>
            <a:off x="8961120" y="1728216"/>
            <a:ext cx="1828800" cy="219456"/>
          </a:xfrm>
          <a:prstGeom prst="rect">
            <a:avLst/>
          </a:prstGeom>
          <a:noFill/>
          <a:ln/>
        </p:spPr>
        <p:txBody>
          <a:bodyPr wrap="square" lIns="0" tIns="0" rIns="0" bIns="0" rtlCol="0" anchor="ctr"/>
          <a:lstStyle/>
          <a:p>
            <a:pPr marL="0" indent="0" algn="ctr">
              <a:buNone/>
            </a:pPr>
            <a:r>
              <a:rPr lang="en-US" sz="1100" b="1">
                <a:solidFill>
                  <a:srgbClr val="534AB7"/>
                </a:solidFill>
              </a:rPr>
              <a:t>Response synth</a:t>
            </a:r>
            <a:endParaRPr lang="en-US" sz="1100"/>
          </a:p>
        </p:txBody>
      </p:sp>
      <p:sp>
        <p:nvSpPr>
          <p:cNvPr id="39" name="Text 37"/>
          <p:cNvSpPr/>
          <p:nvPr/>
        </p:nvSpPr>
        <p:spPr>
          <a:xfrm>
            <a:off x="8961120" y="2093976"/>
            <a:ext cx="1828800" cy="201168"/>
          </a:xfrm>
          <a:prstGeom prst="rect">
            <a:avLst/>
          </a:prstGeom>
          <a:noFill/>
          <a:ln/>
        </p:spPr>
        <p:txBody>
          <a:bodyPr wrap="square" lIns="0" tIns="0" rIns="0" bIns="0" rtlCol="0" anchor="ctr"/>
          <a:lstStyle/>
          <a:p>
            <a:pPr marL="0" indent="0" algn="ctr">
              <a:buNone/>
            </a:pPr>
            <a:r>
              <a:rPr lang="en-US" sz="900">
                <a:solidFill>
                  <a:srgbClr val="6B6B6B"/>
                </a:solidFill>
              </a:rPr>
              <a:t>LLM Model → NL answer</a:t>
            </a:r>
            <a:endParaRPr lang="en-US" sz="900"/>
          </a:p>
        </p:txBody>
      </p:sp>
      <p:sp>
        <p:nvSpPr>
          <p:cNvPr id="40" name="Shape 38"/>
          <p:cNvSpPr/>
          <p:nvPr/>
        </p:nvSpPr>
        <p:spPr>
          <a:xfrm>
            <a:off x="2606040" y="2020824"/>
            <a:ext cx="182880" cy="18288"/>
          </a:xfrm>
          <a:prstGeom prst="line">
            <a:avLst/>
          </a:prstGeom>
          <a:noFill/>
          <a:ln w="12700">
            <a:solidFill>
              <a:srgbClr val="5F5E5A"/>
            </a:solidFill>
            <a:prstDash val="solid"/>
            <a:tailEnd type="arrow"/>
          </a:ln>
        </p:spPr>
        <p:txBody>
          <a:bodyPr/>
          <a:lstStyle/>
          <a:p>
            <a:endParaRPr lang="en-US"/>
          </a:p>
        </p:txBody>
      </p:sp>
      <p:sp>
        <p:nvSpPr>
          <p:cNvPr id="41" name="Shape 39"/>
          <p:cNvSpPr/>
          <p:nvPr/>
        </p:nvSpPr>
        <p:spPr>
          <a:xfrm>
            <a:off x="4663440" y="2020824"/>
            <a:ext cx="182880" cy="0"/>
          </a:xfrm>
          <a:prstGeom prst="line">
            <a:avLst/>
          </a:prstGeom>
          <a:noFill/>
          <a:ln w="12700">
            <a:solidFill>
              <a:srgbClr val="5F5E5A"/>
            </a:solidFill>
            <a:prstDash val="solid"/>
            <a:tailEnd type="arrow"/>
          </a:ln>
        </p:spPr>
        <p:txBody>
          <a:bodyPr/>
          <a:lstStyle/>
          <a:p>
            <a:endParaRPr lang="en-US"/>
          </a:p>
        </p:txBody>
      </p:sp>
      <p:sp>
        <p:nvSpPr>
          <p:cNvPr id="42" name="Shape 40"/>
          <p:cNvSpPr/>
          <p:nvPr/>
        </p:nvSpPr>
        <p:spPr>
          <a:xfrm>
            <a:off x="6720840" y="2020824"/>
            <a:ext cx="137160" cy="0"/>
          </a:xfrm>
          <a:prstGeom prst="line">
            <a:avLst/>
          </a:prstGeom>
          <a:noFill/>
          <a:ln w="12700">
            <a:solidFill>
              <a:srgbClr val="5F5E5A"/>
            </a:solidFill>
            <a:prstDash val="solid"/>
            <a:tailEnd type="arrow"/>
          </a:ln>
        </p:spPr>
        <p:txBody>
          <a:bodyPr/>
          <a:lstStyle/>
          <a:p>
            <a:endParaRPr lang="en-US"/>
          </a:p>
        </p:txBody>
      </p:sp>
      <p:sp>
        <p:nvSpPr>
          <p:cNvPr id="43" name="Shape 41"/>
          <p:cNvSpPr/>
          <p:nvPr/>
        </p:nvSpPr>
        <p:spPr>
          <a:xfrm>
            <a:off x="8778240" y="2020824"/>
            <a:ext cx="137160" cy="0"/>
          </a:xfrm>
          <a:prstGeom prst="line">
            <a:avLst/>
          </a:prstGeom>
          <a:noFill/>
          <a:ln w="12700">
            <a:solidFill>
              <a:srgbClr val="5F5E5A"/>
            </a:solidFill>
            <a:prstDash val="solid"/>
            <a:tailEnd type="arrow"/>
          </a:ln>
        </p:spPr>
        <p:txBody>
          <a:bodyPr/>
          <a:lstStyle/>
          <a:p>
            <a:endParaRPr lang="en-US"/>
          </a:p>
        </p:txBody>
      </p:sp>
      <p:sp>
        <p:nvSpPr>
          <p:cNvPr id="44" name="Shape 42"/>
          <p:cNvSpPr/>
          <p:nvPr/>
        </p:nvSpPr>
        <p:spPr>
          <a:xfrm>
            <a:off x="3200400" y="2487168"/>
            <a:ext cx="5029200" cy="384048"/>
          </a:xfrm>
          <a:prstGeom prst="roundRect">
            <a:avLst>
              <a:gd name="adj" fmla="val 19048"/>
            </a:avLst>
          </a:prstGeom>
          <a:solidFill>
            <a:srgbClr val="F1EFE8"/>
          </a:solidFill>
          <a:ln w="6350">
            <a:solidFill>
              <a:srgbClr val="5F5E5A"/>
            </a:solidFill>
            <a:prstDash val="solid"/>
          </a:ln>
        </p:spPr>
        <p:txBody>
          <a:bodyPr/>
          <a:lstStyle/>
          <a:p>
            <a:endParaRPr lang="en-US"/>
          </a:p>
        </p:txBody>
      </p:sp>
      <p:sp>
        <p:nvSpPr>
          <p:cNvPr id="45" name="Text 43"/>
          <p:cNvSpPr/>
          <p:nvPr/>
        </p:nvSpPr>
        <p:spPr>
          <a:xfrm>
            <a:off x="3246120" y="2578608"/>
            <a:ext cx="4937760" cy="219456"/>
          </a:xfrm>
          <a:prstGeom prst="rect">
            <a:avLst/>
          </a:prstGeom>
          <a:noFill/>
          <a:ln/>
        </p:spPr>
        <p:txBody>
          <a:bodyPr wrap="square" lIns="0" tIns="0" rIns="0" bIns="0" rtlCol="0" anchor="ctr"/>
          <a:lstStyle/>
          <a:p>
            <a:pPr marL="0" indent="0" algn="ctr">
              <a:buNone/>
            </a:pPr>
            <a:r>
              <a:rPr lang="en-US" sz="1100" b="1">
                <a:solidFill>
                  <a:srgbClr val="5F5E5A"/>
                </a:solidFill>
              </a:rPr>
              <a:t>Session checkpoint (Redis) — conv_id keyed graph state</a:t>
            </a:r>
            <a:endParaRPr lang="en-US" sz="1100"/>
          </a:p>
        </p:txBody>
      </p:sp>
      <p:sp>
        <p:nvSpPr>
          <p:cNvPr id="46" name="Shape 44"/>
          <p:cNvSpPr/>
          <p:nvPr/>
        </p:nvSpPr>
        <p:spPr>
          <a:xfrm>
            <a:off x="553212" y="3090672"/>
            <a:ext cx="2577660" cy="1078992"/>
          </a:xfrm>
          <a:prstGeom prst="rect">
            <a:avLst/>
          </a:prstGeom>
          <a:solidFill>
            <a:srgbClr val="FFFFFF">
              <a:alpha val="0"/>
            </a:srgbClr>
          </a:solidFill>
          <a:ln w="6350">
            <a:solidFill>
              <a:srgbClr val="2E75B6"/>
            </a:solidFill>
            <a:prstDash val="dash"/>
          </a:ln>
        </p:spPr>
        <p:txBody>
          <a:bodyPr/>
          <a:lstStyle/>
          <a:p>
            <a:endParaRPr lang="en-US"/>
          </a:p>
        </p:txBody>
      </p:sp>
      <p:sp>
        <p:nvSpPr>
          <p:cNvPr id="47" name="Text 45"/>
          <p:cNvSpPr/>
          <p:nvPr/>
        </p:nvSpPr>
        <p:spPr>
          <a:xfrm>
            <a:off x="640080" y="3113532"/>
            <a:ext cx="1746495" cy="187452"/>
          </a:xfrm>
          <a:prstGeom prst="rect">
            <a:avLst/>
          </a:prstGeom>
          <a:noFill/>
          <a:ln/>
        </p:spPr>
        <p:txBody>
          <a:bodyPr wrap="square" lIns="0" tIns="0" rIns="0" bIns="0" rtlCol="0" anchor="ctr"/>
          <a:lstStyle/>
          <a:p>
            <a:pPr marL="0" indent="0">
              <a:buNone/>
            </a:pPr>
            <a:r>
              <a:rPr lang="en-US" sz="800" i="1">
                <a:solidFill>
                  <a:srgbClr val="6B6B6B"/>
                </a:solidFill>
              </a:rPr>
              <a:t>Databricks EDP — primary source</a:t>
            </a:r>
            <a:endParaRPr lang="en-US" sz="800"/>
          </a:p>
        </p:txBody>
      </p:sp>
      <p:sp>
        <p:nvSpPr>
          <p:cNvPr id="48" name="Shape 46"/>
          <p:cNvSpPr/>
          <p:nvPr/>
        </p:nvSpPr>
        <p:spPr>
          <a:xfrm>
            <a:off x="5257800" y="3090672"/>
            <a:ext cx="4453128" cy="1078992"/>
          </a:xfrm>
          <a:prstGeom prst="rect">
            <a:avLst/>
          </a:prstGeom>
          <a:solidFill>
            <a:srgbClr val="FFFFFF">
              <a:alpha val="0"/>
            </a:srgbClr>
          </a:solidFill>
          <a:ln w="6350">
            <a:solidFill>
              <a:srgbClr val="2E75B6"/>
            </a:solidFill>
            <a:prstDash val="dash"/>
          </a:ln>
        </p:spPr>
        <p:txBody>
          <a:bodyPr/>
          <a:lstStyle/>
          <a:p>
            <a:endParaRPr lang="en-US"/>
          </a:p>
        </p:txBody>
      </p:sp>
      <p:sp>
        <p:nvSpPr>
          <p:cNvPr id="49" name="Text 47"/>
          <p:cNvSpPr/>
          <p:nvPr/>
        </p:nvSpPr>
        <p:spPr>
          <a:xfrm>
            <a:off x="5349240" y="3127248"/>
            <a:ext cx="4270248" cy="182880"/>
          </a:xfrm>
          <a:prstGeom prst="rect">
            <a:avLst/>
          </a:prstGeom>
          <a:noFill/>
          <a:ln/>
        </p:spPr>
        <p:txBody>
          <a:bodyPr wrap="square" lIns="0" tIns="0" rIns="0" bIns="0" rtlCol="0" anchor="ctr"/>
          <a:lstStyle/>
          <a:p>
            <a:pPr marL="0" indent="0">
              <a:buNone/>
            </a:pPr>
            <a:r>
              <a:rPr lang="en-US" sz="800" i="1">
                <a:solidFill>
                  <a:srgbClr val="FF0000"/>
                </a:solidFill>
              </a:rPr>
              <a:t>SAP systems — Phase 2</a:t>
            </a:r>
            <a:endParaRPr lang="en-US" sz="800">
              <a:solidFill>
                <a:srgbClr val="FF0000"/>
              </a:solidFill>
            </a:endParaRPr>
          </a:p>
        </p:txBody>
      </p:sp>
      <p:sp>
        <p:nvSpPr>
          <p:cNvPr id="53" name="Shape 51"/>
          <p:cNvSpPr/>
          <p:nvPr/>
        </p:nvSpPr>
        <p:spPr>
          <a:xfrm>
            <a:off x="749290" y="3371298"/>
            <a:ext cx="1920240" cy="658368"/>
          </a:xfrm>
          <a:prstGeom prst="roundRect">
            <a:avLst>
              <a:gd name="adj" fmla="val 11111"/>
            </a:avLst>
          </a:prstGeom>
          <a:solidFill>
            <a:srgbClr val="FAEEDA"/>
          </a:solidFill>
          <a:ln w="6350">
            <a:solidFill>
              <a:srgbClr val="854F0B"/>
            </a:solidFill>
            <a:prstDash val="solid"/>
          </a:ln>
        </p:spPr>
        <p:txBody>
          <a:bodyPr/>
          <a:lstStyle/>
          <a:p>
            <a:endParaRPr lang="en-US"/>
          </a:p>
        </p:txBody>
      </p:sp>
      <p:sp>
        <p:nvSpPr>
          <p:cNvPr id="54" name="Text 52"/>
          <p:cNvSpPr/>
          <p:nvPr/>
        </p:nvSpPr>
        <p:spPr>
          <a:xfrm>
            <a:off x="731520" y="3410712"/>
            <a:ext cx="1828800" cy="219456"/>
          </a:xfrm>
          <a:prstGeom prst="rect">
            <a:avLst/>
          </a:prstGeom>
          <a:noFill/>
          <a:ln/>
        </p:spPr>
        <p:txBody>
          <a:bodyPr wrap="square" lIns="0" tIns="0" rIns="0" bIns="0" rtlCol="0" anchor="ctr"/>
          <a:lstStyle/>
          <a:p>
            <a:pPr marL="0" indent="0" algn="ctr">
              <a:buNone/>
            </a:pPr>
            <a:r>
              <a:rPr lang="en-US" sz="1100" b="1">
                <a:solidFill>
                  <a:srgbClr val="854F0B"/>
                </a:solidFill>
              </a:rPr>
              <a:t>Bronze layer Catalog</a:t>
            </a:r>
            <a:endParaRPr lang="en-US" sz="1100"/>
          </a:p>
        </p:txBody>
      </p:sp>
      <p:sp>
        <p:nvSpPr>
          <p:cNvPr id="55" name="Text 53"/>
          <p:cNvSpPr/>
          <p:nvPr/>
        </p:nvSpPr>
        <p:spPr>
          <a:xfrm>
            <a:off x="731520" y="3686709"/>
            <a:ext cx="1828800" cy="201168"/>
          </a:xfrm>
          <a:prstGeom prst="rect">
            <a:avLst/>
          </a:prstGeom>
          <a:noFill/>
          <a:ln/>
        </p:spPr>
        <p:txBody>
          <a:bodyPr wrap="square" lIns="0" tIns="0" rIns="0" bIns="0" rtlCol="0" anchor="ctr"/>
          <a:lstStyle/>
          <a:p>
            <a:pPr marL="0" indent="0" algn="ctr">
              <a:buNone/>
            </a:pPr>
            <a:r>
              <a:rPr lang="en-US" sz="900">
                <a:solidFill>
                  <a:srgbClr val="6B6B6B"/>
                </a:solidFill>
              </a:rPr>
              <a:t>SAP Data ( as is)</a:t>
            </a:r>
            <a:endParaRPr lang="en-US" sz="900"/>
          </a:p>
        </p:txBody>
      </p:sp>
      <p:sp>
        <p:nvSpPr>
          <p:cNvPr id="56" name="Shape 54"/>
          <p:cNvSpPr/>
          <p:nvPr/>
        </p:nvSpPr>
        <p:spPr>
          <a:xfrm>
            <a:off x="5454396" y="3310128"/>
            <a:ext cx="1920240" cy="658368"/>
          </a:xfrm>
          <a:prstGeom prst="roundRect">
            <a:avLst>
              <a:gd name="adj" fmla="val 11111"/>
            </a:avLst>
          </a:prstGeom>
          <a:solidFill>
            <a:srgbClr val="E1F5EE"/>
          </a:solidFill>
          <a:ln w="6350">
            <a:solidFill>
              <a:srgbClr val="0F6E56"/>
            </a:solidFill>
            <a:prstDash val="solid"/>
          </a:ln>
        </p:spPr>
        <p:txBody>
          <a:bodyPr/>
          <a:lstStyle/>
          <a:p>
            <a:endParaRPr lang="en-US"/>
          </a:p>
        </p:txBody>
      </p:sp>
      <p:sp>
        <p:nvSpPr>
          <p:cNvPr id="57" name="Text 55"/>
          <p:cNvSpPr/>
          <p:nvPr/>
        </p:nvSpPr>
        <p:spPr>
          <a:xfrm>
            <a:off x="5468974" y="3410712"/>
            <a:ext cx="1828800" cy="219456"/>
          </a:xfrm>
          <a:prstGeom prst="rect">
            <a:avLst/>
          </a:prstGeom>
          <a:noFill/>
          <a:ln/>
        </p:spPr>
        <p:txBody>
          <a:bodyPr wrap="square" lIns="0" tIns="0" rIns="0" bIns="0" rtlCol="0" anchor="ctr"/>
          <a:lstStyle/>
          <a:p>
            <a:pPr marL="0" indent="0" algn="ctr">
              <a:buNone/>
            </a:pPr>
            <a:r>
              <a:rPr lang="en-US" sz="1100" b="1">
                <a:solidFill>
                  <a:srgbClr val="0F6E56"/>
                </a:solidFill>
              </a:rPr>
              <a:t>Unity Catalog</a:t>
            </a:r>
            <a:endParaRPr lang="en-US" sz="1100"/>
          </a:p>
        </p:txBody>
      </p:sp>
      <p:sp>
        <p:nvSpPr>
          <p:cNvPr id="58" name="Text 56"/>
          <p:cNvSpPr/>
          <p:nvPr/>
        </p:nvSpPr>
        <p:spPr>
          <a:xfrm>
            <a:off x="5422392" y="3648456"/>
            <a:ext cx="1828800" cy="201168"/>
          </a:xfrm>
          <a:prstGeom prst="rect">
            <a:avLst/>
          </a:prstGeom>
          <a:noFill/>
          <a:ln/>
        </p:spPr>
        <p:txBody>
          <a:bodyPr wrap="square" lIns="0" tIns="0" rIns="0" bIns="0" rtlCol="0" anchor="ctr"/>
          <a:lstStyle/>
          <a:p>
            <a:pPr marL="0" indent="0" algn="ctr">
              <a:buNone/>
            </a:pPr>
            <a:r>
              <a:rPr lang="en-US" sz="900">
                <a:solidFill>
                  <a:srgbClr val="6B6B6B"/>
                </a:solidFill>
              </a:rPr>
              <a:t>Schema + ACLs</a:t>
            </a:r>
            <a:endParaRPr lang="en-US" sz="900"/>
          </a:p>
        </p:txBody>
      </p:sp>
      <p:sp>
        <p:nvSpPr>
          <p:cNvPr id="59" name="Shape 57"/>
          <p:cNvSpPr/>
          <p:nvPr/>
        </p:nvSpPr>
        <p:spPr>
          <a:xfrm>
            <a:off x="7571232" y="3291840"/>
            <a:ext cx="1920240" cy="658368"/>
          </a:xfrm>
          <a:prstGeom prst="roundRect">
            <a:avLst>
              <a:gd name="adj" fmla="val 11111"/>
            </a:avLst>
          </a:prstGeom>
          <a:solidFill>
            <a:srgbClr val="FAECE7"/>
          </a:solidFill>
          <a:ln w="6350">
            <a:solidFill>
              <a:srgbClr val="993C1D"/>
            </a:solidFill>
            <a:prstDash val="solid"/>
          </a:ln>
        </p:spPr>
        <p:txBody>
          <a:bodyPr/>
          <a:lstStyle/>
          <a:p>
            <a:endParaRPr lang="en-US"/>
          </a:p>
        </p:txBody>
      </p:sp>
      <p:sp>
        <p:nvSpPr>
          <p:cNvPr id="60" name="Text 58"/>
          <p:cNvSpPr/>
          <p:nvPr/>
        </p:nvSpPr>
        <p:spPr>
          <a:xfrm>
            <a:off x="7623853" y="3379829"/>
            <a:ext cx="1828800" cy="219456"/>
          </a:xfrm>
          <a:prstGeom prst="rect">
            <a:avLst/>
          </a:prstGeom>
          <a:noFill/>
          <a:ln/>
        </p:spPr>
        <p:txBody>
          <a:bodyPr wrap="square" lIns="0" tIns="0" rIns="0" bIns="0" rtlCol="0" anchor="ctr"/>
          <a:lstStyle/>
          <a:p>
            <a:pPr marL="0" indent="0" algn="ctr">
              <a:buNone/>
            </a:pPr>
            <a:r>
              <a:rPr lang="en-US" sz="1100" b="1">
                <a:solidFill>
                  <a:srgbClr val="993C1D"/>
                </a:solidFill>
              </a:rPr>
              <a:t>SAP API GW</a:t>
            </a:r>
            <a:endParaRPr lang="en-US" sz="1100"/>
          </a:p>
        </p:txBody>
      </p:sp>
      <p:sp>
        <p:nvSpPr>
          <p:cNvPr id="61" name="Text 59"/>
          <p:cNvSpPr/>
          <p:nvPr/>
        </p:nvSpPr>
        <p:spPr>
          <a:xfrm>
            <a:off x="7616952" y="3648456"/>
            <a:ext cx="1828800" cy="201168"/>
          </a:xfrm>
          <a:prstGeom prst="rect">
            <a:avLst/>
          </a:prstGeom>
          <a:noFill/>
          <a:ln/>
        </p:spPr>
        <p:txBody>
          <a:bodyPr wrap="square" lIns="0" tIns="0" rIns="0" bIns="0" rtlCol="0" anchor="ctr"/>
          <a:lstStyle/>
          <a:p>
            <a:pPr marL="0" indent="0" algn="ctr">
              <a:buNone/>
            </a:pPr>
            <a:r>
              <a:rPr lang="en-US" sz="900">
                <a:solidFill>
                  <a:srgbClr val="6B6B6B"/>
                </a:solidFill>
              </a:rPr>
              <a:t>RFC / OData</a:t>
            </a:r>
            <a:endParaRPr lang="en-US" sz="900"/>
          </a:p>
        </p:txBody>
      </p:sp>
      <p:sp>
        <p:nvSpPr>
          <p:cNvPr id="62" name="Shape 60"/>
          <p:cNvSpPr/>
          <p:nvPr/>
        </p:nvSpPr>
        <p:spPr>
          <a:xfrm flipH="1">
            <a:off x="2743200" y="2953512"/>
            <a:ext cx="6038" cy="160020"/>
          </a:xfrm>
          <a:prstGeom prst="line">
            <a:avLst/>
          </a:prstGeom>
          <a:noFill/>
          <a:ln w="12700">
            <a:solidFill>
              <a:srgbClr val="2E75B6"/>
            </a:solidFill>
            <a:prstDash val="solid"/>
            <a:tailEnd type="arrow"/>
          </a:ln>
        </p:spPr>
        <p:txBody>
          <a:bodyPr/>
          <a:lstStyle/>
          <a:p>
            <a:endParaRPr lang="en-US"/>
          </a:p>
        </p:txBody>
      </p:sp>
      <p:sp>
        <p:nvSpPr>
          <p:cNvPr id="63" name="Shape 61"/>
          <p:cNvSpPr/>
          <p:nvPr/>
        </p:nvSpPr>
        <p:spPr>
          <a:xfrm>
            <a:off x="6858000" y="2962656"/>
            <a:ext cx="0" cy="150876"/>
          </a:xfrm>
          <a:prstGeom prst="line">
            <a:avLst/>
          </a:prstGeom>
          <a:noFill/>
          <a:ln w="12700">
            <a:solidFill>
              <a:srgbClr val="2E75B6"/>
            </a:solidFill>
            <a:prstDash val="solid"/>
            <a:tailEnd type="arrow"/>
          </a:ln>
        </p:spPr>
        <p:txBody>
          <a:bodyPr/>
          <a:lstStyle/>
          <a:p>
            <a:endParaRPr lang="en-US"/>
          </a:p>
        </p:txBody>
      </p:sp>
      <p:sp>
        <p:nvSpPr>
          <p:cNvPr id="64" name="Shape 62"/>
          <p:cNvSpPr/>
          <p:nvPr/>
        </p:nvSpPr>
        <p:spPr>
          <a:xfrm>
            <a:off x="566928" y="4279392"/>
            <a:ext cx="10578400" cy="914400"/>
          </a:xfrm>
          <a:prstGeom prst="rect">
            <a:avLst/>
          </a:prstGeom>
          <a:solidFill>
            <a:srgbClr val="FFFFFF">
              <a:alpha val="0"/>
            </a:srgbClr>
          </a:solidFill>
          <a:ln w="6350">
            <a:solidFill>
              <a:srgbClr val="2E75B6"/>
            </a:solidFill>
            <a:prstDash val="dash"/>
          </a:ln>
        </p:spPr>
        <p:txBody>
          <a:bodyPr/>
          <a:lstStyle/>
          <a:p>
            <a:endParaRPr lang="en-US"/>
          </a:p>
        </p:txBody>
      </p:sp>
      <p:sp>
        <p:nvSpPr>
          <p:cNvPr id="65" name="Text 63"/>
          <p:cNvSpPr/>
          <p:nvPr/>
        </p:nvSpPr>
        <p:spPr>
          <a:xfrm>
            <a:off x="658368" y="4290261"/>
            <a:ext cx="8961120" cy="182880"/>
          </a:xfrm>
          <a:prstGeom prst="rect">
            <a:avLst/>
          </a:prstGeom>
          <a:noFill/>
          <a:ln/>
        </p:spPr>
        <p:txBody>
          <a:bodyPr wrap="square" lIns="0" tIns="0" rIns="0" bIns="0" rtlCol="0" anchor="ctr"/>
          <a:lstStyle/>
          <a:p>
            <a:pPr marL="0" indent="0">
              <a:buNone/>
            </a:pPr>
            <a:r>
              <a:rPr lang="en-US" sz="800" i="1">
                <a:solidFill>
                  <a:srgbClr val="6B6B6B"/>
                </a:solidFill>
              </a:rPr>
              <a:t>Azure supporting services</a:t>
            </a:r>
            <a:endParaRPr lang="en-US" sz="800"/>
          </a:p>
        </p:txBody>
      </p:sp>
      <p:sp>
        <p:nvSpPr>
          <p:cNvPr id="66" name="Shape 64"/>
          <p:cNvSpPr/>
          <p:nvPr/>
        </p:nvSpPr>
        <p:spPr>
          <a:xfrm>
            <a:off x="658368" y="4471416"/>
            <a:ext cx="1920240" cy="621792"/>
          </a:xfrm>
          <a:prstGeom prst="roundRect">
            <a:avLst>
              <a:gd name="adj" fmla="val 11765"/>
            </a:avLst>
          </a:prstGeom>
          <a:solidFill>
            <a:srgbClr val="D6E4F0"/>
          </a:solidFill>
          <a:ln w="6350">
            <a:solidFill>
              <a:srgbClr val="2E75B6"/>
            </a:solidFill>
            <a:prstDash val="solid"/>
          </a:ln>
        </p:spPr>
        <p:txBody>
          <a:bodyPr/>
          <a:lstStyle/>
          <a:p>
            <a:endParaRPr lang="en-US"/>
          </a:p>
        </p:txBody>
      </p:sp>
      <p:sp>
        <p:nvSpPr>
          <p:cNvPr id="67" name="Text 65"/>
          <p:cNvSpPr/>
          <p:nvPr/>
        </p:nvSpPr>
        <p:spPr>
          <a:xfrm>
            <a:off x="731520" y="4544568"/>
            <a:ext cx="1828800" cy="219456"/>
          </a:xfrm>
          <a:prstGeom prst="rect">
            <a:avLst/>
          </a:prstGeom>
          <a:noFill/>
          <a:ln/>
        </p:spPr>
        <p:txBody>
          <a:bodyPr wrap="square" lIns="0" tIns="0" rIns="0" bIns="0" rtlCol="0" anchor="ctr"/>
          <a:lstStyle/>
          <a:p>
            <a:pPr marL="0" indent="0" algn="ctr">
              <a:buNone/>
            </a:pPr>
            <a:r>
              <a:rPr lang="en-US" sz="1100" b="1">
                <a:solidFill>
                  <a:srgbClr val="2E75B6"/>
                </a:solidFill>
              </a:rPr>
              <a:t>App Service</a:t>
            </a:r>
            <a:endParaRPr lang="en-US" sz="1100"/>
          </a:p>
        </p:txBody>
      </p:sp>
      <p:sp>
        <p:nvSpPr>
          <p:cNvPr id="68" name="Text 66"/>
          <p:cNvSpPr/>
          <p:nvPr/>
        </p:nvSpPr>
        <p:spPr>
          <a:xfrm>
            <a:off x="731520" y="4800600"/>
            <a:ext cx="1828800" cy="201168"/>
          </a:xfrm>
          <a:prstGeom prst="rect">
            <a:avLst/>
          </a:prstGeom>
          <a:noFill/>
          <a:ln/>
        </p:spPr>
        <p:txBody>
          <a:bodyPr wrap="square" lIns="0" tIns="0" rIns="0" bIns="0" rtlCol="0" anchor="ctr"/>
          <a:lstStyle/>
          <a:p>
            <a:pPr marL="0" indent="0" algn="ctr">
              <a:buNone/>
            </a:pPr>
            <a:r>
              <a:rPr lang="en-US" sz="900">
                <a:solidFill>
                  <a:srgbClr val="6B6B6B"/>
                </a:solidFill>
              </a:rPr>
              <a:t>Next.js SSR</a:t>
            </a:r>
            <a:endParaRPr lang="en-US" sz="900"/>
          </a:p>
        </p:txBody>
      </p:sp>
      <p:sp>
        <p:nvSpPr>
          <p:cNvPr id="69" name="Shape 67"/>
          <p:cNvSpPr/>
          <p:nvPr/>
        </p:nvSpPr>
        <p:spPr>
          <a:xfrm>
            <a:off x="2743200" y="4434840"/>
            <a:ext cx="1920240" cy="621792"/>
          </a:xfrm>
          <a:prstGeom prst="roundRect">
            <a:avLst>
              <a:gd name="adj" fmla="val 11765"/>
            </a:avLst>
          </a:prstGeom>
          <a:solidFill>
            <a:srgbClr val="EEEDFE"/>
          </a:solidFill>
          <a:ln w="6350">
            <a:solidFill>
              <a:srgbClr val="534AB7"/>
            </a:solidFill>
            <a:prstDash val="solid"/>
          </a:ln>
        </p:spPr>
        <p:txBody>
          <a:bodyPr/>
          <a:lstStyle/>
          <a:p>
            <a:endParaRPr lang="en-US"/>
          </a:p>
        </p:txBody>
      </p:sp>
      <p:sp>
        <p:nvSpPr>
          <p:cNvPr id="70" name="Text 68"/>
          <p:cNvSpPr/>
          <p:nvPr/>
        </p:nvSpPr>
        <p:spPr>
          <a:xfrm>
            <a:off x="2799358" y="4521708"/>
            <a:ext cx="1828800" cy="219456"/>
          </a:xfrm>
          <a:prstGeom prst="rect">
            <a:avLst/>
          </a:prstGeom>
          <a:noFill/>
          <a:ln/>
        </p:spPr>
        <p:txBody>
          <a:bodyPr wrap="square" lIns="0" tIns="0" rIns="0" bIns="0" rtlCol="0" anchor="ctr"/>
          <a:lstStyle/>
          <a:p>
            <a:pPr marL="0" indent="0" algn="ctr">
              <a:buNone/>
            </a:pPr>
            <a:r>
              <a:rPr lang="en-US" sz="1100" b="1">
                <a:solidFill>
                  <a:srgbClr val="534AB7"/>
                </a:solidFill>
              </a:rPr>
              <a:t>Container Apps</a:t>
            </a:r>
            <a:endParaRPr lang="en-US" sz="1100"/>
          </a:p>
        </p:txBody>
      </p:sp>
      <p:sp>
        <p:nvSpPr>
          <p:cNvPr id="71" name="Text 69"/>
          <p:cNvSpPr/>
          <p:nvPr/>
        </p:nvSpPr>
        <p:spPr>
          <a:xfrm>
            <a:off x="2788920" y="4800600"/>
            <a:ext cx="1828800" cy="201168"/>
          </a:xfrm>
          <a:prstGeom prst="rect">
            <a:avLst/>
          </a:prstGeom>
          <a:noFill/>
          <a:ln/>
        </p:spPr>
        <p:txBody>
          <a:bodyPr wrap="square" lIns="0" tIns="0" rIns="0" bIns="0" rtlCol="0" anchor="ctr"/>
          <a:lstStyle/>
          <a:p>
            <a:pPr marL="0" indent="0" algn="ctr">
              <a:buNone/>
            </a:pPr>
            <a:r>
              <a:rPr lang="en-US" sz="900">
                <a:solidFill>
                  <a:srgbClr val="6B6B6B"/>
                </a:solidFill>
              </a:rPr>
              <a:t>LangGraph agent</a:t>
            </a:r>
            <a:endParaRPr lang="en-US" sz="900"/>
          </a:p>
        </p:txBody>
      </p:sp>
      <p:sp>
        <p:nvSpPr>
          <p:cNvPr id="72" name="Shape 70"/>
          <p:cNvSpPr/>
          <p:nvPr/>
        </p:nvSpPr>
        <p:spPr>
          <a:xfrm>
            <a:off x="4800600" y="4434840"/>
            <a:ext cx="1920240" cy="621792"/>
          </a:xfrm>
          <a:prstGeom prst="roundRect">
            <a:avLst>
              <a:gd name="adj" fmla="val 11765"/>
            </a:avLst>
          </a:prstGeom>
          <a:solidFill>
            <a:srgbClr val="E1F5EE"/>
          </a:solidFill>
          <a:ln w="6350">
            <a:solidFill>
              <a:srgbClr val="0F6E56"/>
            </a:solidFill>
            <a:prstDash val="solid"/>
          </a:ln>
        </p:spPr>
        <p:txBody>
          <a:bodyPr/>
          <a:lstStyle/>
          <a:p>
            <a:endParaRPr lang="en-US"/>
          </a:p>
        </p:txBody>
      </p:sp>
      <p:sp>
        <p:nvSpPr>
          <p:cNvPr id="73" name="Text 71"/>
          <p:cNvSpPr/>
          <p:nvPr/>
        </p:nvSpPr>
        <p:spPr>
          <a:xfrm>
            <a:off x="4846320" y="4498848"/>
            <a:ext cx="1828800" cy="219456"/>
          </a:xfrm>
          <a:prstGeom prst="rect">
            <a:avLst/>
          </a:prstGeom>
          <a:noFill/>
          <a:ln/>
        </p:spPr>
        <p:txBody>
          <a:bodyPr wrap="square" lIns="0" tIns="0" rIns="0" bIns="0" rtlCol="0" anchor="ctr"/>
          <a:lstStyle/>
          <a:p>
            <a:pPr marL="0" indent="0" algn="ctr">
              <a:buNone/>
            </a:pPr>
            <a:r>
              <a:rPr lang="en-US" sz="1100" b="1">
                <a:solidFill>
                  <a:srgbClr val="0F6E56"/>
                </a:solidFill>
              </a:rPr>
              <a:t>Cosmos DB</a:t>
            </a:r>
            <a:endParaRPr lang="en-US" sz="1100"/>
          </a:p>
        </p:txBody>
      </p:sp>
      <p:sp>
        <p:nvSpPr>
          <p:cNvPr id="74" name="Text 72"/>
          <p:cNvSpPr/>
          <p:nvPr/>
        </p:nvSpPr>
        <p:spPr>
          <a:xfrm>
            <a:off x="4846320" y="4800600"/>
            <a:ext cx="1828800" cy="201168"/>
          </a:xfrm>
          <a:prstGeom prst="rect">
            <a:avLst/>
          </a:prstGeom>
          <a:noFill/>
          <a:ln/>
        </p:spPr>
        <p:txBody>
          <a:bodyPr wrap="square" lIns="0" tIns="0" rIns="0" bIns="0" rtlCol="0" anchor="ctr"/>
          <a:lstStyle/>
          <a:p>
            <a:pPr marL="0" indent="0" algn="ctr">
              <a:buNone/>
            </a:pPr>
            <a:r>
              <a:rPr lang="en-US" sz="900">
                <a:solidFill>
                  <a:srgbClr val="6B6B6B"/>
                </a:solidFill>
              </a:rPr>
              <a:t>Conversation history</a:t>
            </a:r>
            <a:endParaRPr lang="en-US" sz="900"/>
          </a:p>
        </p:txBody>
      </p:sp>
      <p:sp>
        <p:nvSpPr>
          <p:cNvPr id="75" name="Shape 73"/>
          <p:cNvSpPr/>
          <p:nvPr/>
        </p:nvSpPr>
        <p:spPr>
          <a:xfrm>
            <a:off x="6858000" y="4434840"/>
            <a:ext cx="1920240" cy="621792"/>
          </a:xfrm>
          <a:prstGeom prst="roundRect">
            <a:avLst>
              <a:gd name="adj" fmla="val 11765"/>
            </a:avLst>
          </a:prstGeom>
          <a:solidFill>
            <a:srgbClr val="FAEEDA"/>
          </a:solidFill>
          <a:ln w="6350">
            <a:solidFill>
              <a:srgbClr val="854F0B"/>
            </a:solidFill>
            <a:prstDash val="solid"/>
          </a:ln>
        </p:spPr>
        <p:txBody>
          <a:bodyPr/>
          <a:lstStyle/>
          <a:p>
            <a:endParaRPr lang="en-US"/>
          </a:p>
        </p:txBody>
      </p:sp>
      <p:sp>
        <p:nvSpPr>
          <p:cNvPr id="76" name="Text 74"/>
          <p:cNvSpPr/>
          <p:nvPr/>
        </p:nvSpPr>
        <p:spPr>
          <a:xfrm>
            <a:off x="6903720" y="4521708"/>
            <a:ext cx="1828800" cy="219456"/>
          </a:xfrm>
          <a:prstGeom prst="rect">
            <a:avLst/>
          </a:prstGeom>
          <a:noFill/>
          <a:ln/>
        </p:spPr>
        <p:txBody>
          <a:bodyPr wrap="square" lIns="0" tIns="0" rIns="0" bIns="0" rtlCol="0" anchor="ctr"/>
          <a:lstStyle/>
          <a:p>
            <a:pPr marL="0" indent="0" algn="ctr">
              <a:buNone/>
            </a:pPr>
            <a:r>
              <a:rPr lang="en-US" sz="1100" b="1">
                <a:solidFill>
                  <a:srgbClr val="854F0B"/>
                </a:solidFill>
              </a:rPr>
              <a:t>Redis Cache</a:t>
            </a:r>
            <a:endParaRPr lang="en-US" sz="1100"/>
          </a:p>
        </p:txBody>
      </p:sp>
      <p:sp>
        <p:nvSpPr>
          <p:cNvPr id="77" name="Text 75"/>
          <p:cNvSpPr/>
          <p:nvPr/>
        </p:nvSpPr>
        <p:spPr>
          <a:xfrm>
            <a:off x="6903720" y="4800600"/>
            <a:ext cx="1828800" cy="201168"/>
          </a:xfrm>
          <a:prstGeom prst="rect">
            <a:avLst/>
          </a:prstGeom>
          <a:noFill/>
          <a:ln/>
        </p:spPr>
        <p:txBody>
          <a:bodyPr wrap="square" lIns="0" tIns="0" rIns="0" bIns="0" rtlCol="0" anchor="ctr"/>
          <a:lstStyle/>
          <a:p>
            <a:pPr marL="0" indent="0" algn="ctr">
              <a:buNone/>
            </a:pPr>
            <a:r>
              <a:rPr lang="en-US" sz="900">
                <a:solidFill>
                  <a:srgbClr val="6B6B6B"/>
                </a:solidFill>
              </a:rPr>
              <a:t>Session + SQL cache</a:t>
            </a:r>
            <a:endParaRPr lang="en-US" sz="900"/>
          </a:p>
        </p:txBody>
      </p:sp>
      <p:sp>
        <p:nvSpPr>
          <p:cNvPr id="78" name="Shape 76"/>
          <p:cNvSpPr/>
          <p:nvPr/>
        </p:nvSpPr>
        <p:spPr>
          <a:xfrm>
            <a:off x="8915400" y="4434840"/>
            <a:ext cx="1920240" cy="621792"/>
          </a:xfrm>
          <a:prstGeom prst="roundRect">
            <a:avLst>
              <a:gd name="adj" fmla="val 11765"/>
            </a:avLst>
          </a:prstGeom>
          <a:solidFill>
            <a:srgbClr val="F1EFE8"/>
          </a:solidFill>
          <a:ln w="6350">
            <a:solidFill>
              <a:srgbClr val="5F5E5A"/>
            </a:solidFill>
            <a:prstDash val="solid"/>
          </a:ln>
        </p:spPr>
        <p:txBody>
          <a:bodyPr/>
          <a:lstStyle/>
          <a:p>
            <a:endParaRPr lang="en-US"/>
          </a:p>
        </p:txBody>
      </p:sp>
      <p:sp>
        <p:nvSpPr>
          <p:cNvPr id="79" name="Text 77"/>
          <p:cNvSpPr/>
          <p:nvPr/>
        </p:nvSpPr>
        <p:spPr>
          <a:xfrm>
            <a:off x="8961120" y="4517136"/>
            <a:ext cx="1828800" cy="219456"/>
          </a:xfrm>
          <a:prstGeom prst="rect">
            <a:avLst/>
          </a:prstGeom>
          <a:noFill/>
          <a:ln/>
        </p:spPr>
        <p:txBody>
          <a:bodyPr wrap="square" lIns="0" tIns="0" rIns="0" bIns="0" rtlCol="0" anchor="ctr"/>
          <a:lstStyle/>
          <a:p>
            <a:pPr marL="0" indent="0" algn="ctr">
              <a:buNone/>
            </a:pPr>
            <a:r>
              <a:rPr lang="en-US" sz="1100" b="1">
                <a:solidFill>
                  <a:srgbClr val="5F5E5A"/>
                </a:solidFill>
              </a:rPr>
              <a:t>App Insights</a:t>
            </a:r>
            <a:endParaRPr lang="en-US" sz="1100"/>
          </a:p>
        </p:txBody>
      </p:sp>
      <p:sp>
        <p:nvSpPr>
          <p:cNvPr id="80" name="Text 78"/>
          <p:cNvSpPr/>
          <p:nvPr/>
        </p:nvSpPr>
        <p:spPr>
          <a:xfrm>
            <a:off x="8961120" y="4800600"/>
            <a:ext cx="1828800" cy="201168"/>
          </a:xfrm>
          <a:prstGeom prst="rect">
            <a:avLst/>
          </a:prstGeom>
          <a:noFill/>
          <a:ln/>
        </p:spPr>
        <p:txBody>
          <a:bodyPr wrap="square" lIns="0" tIns="0" rIns="0" bIns="0" rtlCol="0" anchor="ctr"/>
          <a:lstStyle/>
          <a:p>
            <a:pPr marL="0" indent="0" algn="ctr">
              <a:buNone/>
            </a:pPr>
            <a:r>
              <a:rPr lang="en-US" sz="900">
                <a:solidFill>
                  <a:srgbClr val="6B6B6B"/>
                </a:solidFill>
              </a:rPr>
              <a:t>Traces + monitoring</a:t>
            </a:r>
            <a:endParaRPr lang="en-US" sz="900"/>
          </a:p>
        </p:txBody>
      </p:sp>
      <p:sp>
        <p:nvSpPr>
          <p:cNvPr id="81" name="Shape 79"/>
          <p:cNvSpPr/>
          <p:nvPr/>
        </p:nvSpPr>
        <p:spPr>
          <a:xfrm>
            <a:off x="566928" y="5321808"/>
            <a:ext cx="9144000" cy="868680"/>
          </a:xfrm>
          <a:prstGeom prst="rect">
            <a:avLst/>
          </a:prstGeom>
          <a:solidFill>
            <a:srgbClr val="FFFFFF">
              <a:alpha val="0"/>
            </a:srgbClr>
          </a:solidFill>
          <a:ln w="6350">
            <a:solidFill>
              <a:srgbClr val="2E75B6"/>
            </a:solidFill>
            <a:prstDash val="dash"/>
          </a:ln>
        </p:spPr>
        <p:txBody>
          <a:bodyPr/>
          <a:lstStyle/>
          <a:p>
            <a:endParaRPr lang="en-US"/>
          </a:p>
        </p:txBody>
      </p:sp>
      <p:sp>
        <p:nvSpPr>
          <p:cNvPr id="82" name="Text 80"/>
          <p:cNvSpPr/>
          <p:nvPr/>
        </p:nvSpPr>
        <p:spPr>
          <a:xfrm>
            <a:off x="658368" y="5313527"/>
            <a:ext cx="8961120" cy="182880"/>
          </a:xfrm>
          <a:prstGeom prst="rect">
            <a:avLst/>
          </a:prstGeom>
          <a:noFill/>
          <a:ln/>
        </p:spPr>
        <p:txBody>
          <a:bodyPr wrap="square" lIns="0" tIns="0" rIns="0" bIns="0" rtlCol="0" anchor="ctr"/>
          <a:lstStyle/>
          <a:p>
            <a:pPr marL="0" indent="0">
              <a:buNone/>
            </a:pPr>
            <a:r>
              <a:rPr lang="en-US" sz="800" i="1">
                <a:solidFill>
                  <a:srgbClr val="6B6B6B"/>
                </a:solidFill>
              </a:rPr>
              <a:t>Security perimeter</a:t>
            </a:r>
            <a:endParaRPr lang="en-US" sz="800"/>
          </a:p>
        </p:txBody>
      </p:sp>
      <p:sp>
        <p:nvSpPr>
          <p:cNvPr id="83" name="Shape 81"/>
          <p:cNvSpPr/>
          <p:nvPr/>
        </p:nvSpPr>
        <p:spPr>
          <a:xfrm>
            <a:off x="685800" y="5468112"/>
            <a:ext cx="2651760" cy="594360"/>
          </a:xfrm>
          <a:prstGeom prst="roundRect">
            <a:avLst>
              <a:gd name="adj" fmla="val 12308"/>
            </a:avLst>
          </a:prstGeom>
          <a:solidFill>
            <a:srgbClr val="FAECE7"/>
          </a:solidFill>
          <a:ln w="6350">
            <a:solidFill>
              <a:srgbClr val="993C1D"/>
            </a:solidFill>
            <a:prstDash val="solid"/>
          </a:ln>
        </p:spPr>
        <p:txBody>
          <a:bodyPr/>
          <a:lstStyle/>
          <a:p>
            <a:endParaRPr lang="en-US"/>
          </a:p>
        </p:txBody>
      </p:sp>
      <p:sp>
        <p:nvSpPr>
          <p:cNvPr id="84" name="Text 82"/>
          <p:cNvSpPr/>
          <p:nvPr/>
        </p:nvSpPr>
        <p:spPr>
          <a:xfrm>
            <a:off x="731520" y="5522632"/>
            <a:ext cx="2560320" cy="219456"/>
          </a:xfrm>
          <a:prstGeom prst="rect">
            <a:avLst/>
          </a:prstGeom>
          <a:noFill/>
          <a:ln/>
        </p:spPr>
        <p:txBody>
          <a:bodyPr wrap="square" lIns="0" tIns="0" rIns="0" bIns="0" rtlCol="0" anchor="ctr"/>
          <a:lstStyle/>
          <a:p>
            <a:pPr marL="0" indent="0" algn="ctr">
              <a:buNone/>
            </a:pPr>
            <a:r>
              <a:rPr lang="en-US" sz="1100" b="1">
                <a:solidFill>
                  <a:srgbClr val="993C1D"/>
                </a:solidFill>
              </a:rPr>
              <a:t>Azure Entra ID</a:t>
            </a:r>
            <a:endParaRPr lang="en-US" sz="1100"/>
          </a:p>
        </p:txBody>
      </p:sp>
      <p:sp>
        <p:nvSpPr>
          <p:cNvPr id="85" name="Text 83"/>
          <p:cNvSpPr/>
          <p:nvPr/>
        </p:nvSpPr>
        <p:spPr>
          <a:xfrm>
            <a:off x="731520" y="5806440"/>
            <a:ext cx="2560320" cy="201168"/>
          </a:xfrm>
          <a:prstGeom prst="rect">
            <a:avLst/>
          </a:prstGeom>
          <a:noFill/>
          <a:ln/>
        </p:spPr>
        <p:txBody>
          <a:bodyPr wrap="square" lIns="0" tIns="0" rIns="0" bIns="0" rtlCol="0" anchor="ctr"/>
          <a:lstStyle/>
          <a:p>
            <a:pPr marL="0" indent="0" algn="ctr">
              <a:buNone/>
            </a:pPr>
            <a:r>
              <a:rPr lang="en-US" sz="900">
                <a:solidFill>
                  <a:srgbClr val="6B6B6B"/>
                </a:solidFill>
              </a:rPr>
              <a:t>SSO all channels</a:t>
            </a:r>
            <a:endParaRPr lang="en-US" sz="900"/>
          </a:p>
        </p:txBody>
      </p:sp>
      <p:sp>
        <p:nvSpPr>
          <p:cNvPr id="86" name="Shape 84"/>
          <p:cNvSpPr/>
          <p:nvPr/>
        </p:nvSpPr>
        <p:spPr>
          <a:xfrm>
            <a:off x="3703320" y="5468112"/>
            <a:ext cx="2651760" cy="594360"/>
          </a:xfrm>
          <a:prstGeom prst="roundRect">
            <a:avLst>
              <a:gd name="adj" fmla="val 12308"/>
            </a:avLst>
          </a:prstGeom>
          <a:solidFill>
            <a:srgbClr val="FAECE7"/>
          </a:solidFill>
          <a:ln w="6350">
            <a:solidFill>
              <a:srgbClr val="993C1D"/>
            </a:solidFill>
            <a:prstDash val="solid"/>
          </a:ln>
        </p:spPr>
        <p:txBody>
          <a:bodyPr/>
          <a:lstStyle/>
          <a:p>
            <a:endParaRPr lang="en-US"/>
          </a:p>
        </p:txBody>
      </p:sp>
      <p:sp>
        <p:nvSpPr>
          <p:cNvPr id="87" name="Text 85"/>
          <p:cNvSpPr/>
          <p:nvPr/>
        </p:nvSpPr>
        <p:spPr>
          <a:xfrm>
            <a:off x="3749040" y="5522632"/>
            <a:ext cx="2560320" cy="219456"/>
          </a:xfrm>
          <a:prstGeom prst="rect">
            <a:avLst/>
          </a:prstGeom>
          <a:noFill/>
          <a:ln/>
        </p:spPr>
        <p:txBody>
          <a:bodyPr wrap="square" lIns="0" tIns="0" rIns="0" bIns="0" rtlCol="0" anchor="ctr"/>
          <a:lstStyle/>
          <a:p>
            <a:pPr marL="0" indent="0" algn="ctr">
              <a:buNone/>
            </a:pPr>
            <a:r>
              <a:rPr lang="en-US" sz="1100" b="1">
                <a:solidFill>
                  <a:srgbClr val="993C1D"/>
                </a:solidFill>
              </a:rPr>
              <a:t>Azure Key Vault</a:t>
            </a:r>
            <a:endParaRPr lang="en-US" sz="1100"/>
          </a:p>
        </p:txBody>
      </p:sp>
      <p:sp>
        <p:nvSpPr>
          <p:cNvPr id="88" name="Text 86"/>
          <p:cNvSpPr/>
          <p:nvPr/>
        </p:nvSpPr>
        <p:spPr>
          <a:xfrm>
            <a:off x="3749040" y="5806440"/>
            <a:ext cx="2560320" cy="201168"/>
          </a:xfrm>
          <a:prstGeom prst="rect">
            <a:avLst/>
          </a:prstGeom>
          <a:noFill/>
          <a:ln/>
        </p:spPr>
        <p:txBody>
          <a:bodyPr wrap="square" lIns="0" tIns="0" rIns="0" bIns="0" rtlCol="0" anchor="ctr"/>
          <a:lstStyle/>
          <a:p>
            <a:pPr marL="0" indent="0" algn="ctr">
              <a:buNone/>
            </a:pPr>
            <a:r>
              <a:rPr lang="en-US" sz="900">
                <a:solidFill>
                  <a:srgbClr val="6B6B6B"/>
                </a:solidFill>
              </a:rPr>
              <a:t>Tokens + secrets</a:t>
            </a:r>
            <a:endParaRPr lang="en-US" sz="900"/>
          </a:p>
        </p:txBody>
      </p:sp>
      <p:sp>
        <p:nvSpPr>
          <p:cNvPr id="89" name="Shape 87"/>
          <p:cNvSpPr/>
          <p:nvPr/>
        </p:nvSpPr>
        <p:spPr>
          <a:xfrm>
            <a:off x="6720840" y="5468112"/>
            <a:ext cx="2651760" cy="594360"/>
          </a:xfrm>
          <a:prstGeom prst="roundRect">
            <a:avLst>
              <a:gd name="adj" fmla="val 12308"/>
            </a:avLst>
          </a:prstGeom>
          <a:solidFill>
            <a:srgbClr val="F1EFE8"/>
          </a:solidFill>
          <a:ln w="6350">
            <a:solidFill>
              <a:srgbClr val="5F5E5A"/>
            </a:solidFill>
            <a:prstDash val="solid"/>
          </a:ln>
        </p:spPr>
        <p:txBody>
          <a:bodyPr/>
          <a:lstStyle/>
          <a:p>
            <a:endParaRPr lang="en-US"/>
          </a:p>
        </p:txBody>
      </p:sp>
      <p:sp>
        <p:nvSpPr>
          <p:cNvPr id="90" name="Text 88"/>
          <p:cNvSpPr/>
          <p:nvPr/>
        </p:nvSpPr>
        <p:spPr>
          <a:xfrm>
            <a:off x="6766560" y="5506069"/>
            <a:ext cx="2560320" cy="219456"/>
          </a:xfrm>
          <a:prstGeom prst="rect">
            <a:avLst/>
          </a:prstGeom>
          <a:noFill/>
          <a:ln/>
        </p:spPr>
        <p:txBody>
          <a:bodyPr wrap="square" lIns="0" tIns="0" rIns="0" bIns="0" rtlCol="0" anchor="ctr"/>
          <a:lstStyle/>
          <a:p>
            <a:pPr marL="0" indent="0" algn="ctr">
              <a:buNone/>
            </a:pPr>
            <a:r>
              <a:rPr lang="en-US" sz="1100" b="1">
                <a:solidFill>
                  <a:srgbClr val="5F5E5A"/>
                </a:solidFill>
              </a:rPr>
              <a:t>Front Door + WAF</a:t>
            </a:r>
            <a:endParaRPr lang="en-US" sz="1100"/>
          </a:p>
        </p:txBody>
      </p:sp>
      <p:sp>
        <p:nvSpPr>
          <p:cNvPr id="91" name="Text 89"/>
          <p:cNvSpPr/>
          <p:nvPr/>
        </p:nvSpPr>
        <p:spPr>
          <a:xfrm>
            <a:off x="6766560" y="5806440"/>
            <a:ext cx="2560320" cy="201168"/>
          </a:xfrm>
          <a:prstGeom prst="rect">
            <a:avLst/>
          </a:prstGeom>
          <a:noFill/>
          <a:ln/>
        </p:spPr>
        <p:txBody>
          <a:bodyPr wrap="square" lIns="0" tIns="0" rIns="0" bIns="0" rtlCol="0" anchor="ctr"/>
          <a:lstStyle/>
          <a:p>
            <a:pPr marL="0" indent="0" algn="ctr">
              <a:buNone/>
            </a:pPr>
            <a:r>
              <a:rPr lang="en-US" sz="900">
                <a:solidFill>
                  <a:srgbClr val="6B6B6B"/>
                </a:solidFill>
              </a:rPr>
              <a:t>DDoS, SSL, routing</a:t>
            </a:r>
            <a:endParaRPr lang="en-US" sz="900"/>
          </a:p>
        </p:txBody>
      </p:sp>
      <p:sp>
        <p:nvSpPr>
          <p:cNvPr id="92" name="Shape 44">
            <a:extLst>
              <a:ext uri="{FF2B5EF4-FFF2-40B4-BE49-F238E27FC236}">
                <a16:creationId xmlns:a16="http://schemas.microsoft.com/office/drawing/2014/main" id="{1789F5F1-54D6-F8F4-4496-2DC0E5A076F4}"/>
              </a:ext>
            </a:extLst>
          </p:cNvPr>
          <p:cNvSpPr/>
          <p:nvPr/>
        </p:nvSpPr>
        <p:spPr>
          <a:xfrm>
            <a:off x="3200400" y="3081528"/>
            <a:ext cx="1910013" cy="1078992"/>
          </a:xfrm>
          <a:prstGeom prst="rect">
            <a:avLst/>
          </a:prstGeom>
          <a:solidFill>
            <a:srgbClr val="FFFFFF">
              <a:alpha val="0"/>
            </a:srgbClr>
          </a:solidFill>
          <a:ln w="6350">
            <a:solidFill>
              <a:srgbClr val="2E75B6"/>
            </a:solidFill>
            <a:prstDash val="dash"/>
          </a:ln>
        </p:spPr>
        <p:txBody>
          <a:bodyPr/>
          <a:lstStyle/>
          <a:p>
            <a:endParaRPr lang="en-US"/>
          </a:p>
        </p:txBody>
      </p:sp>
      <p:sp>
        <p:nvSpPr>
          <p:cNvPr id="93" name="Text 47">
            <a:extLst>
              <a:ext uri="{FF2B5EF4-FFF2-40B4-BE49-F238E27FC236}">
                <a16:creationId xmlns:a16="http://schemas.microsoft.com/office/drawing/2014/main" id="{6E835D57-E745-5F8F-2107-A39CE44964F1}"/>
              </a:ext>
            </a:extLst>
          </p:cNvPr>
          <p:cNvSpPr/>
          <p:nvPr/>
        </p:nvSpPr>
        <p:spPr>
          <a:xfrm>
            <a:off x="3355599" y="3138208"/>
            <a:ext cx="4270248" cy="182880"/>
          </a:xfrm>
          <a:prstGeom prst="rect">
            <a:avLst/>
          </a:prstGeom>
          <a:noFill/>
          <a:ln/>
        </p:spPr>
        <p:txBody>
          <a:bodyPr wrap="square" lIns="0" tIns="0" rIns="0" bIns="0" rtlCol="0" anchor="ctr"/>
          <a:lstStyle/>
          <a:p>
            <a:pPr marL="0" indent="0">
              <a:buNone/>
            </a:pPr>
            <a:r>
              <a:rPr lang="en-US" sz="800" i="1">
                <a:solidFill>
                  <a:srgbClr val="FF0000"/>
                </a:solidFill>
              </a:rPr>
              <a:t>Salesforce System </a:t>
            </a:r>
            <a:endParaRPr lang="en-US" sz="800">
              <a:solidFill>
                <a:srgbClr val="FF0000"/>
              </a:solidFill>
            </a:endParaRPr>
          </a:p>
        </p:txBody>
      </p:sp>
      <p:sp>
        <p:nvSpPr>
          <p:cNvPr id="94" name="Shape 51">
            <a:extLst>
              <a:ext uri="{FF2B5EF4-FFF2-40B4-BE49-F238E27FC236}">
                <a16:creationId xmlns:a16="http://schemas.microsoft.com/office/drawing/2014/main" id="{D1F0F81C-AFA9-04B9-E531-028D9790A248}"/>
              </a:ext>
            </a:extLst>
          </p:cNvPr>
          <p:cNvSpPr/>
          <p:nvPr/>
        </p:nvSpPr>
        <p:spPr>
          <a:xfrm>
            <a:off x="3268032" y="3335541"/>
            <a:ext cx="1715448" cy="658368"/>
          </a:xfrm>
          <a:prstGeom prst="roundRect">
            <a:avLst>
              <a:gd name="adj" fmla="val 11111"/>
            </a:avLst>
          </a:prstGeom>
          <a:solidFill>
            <a:schemeClr val="accent6">
              <a:lumMod val="20000"/>
              <a:lumOff val="80000"/>
            </a:schemeClr>
          </a:solidFill>
          <a:ln w="6350">
            <a:solidFill>
              <a:srgbClr val="854F0B"/>
            </a:solidFill>
            <a:prstDash val="solid"/>
          </a:ln>
        </p:spPr>
        <p:txBody>
          <a:bodyPr/>
          <a:lstStyle/>
          <a:p>
            <a:endParaRPr lang="en-US"/>
          </a:p>
        </p:txBody>
      </p:sp>
      <p:sp>
        <p:nvSpPr>
          <p:cNvPr id="95" name="Text 55">
            <a:extLst>
              <a:ext uri="{FF2B5EF4-FFF2-40B4-BE49-F238E27FC236}">
                <a16:creationId xmlns:a16="http://schemas.microsoft.com/office/drawing/2014/main" id="{C2BA1357-0DCF-69F4-6A53-BB68408B2C02}"/>
              </a:ext>
            </a:extLst>
          </p:cNvPr>
          <p:cNvSpPr/>
          <p:nvPr/>
        </p:nvSpPr>
        <p:spPr>
          <a:xfrm>
            <a:off x="3183493" y="3429000"/>
            <a:ext cx="1828800" cy="219456"/>
          </a:xfrm>
          <a:prstGeom prst="rect">
            <a:avLst/>
          </a:prstGeom>
          <a:noFill/>
          <a:ln/>
        </p:spPr>
        <p:txBody>
          <a:bodyPr wrap="square" lIns="0" tIns="0" rIns="0" bIns="0" rtlCol="0" anchor="ctr"/>
          <a:lstStyle/>
          <a:p>
            <a:pPr algn="ctr"/>
            <a:r>
              <a:rPr lang="en-US" sz="1100" b="1">
                <a:solidFill>
                  <a:srgbClr val="0F6E56"/>
                </a:solidFill>
              </a:rPr>
              <a:t>Salesforce Data </a:t>
            </a:r>
            <a:endParaRPr lang="en-US"/>
          </a:p>
          <a:p>
            <a:pPr marL="0" indent="0" algn="ctr">
              <a:buNone/>
            </a:pPr>
            <a:r>
              <a:rPr lang="en-US" sz="1100" b="1">
                <a:solidFill>
                  <a:srgbClr val="0F6E56"/>
                </a:solidFill>
              </a:rPr>
              <a:t>Connector/API</a:t>
            </a:r>
            <a:endParaRPr lang="en-US" sz="1100"/>
          </a:p>
        </p:txBody>
      </p:sp>
      <p:sp>
        <p:nvSpPr>
          <p:cNvPr id="96" name="Text 53">
            <a:extLst>
              <a:ext uri="{FF2B5EF4-FFF2-40B4-BE49-F238E27FC236}">
                <a16:creationId xmlns:a16="http://schemas.microsoft.com/office/drawing/2014/main" id="{C122DB60-8F76-9259-5EF9-2A1C462F4F59}"/>
              </a:ext>
            </a:extLst>
          </p:cNvPr>
          <p:cNvSpPr/>
          <p:nvPr/>
        </p:nvSpPr>
        <p:spPr>
          <a:xfrm>
            <a:off x="3162876" y="3695901"/>
            <a:ext cx="1828800" cy="201168"/>
          </a:xfrm>
          <a:prstGeom prst="rect">
            <a:avLst/>
          </a:prstGeom>
          <a:noFill/>
          <a:ln/>
        </p:spPr>
        <p:txBody>
          <a:bodyPr wrap="square" lIns="0" tIns="0" rIns="0" bIns="0" rtlCol="0" anchor="ctr"/>
          <a:lstStyle/>
          <a:p>
            <a:pPr marL="0" indent="0" algn="ctr">
              <a:buNone/>
            </a:pPr>
            <a:r>
              <a:rPr lang="en-US" sz="900">
                <a:solidFill>
                  <a:srgbClr val="6B6B6B"/>
                </a:solidFill>
              </a:rPr>
              <a:t>API/ Data Connector</a:t>
            </a:r>
            <a:endParaRPr lang="en-US"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A829C-40A6-1D38-6D2A-77277B786C6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504808-9D89-1A1A-ABE3-D61E6E48A466}"/>
              </a:ext>
            </a:extLst>
          </p:cNvPr>
          <p:cNvSpPr>
            <a:spLocks noGrp="1"/>
          </p:cNvSpPr>
          <p:nvPr>
            <p:ph type="body" sz="quarter" idx="14"/>
          </p:nvPr>
        </p:nvSpPr>
        <p:spPr>
          <a:xfrm>
            <a:off x="467828" y="485747"/>
            <a:ext cx="1700721" cy="327751"/>
          </a:xfrm>
        </p:spPr>
        <p:txBody>
          <a:bodyPr/>
          <a:lstStyle/>
          <a:p>
            <a:r>
              <a:rPr lang="en-US">
                <a:latin typeface="Century Gothic"/>
              </a:rPr>
              <a:t>Architecture</a:t>
            </a:r>
          </a:p>
        </p:txBody>
      </p:sp>
      <p:sp>
        <p:nvSpPr>
          <p:cNvPr id="4" name="Title 3">
            <a:extLst>
              <a:ext uri="{FF2B5EF4-FFF2-40B4-BE49-F238E27FC236}">
                <a16:creationId xmlns:a16="http://schemas.microsoft.com/office/drawing/2014/main" id="{A8902DA5-E0D4-A344-2D08-5F2E8666C58B}"/>
              </a:ext>
            </a:extLst>
          </p:cNvPr>
          <p:cNvSpPr>
            <a:spLocks noGrp="1"/>
          </p:cNvSpPr>
          <p:nvPr>
            <p:ph type="ctrTitle"/>
          </p:nvPr>
        </p:nvSpPr>
        <p:spPr>
          <a:xfrm>
            <a:off x="467827" y="1042740"/>
            <a:ext cx="10703756" cy="453595"/>
          </a:xfrm>
        </p:spPr>
        <p:txBody>
          <a:bodyPr/>
          <a:lstStyle/>
          <a:p>
            <a:r>
              <a:rPr lang="en-CA">
                <a:latin typeface="+mn-lt"/>
              </a:rPr>
              <a:t>Recommendation</a:t>
            </a:r>
            <a:endParaRPr lang="en-US"/>
          </a:p>
        </p:txBody>
      </p:sp>
      <p:sp>
        <p:nvSpPr>
          <p:cNvPr id="5" name="TextBox 4">
            <a:extLst>
              <a:ext uri="{FF2B5EF4-FFF2-40B4-BE49-F238E27FC236}">
                <a16:creationId xmlns:a16="http://schemas.microsoft.com/office/drawing/2014/main" id="{9990E60B-A435-E31E-6DB2-EA974EB4A71C}"/>
              </a:ext>
            </a:extLst>
          </p:cNvPr>
          <p:cNvSpPr txBox="1"/>
          <p:nvPr/>
        </p:nvSpPr>
        <p:spPr>
          <a:xfrm>
            <a:off x="688489" y="1799181"/>
            <a:ext cx="1022514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b="1"/>
              <a:t>Option 1 – Utilize Architecture 1 -&gt; </a:t>
            </a:r>
            <a:r>
              <a:rPr lang="en-US" sz="1600"/>
              <a:t>This is something already present in production but provide incorrect result. One pathway forward is to utilize the application component deployed and genie integration and improve the logic layer with the help of data and sap team to fetch correct result</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b="1"/>
              <a:t>Option 2 – Build a Conversational text to query language chatbot from scratch -&gt; </a:t>
            </a:r>
            <a:r>
              <a:rPr lang="en-US" sz="1600"/>
              <a:t>Building the semantic layer that understand business logic better , can be connected to multiple </a:t>
            </a:r>
          </a:p>
        </p:txBody>
      </p:sp>
    </p:spTree>
    <p:extLst>
      <p:ext uri="{BB962C8B-B14F-4D97-AF65-F5344CB8AC3E}">
        <p14:creationId xmlns:p14="http://schemas.microsoft.com/office/powerpoint/2010/main" val="1940788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3A823-D6CF-CCB5-802A-AD68EAD9DB2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82DB5AB-CC81-DD12-63A0-DA36372F7664}"/>
              </a:ext>
            </a:extLst>
          </p:cNvPr>
          <p:cNvSpPr>
            <a:spLocks noGrp="1"/>
          </p:cNvSpPr>
          <p:nvPr>
            <p:ph type="body" sz="quarter" idx="14"/>
          </p:nvPr>
        </p:nvSpPr>
        <p:spPr>
          <a:xfrm>
            <a:off x="467828" y="485747"/>
            <a:ext cx="1700721" cy="327751"/>
          </a:xfrm>
        </p:spPr>
        <p:txBody>
          <a:bodyPr/>
          <a:lstStyle/>
          <a:p>
            <a:r>
              <a:rPr lang="en-US">
                <a:latin typeface="Century Gothic"/>
              </a:rPr>
              <a:t>Architecture</a:t>
            </a:r>
          </a:p>
        </p:txBody>
      </p:sp>
      <p:sp>
        <p:nvSpPr>
          <p:cNvPr id="4" name="Title 3">
            <a:extLst>
              <a:ext uri="{FF2B5EF4-FFF2-40B4-BE49-F238E27FC236}">
                <a16:creationId xmlns:a16="http://schemas.microsoft.com/office/drawing/2014/main" id="{12C75A98-CA33-CDD1-EF34-0FB04F6ABDCC}"/>
              </a:ext>
            </a:extLst>
          </p:cNvPr>
          <p:cNvSpPr>
            <a:spLocks noGrp="1"/>
          </p:cNvSpPr>
          <p:nvPr>
            <p:ph type="ctrTitle"/>
          </p:nvPr>
        </p:nvSpPr>
        <p:spPr>
          <a:xfrm>
            <a:off x="467827" y="1042740"/>
            <a:ext cx="10703756" cy="453595"/>
          </a:xfrm>
        </p:spPr>
        <p:txBody>
          <a:bodyPr/>
          <a:lstStyle/>
          <a:p>
            <a:r>
              <a:rPr lang="en-CA">
                <a:latin typeface="+mn-lt"/>
              </a:rPr>
              <a:t>Risk Mitigation Strategy</a:t>
            </a:r>
            <a:endParaRPr lang="en-US"/>
          </a:p>
        </p:txBody>
      </p:sp>
      <p:sp>
        <p:nvSpPr>
          <p:cNvPr id="3" name="TextBox 2">
            <a:extLst>
              <a:ext uri="{FF2B5EF4-FFF2-40B4-BE49-F238E27FC236}">
                <a16:creationId xmlns:a16="http://schemas.microsoft.com/office/drawing/2014/main" id="{BBCE9833-FEAF-9E0C-97C1-7DE6A5BF6FCD}"/>
              </a:ext>
            </a:extLst>
          </p:cNvPr>
          <p:cNvSpPr txBox="1"/>
          <p:nvPr/>
        </p:nvSpPr>
        <p:spPr>
          <a:xfrm>
            <a:off x="556671" y="1871881"/>
            <a:ext cx="9861535"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a:t>Logic signoff from SMEs</a:t>
            </a:r>
          </a:p>
          <a:p>
            <a:pPr marL="285750" indent="-285750">
              <a:buFont typeface="Arial" panose="020B0604020202020204" pitchFamily="34" charset="0"/>
              <a:buChar char="•"/>
            </a:pPr>
            <a:r>
              <a:rPr lang="en-US" sz="1600" err="1"/>
              <a:t>Groundtruth</a:t>
            </a:r>
            <a:r>
              <a:rPr lang="en-US" sz="1600"/>
              <a:t> data to made available  in dev and prod, which will not just compare the SQL queries, but also the data output</a:t>
            </a:r>
          </a:p>
          <a:p>
            <a:pPr marL="285750" indent="-285750">
              <a:buFont typeface="Arial" panose="020B0604020202020204" pitchFamily="34" charset="0"/>
              <a:buChar char="•"/>
            </a:pPr>
            <a:r>
              <a:rPr lang="en-US" sz="1600"/>
              <a:t>Day 1 SME/ Business involvement </a:t>
            </a:r>
          </a:p>
          <a:p>
            <a:pPr marL="285750" indent="-285750">
              <a:buFont typeface="Arial" panose="020B0604020202020204" pitchFamily="34" charset="0"/>
              <a:buChar char="•"/>
            </a:pPr>
            <a:r>
              <a:rPr lang="en-US" sz="1600"/>
              <a:t>Weekly Demo’s / Requirement Grooming</a:t>
            </a:r>
          </a:p>
          <a:p>
            <a:pPr marL="285750" indent="-285750">
              <a:buFont typeface="Arial" panose="020B0604020202020204" pitchFamily="34" charset="0"/>
              <a:buChar char="•"/>
            </a:pPr>
            <a:r>
              <a:rPr lang="en-US" sz="1600"/>
              <a:t>Our Accuracy strategy of calculation will be as per data points. </a:t>
            </a:r>
          </a:p>
          <a:p>
            <a:pPr marL="285750" indent="-285750">
              <a:buFont typeface="Arial" panose="020B0604020202020204" pitchFamily="34" charset="0"/>
              <a:buChar char="•"/>
            </a:pPr>
            <a:r>
              <a:rPr lang="en-US" sz="1600" err="1"/>
              <a:t>PowerBI</a:t>
            </a:r>
            <a:r>
              <a:rPr lang="en-US" sz="1600"/>
              <a:t> data points can’t be source of truth until exact logic are shared with us. </a:t>
            </a:r>
          </a:p>
          <a:p>
            <a:pPr marL="285750" indent="-285750">
              <a:buFont typeface="Arial" panose="020B0604020202020204" pitchFamily="34" charset="0"/>
              <a:buChar char="•"/>
            </a:pPr>
            <a:r>
              <a:rPr lang="en-US" sz="1600"/>
              <a:t>We’ll show as is picture of data we are getting from EDP, no new dimension of metric to be introduced other than basic mathematical operations</a:t>
            </a:r>
          </a:p>
          <a:p>
            <a:pPr marL="285750" indent="-285750">
              <a:buFont typeface="Arial" panose="020B0604020202020204" pitchFamily="34" charset="0"/>
              <a:buChar char="•"/>
            </a:pPr>
            <a:r>
              <a:rPr lang="en-US" sz="1600"/>
              <a:t>Getting data directly from bronze Layer</a:t>
            </a:r>
          </a:p>
          <a:p>
            <a:pPr marL="285750" indent="-285750">
              <a:buFont typeface="Arial" panose="020B0604020202020204" pitchFamily="34" charset="0"/>
              <a:buChar char="•"/>
            </a:pPr>
            <a:r>
              <a:rPr lang="en-US" sz="1600"/>
              <a:t>We will be building the Semantic layer from scratch if we go ahead by approach 2. This will include provide business acumen, core SAP schema understanding and Agent to act as  a SME specialist </a:t>
            </a:r>
          </a:p>
          <a:p>
            <a:endParaRPr lang="en-US" sz="1600"/>
          </a:p>
        </p:txBody>
      </p:sp>
    </p:spTree>
    <p:extLst>
      <p:ext uri="{BB962C8B-B14F-4D97-AF65-F5344CB8AC3E}">
        <p14:creationId xmlns:p14="http://schemas.microsoft.com/office/powerpoint/2010/main" val="979198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45F98-F3BC-ECEE-38DD-13F7F12854D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1325417-19E2-C26C-E2BE-C518844E5056}"/>
              </a:ext>
            </a:extLst>
          </p:cNvPr>
          <p:cNvSpPr>
            <a:spLocks noGrp="1"/>
          </p:cNvSpPr>
          <p:nvPr>
            <p:ph type="body" sz="quarter" idx="14"/>
          </p:nvPr>
        </p:nvSpPr>
        <p:spPr>
          <a:xfrm>
            <a:off x="467828" y="485747"/>
            <a:ext cx="1700721" cy="327751"/>
          </a:xfrm>
        </p:spPr>
        <p:txBody>
          <a:bodyPr/>
          <a:lstStyle/>
          <a:p>
            <a:r>
              <a:rPr lang="en-US">
                <a:latin typeface="Century Gothic"/>
              </a:rPr>
              <a:t>Architecture</a:t>
            </a:r>
          </a:p>
        </p:txBody>
      </p:sp>
      <p:sp>
        <p:nvSpPr>
          <p:cNvPr id="4" name="Title 3">
            <a:extLst>
              <a:ext uri="{FF2B5EF4-FFF2-40B4-BE49-F238E27FC236}">
                <a16:creationId xmlns:a16="http://schemas.microsoft.com/office/drawing/2014/main" id="{142F9D6B-B3BF-8D77-E796-BA7459843FAD}"/>
              </a:ext>
            </a:extLst>
          </p:cNvPr>
          <p:cNvSpPr>
            <a:spLocks noGrp="1"/>
          </p:cNvSpPr>
          <p:nvPr>
            <p:ph type="ctrTitle"/>
          </p:nvPr>
        </p:nvSpPr>
        <p:spPr>
          <a:xfrm>
            <a:off x="467827" y="1042740"/>
            <a:ext cx="10703756" cy="453595"/>
          </a:xfrm>
        </p:spPr>
        <p:txBody>
          <a:bodyPr/>
          <a:lstStyle/>
          <a:p>
            <a:r>
              <a:rPr lang="en-CA">
                <a:latin typeface="+mn-lt"/>
              </a:rPr>
              <a:t>Next Steps</a:t>
            </a:r>
            <a:endParaRPr lang="en-US"/>
          </a:p>
        </p:txBody>
      </p:sp>
      <p:sp>
        <p:nvSpPr>
          <p:cNvPr id="3" name="TextBox 2">
            <a:extLst>
              <a:ext uri="{FF2B5EF4-FFF2-40B4-BE49-F238E27FC236}">
                <a16:creationId xmlns:a16="http://schemas.microsoft.com/office/drawing/2014/main" id="{3162B08E-A205-5698-B22B-ADB23A1084C1}"/>
              </a:ext>
            </a:extLst>
          </p:cNvPr>
          <p:cNvSpPr txBox="1"/>
          <p:nvPr/>
        </p:nvSpPr>
        <p:spPr>
          <a:xfrm>
            <a:off x="562625" y="2124600"/>
            <a:ext cx="986153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a:t>Aligning Resource</a:t>
            </a:r>
          </a:p>
          <a:p>
            <a:pPr marL="285750" indent="-285750">
              <a:buFont typeface="Arial" panose="020B0604020202020204" pitchFamily="34" charset="0"/>
              <a:buChar char="•"/>
            </a:pPr>
            <a:r>
              <a:rPr lang="en-US" sz="1600"/>
              <a:t>Alignment of Approach</a:t>
            </a:r>
          </a:p>
          <a:p>
            <a:pPr marL="285750" indent="-285750">
              <a:buFont typeface="Arial" panose="020B0604020202020204" pitchFamily="34" charset="0"/>
              <a:buChar char="•"/>
            </a:pPr>
            <a:r>
              <a:rPr lang="en-US" sz="1600"/>
              <a:t>Access Request and Resolution</a:t>
            </a:r>
          </a:p>
          <a:p>
            <a:pPr marL="285750" indent="-285750">
              <a:buFont typeface="Arial" panose="020B0604020202020204" pitchFamily="34" charset="0"/>
              <a:buChar char="•"/>
            </a:pPr>
            <a:r>
              <a:rPr lang="en-US" sz="1600"/>
              <a:t>Any specific logic clarification and data discovery</a:t>
            </a:r>
          </a:p>
          <a:p>
            <a:pPr marL="285750" indent="-285750">
              <a:buFont typeface="Arial" panose="020B0604020202020204" pitchFamily="34" charset="0"/>
              <a:buChar char="•"/>
            </a:pPr>
            <a:r>
              <a:rPr lang="en-US" sz="1600"/>
              <a:t>Ground Truth Establishment</a:t>
            </a:r>
          </a:p>
          <a:p>
            <a:endParaRPr lang="en-US" sz="1600"/>
          </a:p>
        </p:txBody>
      </p:sp>
    </p:spTree>
    <p:extLst>
      <p:ext uri="{BB962C8B-B14F-4D97-AF65-F5344CB8AC3E}">
        <p14:creationId xmlns:p14="http://schemas.microsoft.com/office/powerpoint/2010/main" val="2377141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6A70D-A899-C999-400A-CA62D9C00507}"/>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A50415F-BC6F-4F3F-F14A-B74C533C707E}"/>
              </a:ext>
            </a:extLst>
          </p:cNvPr>
          <p:cNvSpPr>
            <a:spLocks noGrp="1"/>
          </p:cNvSpPr>
          <p:nvPr>
            <p:ph type="pic" sz="quarter" idx="14"/>
          </p:nvPr>
        </p:nvSpPr>
        <p:spPr/>
        <p:txBody>
          <a:bodyPr/>
          <a:lstStyle/>
          <a:p>
            <a:endParaRPr lang="en-IN"/>
          </a:p>
        </p:txBody>
      </p:sp>
      <p:sp>
        <p:nvSpPr>
          <p:cNvPr id="7" name="Title 6">
            <a:extLst>
              <a:ext uri="{FF2B5EF4-FFF2-40B4-BE49-F238E27FC236}">
                <a16:creationId xmlns:a16="http://schemas.microsoft.com/office/drawing/2014/main" id="{387638E3-88E0-F003-F994-0A4B54559D44}"/>
              </a:ext>
            </a:extLst>
          </p:cNvPr>
          <p:cNvSpPr>
            <a:spLocks noGrp="1"/>
          </p:cNvSpPr>
          <p:nvPr>
            <p:ph type="title"/>
          </p:nvPr>
        </p:nvSpPr>
        <p:spPr/>
        <p:txBody>
          <a:bodyPr/>
          <a:lstStyle/>
          <a:p>
            <a:r>
              <a:rPr lang="en-US"/>
              <a:t>Roadmap and timelines</a:t>
            </a:r>
            <a:endParaRPr lang="en-IN"/>
          </a:p>
        </p:txBody>
      </p:sp>
    </p:spTree>
    <p:extLst>
      <p:ext uri="{BB962C8B-B14F-4D97-AF65-F5344CB8AC3E}">
        <p14:creationId xmlns:p14="http://schemas.microsoft.com/office/powerpoint/2010/main" val="1104343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4129D-7488-231F-80F1-C46B3E825FF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8871410-176E-2407-41B6-AA9575784F37}"/>
              </a:ext>
            </a:extLst>
          </p:cNvPr>
          <p:cNvSpPr>
            <a:spLocks noGrp="1"/>
          </p:cNvSpPr>
          <p:nvPr>
            <p:ph type="body" sz="quarter" idx="14"/>
          </p:nvPr>
        </p:nvSpPr>
        <p:spPr>
          <a:xfrm>
            <a:off x="467828" y="485747"/>
            <a:ext cx="1358559" cy="327751"/>
          </a:xfrm>
        </p:spPr>
        <p:txBody>
          <a:bodyPr/>
          <a:lstStyle/>
          <a:p>
            <a:r>
              <a:rPr lang="en-US">
                <a:latin typeface="Century Gothic"/>
              </a:rPr>
              <a:t>roadmap</a:t>
            </a:r>
          </a:p>
        </p:txBody>
      </p:sp>
      <p:sp>
        <p:nvSpPr>
          <p:cNvPr id="4" name="Title 3">
            <a:extLst>
              <a:ext uri="{FF2B5EF4-FFF2-40B4-BE49-F238E27FC236}">
                <a16:creationId xmlns:a16="http://schemas.microsoft.com/office/drawing/2014/main" id="{7B9DB05B-EFB4-D043-8BF0-ADCF4EAA1FE3}"/>
              </a:ext>
            </a:extLst>
          </p:cNvPr>
          <p:cNvSpPr>
            <a:spLocks noGrp="1"/>
          </p:cNvSpPr>
          <p:nvPr>
            <p:ph type="ctrTitle"/>
          </p:nvPr>
        </p:nvSpPr>
        <p:spPr>
          <a:xfrm>
            <a:off x="467827" y="1042740"/>
            <a:ext cx="10703756" cy="453595"/>
          </a:xfrm>
        </p:spPr>
        <p:txBody>
          <a:bodyPr/>
          <a:lstStyle/>
          <a:p>
            <a:r>
              <a:rPr lang="en-CA">
                <a:latin typeface="+mn-lt"/>
              </a:rPr>
              <a:t>Phased Delivery</a:t>
            </a:r>
            <a:endParaRPr lang="en-US"/>
          </a:p>
        </p:txBody>
      </p:sp>
      <p:graphicFrame>
        <p:nvGraphicFramePr>
          <p:cNvPr id="7" name="Table 6">
            <a:extLst>
              <a:ext uri="{FF2B5EF4-FFF2-40B4-BE49-F238E27FC236}">
                <a16:creationId xmlns:a16="http://schemas.microsoft.com/office/drawing/2014/main" id="{BBEB5494-F074-8CA6-861F-CFE20571DBE8}"/>
              </a:ext>
            </a:extLst>
          </p:cNvPr>
          <p:cNvGraphicFramePr>
            <a:graphicFrameLocks noGrp="1"/>
          </p:cNvGraphicFramePr>
          <p:nvPr>
            <p:extLst>
              <p:ext uri="{D42A27DB-BD31-4B8C-83A1-F6EECF244321}">
                <p14:modId xmlns:p14="http://schemas.microsoft.com/office/powerpoint/2010/main" val="3980551175"/>
              </p:ext>
            </p:extLst>
          </p:nvPr>
        </p:nvGraphicFramePr>
        <p:xfrm>
          <a:off x="182880" y="1736020"/>
          <a:ext cx="11567159" cy="4158558"/>
        </p:xfrm>
        <a:graphic>
          <a:graphicData uri="http://schemas.openxmlformats.org/drawingml/2006/table">
            <a:tbl>
              <a:tblPr firstRow="1" bandRow="1">
                <a:tableStyleId>{5C22544A-7EE6-4342-B048-85BDC9FD1C3A}</a:tableStyleId>
              </a:tblPr>
              <a:tblGrid>
                <a:gridCol w="586223">
                  <a:extLst>
                    <a:ext uri="{9D8B030D-6E8A-4147-A177-3AD203B41FA5}">
                      <a16:colId xmlns:a16="http://schemas.microsoft.com/office/drawing/2014/main" val="941326294"/>
                    </a:ext>
                  </a:extLst>
                </a:gridCol>
                <a:gridCol w="3235969">
                  <a:extLst>
                    <a:ext uri="{9D8B030D-6E8A-4147-A177-3AD203B41FA5}">
                      <a16:colId xmlns:a16="http://schemas.microsoft.com/office/drawing/2014/main" val="860848972"/>
                    </a:ext>
                  </a:extLst>
                </a:gridCol>
                <a:gridCol w="6711696">
                  <a:extLst>
                    <a:ext uri="{9D8B030D-6E8A-4147-A177-3AD203B41FA5}">
                      <a16:colId xmlns:a16="http://schemas.microsoft.com/office/drawing/2014/main" val="1012394070"/>
                    </a:ext>
                  </a:extLst>
                </a:gridCol>
                <a:gridCol w="1033271">
                  <a:extLst>
                    <a:ext uri="{9D8B030D-6E8A-4147-A177-3AD203B41FA5}">
                      <a16:colId xmlns:a16="http://schemas.microsoft.com/office/drawing/2014/main" val="1224148305"/>
                    </a:ext>
                  </a:extLst>
                </a:gridCol>
              </a:tblGrid>
              <a:tr h="370840">
                <a:tc>
                  <a:txBody>
                    <a:bodyPr/>
                    <a:lstStyle/>
                    <a:p>
                      <a:pPr algn="ctr" fontAlgn="b">
                        <a:buNone/>
                      </a:pPr>
                      <a:r>
                        <a:rPr lang="en-IN" sz="1400" b="1" i="0" u="none" strike="noStrike">
                          <a:solidFill>
                            <a:schemeClr val="bg1"/>
                          </a:solidFill>
                          <a:effectLst/>
                          <a:latin typeface="Aptos Narrow"/>
                        </a:rPr>
                        <a:t>Sno</a:t>
                      </a:r>
                    </a:p>
                  </a:txBody>
                  <a:tcPr marL="6350" marR="6350" marT="6350" marB="0" anchor="b"/>
                </a:tc>
                <a:tc>
                  <a:txBody>
                    <a:bodyPr/>
                    <a:lstStyle/>
                    <a:p>
                      <a:pPr algn="ctr" fontAlgn="b">
                        <a:buNone/>
                      </a:pPr>
                      <a:r>
                        <a:rPr lang="en-IN" sz="1400" b="1" i="0" u="none" strike="noStrike">
                          <a:solidFill>
                            <a:schemeClr val="bg1"/>
                          </a:solidFill>
                          <a:effectLst/>
                          <a:latin typeface="Aptos Narrow"/>
                        </a:rPr>
                        <a:t>Phase</a:t>
                      </a:r>
                    </a:p>
                  </a:txBody>
                  <a:tcPr marL="6350" marR="6350" marT="6350" marB="0" anchor="b"/>
                </a:tc>
                <a:tc>
                  <a:txBody>
                    <a:bodyPr/>
                    <a:lstStyle/>
                    <a:p>
                      <a:pPr algn="ctr" fontAlgn="b">
                        <a:buNone/>
                      </a:pPr>
                      <a:r>
                        <a:rPr lang="en-IN" sz="1400" b="1" i="0" u="none" strike="noStrike">
                          <a:solidFill>
                            <a:schemeClr val="bg1"/>
                          </a:solidFill>
                          <a:effectLst/>
                          <a:latin typeface="Aptos Narrow"/>
                        </a:rPr>
                        <a:t>Description</a:t>
                      </a:r>
                    </a:p>
                  </a:txBody>
                  <a:tcPr marL="6350" marR="6350" marT="6350" marB="0" anchor="b"/>
                </a:tc>
                <a:tc>
                  <a:txBody>
                    <a:bodyPr/>
                    <a:lstStyle/>
                    <a:p>
                      <a:pPr algn="ctr" fontAlgn="b">
                        <a:buNone/>
                      </a:pPr>
                      <a:r>
                        <a:rPr lang="en-IN" sz="1400" b="1" i="0" u="none" strike="noStrike">
                          <a:solidFill>
                            <a:schemeClr val="bg1"/>
                          </a:solidFill>
                          <a:effectLst/>
                          <a:latin typeface="Aptos Narrow"/>
                        </a:rPr>
                        <a:t>Weeks</a:t>
                      </a:r>
                    </a:p>
                  </a:txBody>
                  <a:tcPr marL="6350" marR="6350" marT="6350" marB="0" anchor="b"/>
                </a:tc>
                <a:extLst>
                  <a:ext uri="{0D108BD9-81ED-4DB2-BD59-A6C34878D82A}">
                    <a16:rowId xmlns:a16="http://schemas.microsoft.com/office/drawing/2014/main" val="1889851928"/>
                  </a:ext>
                </a:extLst>
              </a:tr>
              <a:tr h="370840">
                <a:tc>
                  <a:txBody>
                    <a:bodyPr/>
                    <a:lstStyle/>
                    <a:p>
                      <a:pPr algn="r" fontAlgn="b">
                        <a:buNone/>
                      </a:pPr>
                      <a:r>
                        <a:rPr lang="en-US" sz="1400" b="0" i="0" u="none" strike="noStrike">
                          <a:solidFill>
                            <a:srgbClr val="000000"/>
                          </a:solidFill>
                          <a:effectLst/>
                          <a:latin typeface="Aptos Narrow" panose="020B0004020202020204" pitchFamily="34" charset="0"/>
                        </a:rPr>
                        <a:t>1</a:t>
                      </a:r>
                      <a:endParaRPr lang="en-IN"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US" sz="1400" b="0" i="0" u="none" strike="noStrike">
                          <a:solidFill>
                            <a:srgbClr val="000000"/>
                          </a:solidFill>
                          <a:effectLst/>
                          <a:latin typeface="Aptos Narrow" panose="020B0004020202020204" pitchFamily="34" charset="0"/>
                        </a:rPr>
                        <a:t>Data validation and understanding</a:t>
                      </a:r>
                      <a:endParaRPr lang="en-IN"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US" sz="1400" b="0" i="0" u="none" strike="noStrike">
                          <a:solidFill>
                            <a:srgbClr val="000000"/>
                          </a:solidFill>
                          <a:effectLst/>
                          <a:latin typeface="Aptos Narrow" panose="020B0004020202020204" pitchFamily="34" charset="0"/>
                        </a:rPr>
                        <a:t>Understand the underlying data and what will be required to answer business questions</a:t>
                      </a:r>
                    </a:p>
                  </a:txBody>
                  <a:tcPr marL="6350" marR="6350" marT="6350" marB="0" anchor="b"/>
                </a:tc>
                <a:tc>
                  <a:txBody>
                    <a:bodyPr/>
                    <a:lstStyle/>
                    <a:p>
                      <a:pPr algn="ctr" fontAlgn="b">
                        <a:buNone/>
                      </a:pPr>
                      <a:r>
                        <a:rPr lang="en-US" sz="1400" b="0" i="0" u="none" strike="noStrike">
                          <a:solidFill>
                            <a:srgbClr val="000000"/>
                          </a:solidFill>
                          <a:effectLst/>
                          <a:latin typeface="Aptos Narrow" panose="020B0004020202020204" pitchFamily="34" charset="0"/>
                        </a:rPr>
                        <a:t>1</a:t>
                      </a:r>
                      <a:endParaRPr lang="en-IN"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95408508"/>
                  </a:ext>
                </a:extLst>
              </a:tr>
              <a:tr h="370840">
                <a:tc>
                  <a:txBody>
                    <a:bodyPr/>
                    <a:lstStyle/>
                    <a:p>
                      <a:pPr algn="r" fontAlgn="b">
                        <a:buNone/>
                      </a:pPr>
                      <a:r>
                        <a:rPr lang="en-US" sz="1400" b="0" i="0" u="none" strike="noStrike">
                          <a:solidFill>
                            <a:srgbClr val="000000"/>
                          </a:solidFill>
                          <a:effectLst/>
                          <a:latin typeface="Aptos Narrow" panose="020B0004020202020204" pitchFamily="34" charset="0"/>
                        </a:rPr>
                        <a:t>2</a:t>
                      </a:r>
                      <a:endParaRPr lang="en-IN"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b="0" i="0" u="none" strike="noStrike">
                          <a:solidFill>
                            <a:srgbClr val="000000"/>
                          </a:solidFill>
                          <a:effectLst/>
                          <a:latin typeface="Aptos Narrow" panose="020B0004020202020204" pitchFamily="34" charset="0"/>
                        </a:rPr>
                        <a:t>Foundation &amp; Identity</a:t>
                      </a:r>
                    </a:p>
                  </a:txBody>
                  <a:tcPr marL="6350" marR="6350" marT="6350" marB="0" anchor="b"/>
                </a:tc>
                <a:tc>
                  <a:txBody>
                    <a:bodyPr/>
                    <a:lstStyle/>
                    <a:p>
                      <a:pPr algn="l" fontAlgn="b">
                        <a:buNone/>
                      </a:pPr>
                      <a:r>
                        <a:rPr lang="en-US" sz="1400" b="0" i="0" u="none" strike="noStrike">
                          <a:solidFill>
                            <a:srgbClr val="000000"/>
                          </a:solidFill>
                          <a:effectLst/>
                          <a:latin typeface="Aptos Narrow" panose="020B0004020202020204" pitchFamily="34" charset="0"/>
                        </a:rPr>
                        <a:t>Security set up, environment set up, build reference data within Azure environment</a:t>
                      </a:r>
                    </a:p>
                  </a:txBody>
                  <a:tcPr marL="6350" marR="6350" marT="6350" marB="0" anchor="b"/>
                </a:tc>
                <a:tc>
                  <a:txBody>
                    <a:bodyPr/>
                    <a:lstStyle/>
                    <a:p>
                      <a:pPr algn="ctr" fontAlgn="b">
                        <a:buNone/>
                      </a:pPr>
                      <a:r>
                        <a:rPr lang="en-US" sz="1400" b="0" i="0" u="none" strike="noStrike">
                          <a:solidFill>
                            <a:srgbClr val="000000"/>
                          </a:solidFill>
                          <a:effectLst/>
                          <a:latin typeface="Aptos Narrow" panose="020B0004020202020204" pitchFamily="34" charset="0"/>
                        </a:rPr>
                        <a:t>2</a:t>
                      </a:r>
                      <a:endParaRPr lang="en-IN"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180615148"/>
                  </a:ext>
                </a:extLst>
              </a:tr>
              <a:tr h="387928">
                <a:tc>
                  <a:txBody>
                    <a:bodyPr/>
                    <a:lstStyle/>
                    <a:p>
                      <a:pPr algn="r" fontAlgn="b">
                        <a:buNone/>
                      </a:pPr>
                      <a:r>
                        <a:rPr lang="en-US" sz="1400" b="0" i="0" u="none" strike="noStrike">
                          <a:solidFill>
                            <a:srgbClr val="000000"/>
                          </a:solidFill>
                          <a:effectLst/>
                          <a:latin typeface="Aptos Narrow" panose="020B0004020202020204" pitchFamily="34" charset="0"/>
                        </a:rPr>
                        <a:t>3</a:t>
                      </a:r>
                      <a:endParaRPr lang="en-IN"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US" sz="1400" b="0" i="0" u="none" strike="noStrike">
                          <a:solidFill>
                            <a:srgbClr val="000000"/>
                          </a:solidFill>
                          <a:effectLst/>
                          <a:latin typeface="Aptos Narrow" panose="020B0004020202020204" pitchFamily="34" charset="0"/>
                        </a:rPr>
                        <a:t>Orchestration and intelligent agent creation</a:t>
                      </a:r>
                    </a:p>
                  </a:txBody>
                  <a:tcPr marL="6350" marR="6350" marT="6350" marB="0" anchor="b"/>
                </a:tc>
                <a:tc>
                  <a:txBody>
                    <a:bodyPr/>
                    <a:lstStyle/>
                    <a:p>
                      <a:pPr algn="l" fontAlgn="b">
                        <a:buNone/>
                      </a:pPr>
                      <a:r>
                        <a:rPr lang="en-IN" sz="1400" b="0" i="0" u="none" strike="noStrike">
                          <a:solidFill>
                            <a:srgbClr val="000000"/>
                          </a:solidFill>
                          <a:effectLst/>
                          <a:latin typeface="Aptos Narrow" panose="020B0004020202020204" pitchFamily="34" charset="0"/>
                        </a:rPr>
                        <a:t>Intent identification, information extraction, logic engine, create agents with specific Entra ID</a:t>
                      </a:r>
                    </a:p>
                  </a:txBody>
                  <a:tcPr marL="6350" marR="6350" marT="6350" marB="0" anchor="b"/>
                </a:tc>
                <a:tc>
                  <a:txBody>
                    <a:bodyPr/>
                    <a:lstStyle/>
                    <a:p>
                      <a:pPr algn="ctr" fontAlgn="b">
                        <a:buNone/>
                      </a:pPr>
                      <a:r>
                        <a:rPr lang="en-US" sz="1400" b="0" i="0" u="none" strike="noStrike">
                          <a:solidFill>
                            <a:srgbClr val="000000"/>
                          </a:solidFill>
                          <a:effectLst/>
                          <a:latin typeface="Aptos Narrow" panose="020B0004020202020204" pitchFamily="34" charset="0"/>
                        </a:rPr>
                        <a:t>2</a:t>
                      </a:r>
                      <a:endParaRPr lang="en-IN"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624512055"/>
                  </a:ext>
                </a:extLst>
              </a:tr>
              <a:tr h="370840">
                <a:tc>
                  <a:txBody>
                    <a:bodyPr/>
                    <a:lstStyle/>
                    <a:p>
                      <a:pPr algn="r" fontAlgn="b">
                        <a:buNone/>
                      </a:pPr>
                      <a:r>
                        <a:rPr lang="en-US" sz="1400" b="0" i="0" u="none" strike="noStrike">
                          <a:solidFill>
                            <a:srgbClr val="000000"/>
                          </a:solidFill>
                          <a:effectLst/>
                          <a:latin typeface="Aptos Narrow" panose="020B0004020202020204" pitchFamily="34" charset="0"/>
                        </a:rPr>
                        <a:t>4</a:t>
                      </a:r>
                      <a:endParaRPr lang="en-IN"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b="0" i="0" u="none" strike="noStrike">
                          <a:solidFill>
                            <a:srgbClr val="000000"/>
                          </a:solidFill>
                          <a:effectLst/>
                          <a:latin typeface="Aptos Narrow" panose="020B0004020202020204" pitchFamily="34" charset="0"/>
                        </a:rPr>
                        <a:t>SAP tooling</a:t>
                      </a:r>
                    </a:p>
                  </a:txBody>
                  <a:tcPr marL="6350" marR="6350" marT="6350" marB="0" anchor="b"/>
                </a:tc>
                <a:tc>
                  <a:txBody>
                    <a:bodyPr/>
                    <a:lstStyle/>
                    <a:p>
                      <a:pPr algn="l" fontAlgn="b">
                        <a:buNone/>
                      </a:pPr>
                      <a:r>
                        <a:rPr lang="en-IN" sz="1400" b="0" i="0" u="none" strike="noStrike">
                          <a:solidFill>
                            <a:srgbClr val="000000"/>
                          </a:solidFill>
                          <a:effectLst/>
                          <a:latin typeface="Aptos Narrow" panose="020B0004020202020204" pitchFamily="34" charset="0"/>
                        </a:rPr>
                        <a:t>Develop fetch functionality</a:t>
                      </a:r>
                    </a:p>
                  </a:txBody>
                  <a:tcPr marL="6350" marR="6350" marT="6350" marB="0" anchor="b"/>
                </a:tc>
                <a:tc>
                  <a:txBody>
                    <a:bodyPr/>
                    <a:lstStyle/>
                    <a:p>
                      <a:pPr algn="ctr" fontAlgn="b">
                        <a:buNone/>
                      </a:pPr>
                      <a:r>
                        <a:rPr lang="en-IN" sz="1400" b="0" i="0" u="none" strike="noStrike">
                          <a:solidFill>
                            <a:srgbClr val="000000"/>
                          </a:solidFill>
                          <a:effectLst/>
                          <a:latin typeface="Aptos Narrow" panose="020B0004020202020204" pitchFamily="34" charset="0"/>
                        </a:rPr>
                        <a:t>2</a:t>
                      </a:r>
                    </a:p>
                  </a:txBody>
                  <a:tcPr marL="6350" marR="6350" marT="6350" marB="0" anchor="b"/>
                </a:tc>
                <a:extLst>
                  <a:ext uri="{0D108BD9-81ED-4DB2-BD59-A6C34878D82A}">
                    <a16:rowId xmlns:a16="http://schemas.microsoft.com/office/drawing/2014/main" val="1717477837"/>
                  </a:ext>
                </a:extLst>
              </a:tr>
              <a:tr h="370840">
                <a:tc>
                  <a:txBody>
                    <a:bodyPr/>
                    <a:lstStyle/>
                    <a:p>
                      <a:pPr algn="r" fontAlgn="b">
                        <a:buNone/>
                      </a:pPr>
                      <a:r>
                        <a:rPr lang="en-US" sz="1400" b="0" i="0" u="none" strike="noStrike">
                          <a:solidFill>
                            <a:srgbClr val="000000"/>
                          </a:solidFill>
                          <a:effectLst/>
                          <a:latin typeface="Aptos Narrow" panose="020B0004020202020204" pitchFamily="34" charset="0"/>
                        </a:rPr>
                        <a:t>5</a:t>
                      </a:r>
                      <a:endParaRPr lang="en-IN"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b="0" i="0" u="none" strike="noStrike">
                          <a:solidFill>
                            <a:srgbClr val="000000"/>
                          </a:solidFill>
                          <a:effectLst/>
                          <a:latin typeface="Aptos Narrow" panose="020B0004020202020204" pitchFamily="34" charset="0"/>
                        </a:rPr>
                        <a:t>Frontend integration</a:t>
                      </a:r>
                    </a:p>
                  </a:txBody>
                  <a:tcPr marL="6350" marR="6350" marT="6350" marB="0" anchor="b"/>
                </a:tc>
                <a:tc>
                  <a:txBody>
                    <a:bodyPr/>
                    <a:lstStyle/>
                    <a:p>
                      <a:pPr algn="l" fontAlgn="b">
                        <a:buNone/>
                      </a:pPr>
                      <a:r>
                        <a:rPr lang="en-US" sz="1400" b="0" i="0" u="none" strike="noStrike">
                          <a:solidFill>
                            <a:srgbClr val="000000"/>
                          </a:solidFill>
                          <a:effectLst/>
                          <a:latin typeface="Aptos Narrow" panose="020B0004020202020204" pitchFamily="34" charset="0"/>
                        </a:rPr>
                        <a:t>Frontend development (React) &amp; middleware creation</a:t>
                      </a:r>
                    </a:p>
                  </a:txBody>
                  <a:tcPr marL="6350" marR="6350" marT="6350" marB="0" anchor="b"/>
                </a:tc>
                <a:tc>
                  <a:txBody>
                    <a:bodyPr/>
                    <a:lstStyle/>
                    <a:p>
                      <a:pPr algn="ctr" fontAlgn="b">
                        <a:buNone/>
                      </a:pPr>
                      <a:r>
                        <a:rPr lang="en-IN" sz="1400" b="0" i="0" u="none" strike="noStrike">
                          <a:solidFill>
                            <a:srgbClr val="000000"/>
                          </a:solidFill>
                          <a:effectLst/>
                          <a:latin typeface="Aptos Narrow" panose="020B0004020202020204" pitchFamily="34" charset="0"/>
                        </a:rPr>
                        <a:t>2</a:t>
                      </a:r>
                    </a:p>
                  </a:txBody>
                  <a:tcPr marL="6350" marR="6350" marT="6350" marB="0" anchor="b"/>
                </a:tc>
                <a:extLst>
                  <a:ext uri="{0D108BD9-81ED-4DB2-BD59-A6C34878D82A}">
                    <a16:rowId xmlns:a16="http://schemas.microsoft.com/office/drawing/2014/main" val="2365980260"/>
                  </a:ext>
                </a:extLst>
              </a:tr>
              <a:tr h="370840">
                <a:tc>
                  <a:txBody>
                    <a:bodyPr/>
                    <a:lstStyle/>
                    <a:p>
                      <a:pPr algn="r" fontAlgn="b">
                        <a:buNone/>
                      </a:pPr>
                      <a:r>
                        <a:rPr lang="en-US" sz="1400" b="0" i="0" u="none" strike="noStrike">
                          <a:solidFill>
                            <a:srgbClr val="000000"/>
                          </a:solidFill>
                          <a:effectLst/>
                          <a:latin typeface="Aptos Narrow" panose="020B0004020202020204" pitchFamily="34" charset="0"/>
                        </a:rPr>
                        <a:t>6</a:t>
                      </a:r>
                      <a:endParaRPr lang="en-IN"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b="0" i="0" u="none" strike="noStrike">
                          <a:solidFill>
                            <a:srgbClr val="000000"/>
                          </a:solidFill>
                          <a:effectLst/>
                          <a:latin typeface="Aptos Narrow" panose="020B0004020202020204" pitchFamily="34" charset="0"/>
                        </a:rPr>
                        <a:t>Integration with observability</a:t>
                      </a:r>
                    </a:p>
                  </a:txBody>
                  <a:tcPr marL="6350" marR="6350" marT="6350" marB="0" anchor="b"/>
                </a:tc>
                <a:tc>
                  <a:txBody>
                    <a:bodyPr/>
                    <a:lstStyle/>
                    <a:p>
                      <a:pPr algn="l" fontAlgn="b">
                        <a:buNone/>
                      </a:pPr>
                      <a:r>
                        <a:rPr lang="en-US" sz="1400" b="0" i="0" u="none" strike="noStrike">
                          <a:solidFill>
                            <a:srgbClr val="000000"/>
                          </a:solidFill>
                          <a:effectLst/>
                          <a:latin typeface="Aptos Narrow" panose="020B0004020202020204" pitchFamily="34" charset="0"/>
                        </a:rPr>
                        <a:t>Integrate with observability solution using metadata to create capability for the evaluation metrics</a:t>
                      </a:r>
                    </a:p>
                  </a:txBody>
                  <a:tcPr marL="6350" marR="6350" marT="6350" marB="0" anchor="b"/>
                </a:tc>
                <a:tc>
                  <a:txBody>
                    <a:bodyPr/>
                    <a:lstStyle/>
                    <a:p>
                      <a:pPr algn="ctr" fontAlgn="b">
                        <a:buNone/>
                      </a:pPr>
                      <a:r>
                        <a:rPr lang="en-IN" sz="1400" b="0" i="0" u="none" strike="noStrike">
                          <a:solidFill>
                            <a:srgbClr val="000000"/>
                          </a:solidFill>
                          <a:effectLst/>
                          <a:latin typeface="Aptos Narrow" panose="020B0004020202020204" pitchFamily="34" charset="0"/>
                        </a:rPr>
                        <a:t>2</a:t>
                      </a:r>
                    </a:p>
                  </a:txBody>
                  <a:tcPr marL="6350" marR="6350" marT="6350" marB="0" anchor="b"/>
                </a:tc>
                <a:extLst>
                  <a:ext uri="{0D108BD9-81ED-4DB2-BD59-A6C34878D82A}">
                    <a16:rowId xmlns:a16="http://schemas.microsoft.com/office/drawing/2014/main" val="3860507466"/>
                  </a:ext>
                </a:extLst>
              </a:tr>
              <a:tr h="370840">
                <a:tc>
                  <a:txBody>
                    <a:bodyPr/>
                    <a:lstStyle/>
                    <a:p>
                      <a:pPr algn="r" fontAlgn="b">
                        <a:buNone/>
                      </a:pPr>
                      <a:r>
                        <a:rPr lang="en-US" sz="1400" b="0" i="0" u="none" strike="noStrike">
                          <a:solidFill>
                            <a:srgbClr val="000000"/>
                          </a:solidFill>
                          <a:effectLst/>
                          <a:latin typeface="Aptos Narrow" panose="020B0004020202020204" pitchFamily="34" charset="0"/>
                        </a:rPr>
                        <a:t>7</a:t>
                      </a:r>
                      <a:endParaRPr lang="en-IN"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b="0" i="0" u="none" strike="noStrike">
                          <a:solidFill>
                            <a:srgbClr val="000000"/>
                          </a:solidFill>
                          <a:effectLst/>
                          <a:latin typeface="Aptos Narrow" panose="020B0004020202020204" pitchFamily="34" charset="0"/>
                        </a:rPr>
                        <a:t>Admin panel utility</a:t>
                      </a:r>
                    </a:p>
                  </a:txBody>
                  <a:tcPr marL="6350" marR="6350" marT="6350" marB="0" anchor="b"/>
                </a:tc>
                <a:tc>
                  <a:txBody>
                    <a:bodyPr/>
                    <a:lstStyle/>
                    <a:p>
                      <a:pPr algn="l" fontAlgn="b">
                        <a:buNone/>
                      </a:pPr>
                      <a:r>
                        <a:rPr lang="en-US" sz="1400" b="0" i="0" u="none" strike="noStrike">
                          <a:solidFill>
                            <a:srgbClr val="000000"/>
                          </a:solidFill>
                          <a:effectLst/>
                          <a:latin typeface="Aptos Narrow" panose="020B0004020202020204" pitchFamily="34" charset="0"/>
                        </a:rPr>
                        <a:t>Prompt and logic management, business configuration, observability</a:t>
                      </a:r>
                    </a:p>
                  </a:txBody>
                  <a:tcPr marL="6350" marR="6350" marT="6350" marB="0" anchor="b"/>
                </a:tc>
                <a:tc>
                  <a:txBody>
                    <a:bodyPr/>
                    <a:lstStyle/>
                    <a:p>
                      <a:pPr algn="ctr" fontAlgn="b">
                        <a:buNone/>
                      </a:pPr>
                      <a:r>
                        <a:rPr lang="en-IN" sz="1400" b="0" i="0" u="none" strike="noStrike">
                          <a:solidFill>
                            <a:srgbClr val="000000"/>
                          </a:solidFill>
                          <a:effectLst/>
                          <a:latin typeface="Aptos Narrow" panose="020B0004020202020204" pitchFamily="34" charset="0"/>
                        </a:rPr>
                        <a:t>2</a:t>
                      </a:r>
                    </a:p>
                  </a:txBody>
                  <a:tcPr marL="6350" marR="6350" marT="6350" marB="0" anchor="b"/>
                </a:tc>
                <a:extLst>
                  <a:ext uri="{0D108BD9-81ED-4DB2-BD59-A6C34878D82A}">
                    <a16:rowId xmlns:a16="http://schemas.microsoft.com/office/drawing/2014/main" val="2863815960"/>
                  </a:ext>
                </a:extLst>
              </a:tr>
              <a:tr h="370840">
                <a:tc>
                  <a:txBody>
                    <a:bodyPr/>
                    <a:lstStyle/>
                    <a:p>
                      <a:pPr algn="r" fontAlgn="b">
                        <a:buNone/>
                      </a:pPr>
                      <a:r>
                        <a:rPr lang="en-US" sz="1400" b="0" i="0" u="none" strike="noStrike">
                          <a:solidFill>
                            <a:srgbClr val="000000"/>
                          </a:solidFill>
                          <a:effectLst/>
                          <a:latin typeface="Aptos Narrow" panose="020B0004020202020204" pitchFamily="34" charset="0"/>
                        </a:rPr>
                        <a:t>8</a:t>
                      </a:r>
                      <a:endParaRPr lang="en-IN"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b="0" i="0" u="none" strike="noStrike">
                          <a:solidFill>
                            <a:srgbClr val="000000"/>
                          </a:solidFill>
                          <a:effectLst/>
                          <a:latin typeface="Aptos Narrow" panose="020B0004020202020204" pitchFamily="34" charset="0"/>
                        </a:rPr>
                        <a:t>Eval driven testing</a:t>
                      </a:r>
                    </a:p>
                  </a:txBody>
                  <a:tcPr marL="6350" marR="6350" marT="6350" marB="0" anchor="b"/>
                </a:tc>
                <a:tc>
                  <a:txBody>
                    <a:bodyPr/>
                    <a:lstStyle/>
                    <a:p>
                      <a:pPr algn="l" fontAlgn="b">
                        <a:buNone/>
                      </a:pPr>
                      <a:r>
                        <a:rPr lang="en-US" sz="1400" b="0" i="0" u="none" strike="noStrike">
                          <a:solidFill>
                            <a:srgbClr val="000000"/>
                          </a:solidFill>
                          <a:effectLst/>
                          <a:latin typeface="Aptos Narrow" panose="020B0004020202020204" pitchFamily="34" charset="0"/>
                        </a:rPr>
                        <a:t>Run historical queries to check for accuracy and hallucinations</a:t>
                      </a:r>
                    </a:p>
                  </a:txBody>
                  <a:tcPr marL="6350" marR="6350" marT="6350" marB="0" anchor="b"/>
                </a:tc>
                <a:tc>
                  <a:txBody>
                    <a:bodyPr/>
                    <a:lstStyle/>
                    <a:p>
                      <a:pPr algn="ctr" fontAlgn="b">
                        <a:buNone/>
                      </a:pPr>
                      <a:r>
                        <a:rPr lang="en-IN" sz="1400" b="0" i="0" u="none" strike="noStrike">
                          <a:solidFill>
                            <a:srgbClr val="000000"/>
                          </a:solidFill>
                          <a:effectLst/>
                          <a:latin typeface="Aptos Narrow" panose="020B0004020202020204" pitchFamily="34" charset="0"/>
                        </a:rPr>
                        <a:t>2</a:t>
                      </a:r>
                    </a:p>
                  </a:txBody>
                  <a:tcPr marL="6350" marR="6350" marT="6350" marB="0" anchor="b"/>
                </a:tc>
                <a:extLst>
                  <a:ext uri="{0D108BD9-81ED-4DB2-BD59-A6C34878D82A}">
                    <a16:rowId xmlns:a16="http://schemas.microsoft.com/office/drawing/2014/main" val="4072124351"/>
                  </a:ext>
                </a:extLst>
              </a:tr>
              <a:tr h="370840">
                <a:tc>
                  <a:txBody>
                    <a:bodyPr/>
                    <a:lstStyle/>
                    <a:p>
                      <a:pPr algn="r" fontAlgn="b">
                        <a:buNone/>
                      </a:pPr>
                      <a:r>
                        <a:rPr lang="en-US" sz="1400" b="0" i="0" u="none" strike="noStrike">
                          <a:solidFill>
                            <a:srgbClr val="000000"/>
                          </a:solidFill>
                          <a:effectLst/>
                          <a:latin typeface="Aptos Narrow" panose="020B0004020202020204" pitchFamily="34" charset="0"/>
                        </a:rPr>
                        <a:t>9</a:t>
                      </a:r>
                      <a:endParaRPr lang="en-IN"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b="0" i="0" u="none" strike="noStrike">
                          <a:solidFill>
                            <a:srgbClr val="000000"/>
                          </a:solidFill>
                          <a:effectLst/>
                          <a:latin typeface="Aptos Narrow" panose="020B0004020202020204" pitchFamily="34" charset="0"/>
                        </a:rPr>
                        <a:t>UAT Testing</a:t>
                      </a:r>
                    </a:p>
                  </a:txBody>
                  <a:tcPr marL="6350" marR="6350" marT="6350" marB="0" anchor="b"/>
                </a:tc>
                <a:tc>
                  <a:txBody>
                    <a:bodyPr/>
                    <a:lstStyle/>
                    <a:p>
                      <a:pPr algn="l" fontAlgn="b">
                        <a:buNone/>
                      </a:pPr>
                      <a:r>
                        <a:rPr lang="en-IN" sz="1400" b="0" i="0" u="none" strike="noStrike">
                          <a:solidFill>
                            <a:srgbClr val="000000"/>
                          </a:solidFill>
                          <a:effectLst/>
                          <a:latin typeface="Aptos Narrow" panose="020B0004020202020204" pitchFamily="34" charset="0"/>
                        </a:rPr>
                        <a:t>Testing with CS </a:t>
                      </a:r>
                    </a:p>
                  </a:txBody>
                  <a:tcPr marL="6350" marR="6350" marT="6350" marB="0" anchor="b"/>
                </a:tc>
                <a:tc>
                  <a:txBody>
                    <a:bodyPr/>
                    <a:lstStyle/>
                    <a:p>
                      <a:pPr algn="ctr" fontAlgn="b">
                        <a:buNone/>
                      </a:pPr>
                      <a:r>
                        <a:rPr lang="en-IN" sz="1400" b="0" i="0" u="none" strike="noStrike">
                          <a:solidFill>
                            <a:srgbClr val="000000"/>
                          </a:solidFill>
                          <a:effectLst/>
                          <a:latin typeface="Aptos Narrow" panose="020B0004020202020204" pitchFamily="34" charset="0"/>
                        </a:rPr>
                        <a:t>2</a:t>
                      </a:r>
                    </a:p>
                  </a:txBody>
                  <a:tcPr marL="6350" marR="6350" marT="6350" marB="0" anchor="b"/>
                </a:tc>
                <a:extLst>
                  <a:ext uri="{0D108BD9-81ED-4DB2-BD59-A6C34878D82A}">
                    <a16:rowId xmlns:a16="http://schemas.microsoft.com/office/drawing/2014/main" val="1283739736"/>
                  </a:ext>
                </a:extLst>
              </a:tr>
              <a:tr h="370840">
                <a:tc gridSpan="3">
                  <a:txBody>
                    <a:bodyPr/>
                    <a:lstStyle/>
                    <a:p>
                      <a:pPr algn="ctr" fontAlgn="b">
                        <a:buNone/>
                      </a:pPr>
                      <a:r>
                        <a:rPr lang="en-US" sz="1400" b="1" i="0" u="none" strike="noStrike">
                          <a:solidFill>
                            <a:srgbClr val="000000"/>
                          </a:solidFill>
                          <a:effectLst/>
                          <a:latin typeface="Aptos Narrow" panose="020B0004020202020204" pitchFamily="34" charset="0"/>
                        </a:rPr>
                        <a:t>Total</a:t>
                      </a:r>
                      <a:endParaRPr lang="en-IN" sz="1400" b="1" i="0" u="none" strike="noStrike">
                        <a:solidFill>
                          <a:srgbClr val="000000"/>
                        </a:solidFill>
                        <a:effectLst/>
                        <a:latin typeface="Aptos Narrow" panose="020B0004020202020204" pitchFamily="34" charset="0"/>
                      </a:endParaRPr>
                    </a:p>
                  </a:txBody>
                  <a:tcPr marL="6350" marR="6350" marT="6350" marB="0" anchor="b"/>
                </a:tc>
                <a:tc hMerge="1">
                  <a:txBody>
                    <a:bodyPr/>
                    <a:lstStyle/>
                    <a:p>
                      <a:pPr algn="l" fontAlgn="b">
                        <a:buNone/>
                      </a:pPr>
                      <a:endParaRPr lang="en-IN" sz="1400" b="0" i="0" u="none" strike="noStrike">
                        <a:solidFill>
                          <a:srgbClr val="000000"/>
                        </a:solidFill>
                        <a:effectLst/>
                        <a:latin typeface="Aptos Narrow" panose="020B0004020202020204" pitchFamily="34" charset="0"/>
                      </a:endParaRPr>
                    </a:p>
                  </a:txBody>
                  <a:tcPr marL="6350" marR="6350" marT="6350" marB="0" anchor="b"/>
                </a:tc>
                <a:tc hMerge="1">
                  <a:txBody>
                    <a:bodyPr/>
                    <a:lstStyle/>
                    <a:p>
                      <a:pPr algn="l" fontAlgn="b">
                        <a:buNone/>
                      </a:pPr>
                      <a:endParaRPr lang="en-IN"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1400" b="1" i="0" u="none" strike="noStrike">
                          <a:solidFill>
                            <a:srgbClr val="000000"/>
                          </a:solidFill>
                          <a:effectLst/>
                          <a:latin typeface="Aptos Narrow" panose="020B0004020202020204" pitchFamily="34" charset="0"/>
                        </a:rPr>
                        <a:t>17</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793045523"/>
                  </a:ext>
                </a:extLst>
              </a:tr>
            </a:tbl>
          </a:graphicData>
        </a:graphic>
      </p:graphicFrame>
    </p:spTree>
    <p:extLst>
      <p:ext uri="{BB962C8B-B14F-4D97-AF65-F5344CB8AC3E}">
        <p14:creationId xmlns:p14="http://schemas.microsoft.com/office/powerpoint/2010/main" val="3662913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C341C-9818-583F-6BE1-414411340E0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F999481-80C7-5796-6C3B-35716BF516AC}"/>
              </a:ext>
            </a:extLst>
          </p:cNvPr>
          <p:cNvSpPr>
            <a:spLocks noGrp="1"/>
          </p:cNvSpPr>
          <p:nvPr>
            <p:ph type="body" sz="quarter" idx="14"/>
          </p:nvPr>
        </p:nvSpPr>
        <p:spPr>
          <a:xfrm>
            <a:off x="467828" y="485747"/>
            <a:ext cx="1358559" cy="327751"/>
          </a:xfrm>
        </p:spPr>
        <p:txBody>
          <a:bodyPr/>
          <a:lstStyle/>
          <a:p>
            <a:r>
              <a:rPr lang="en-US">
                <a:latin typeface="Century Gothic"/>
              </a:rPr>
              <a:t>roadmap</a:t>
            </a:r>
          </a:p>
        </p:txBody>
      </p:sp>
      <p:sp>
        <p:nvSpPr>
          <p:cNvPr id="4" name="Title 3">
            <a:extLst>
              <a:ext uri="{FF2B5EF4-FFF2-40B4-BE49-F238E27FC236}">
                <a16:creationId xmlns:a16="http://schemas.microsoft.com/office/drawing/2014/main" id="{3CA1AD69-8B97-544D-B0AC-FFEC089AC5CC}"/>
              </a:ext>
            </a:extLst>
          </p:cNvPr>
          <p:cNvSpPr>
            <a:spLocks noGrp="1"/>
          </p:cNvSpPr>
          <p:nvPr>
            <p:ph type="ctrTitle"/>
          </p:nvPr>
        </p:nvSpPr>
        <p:spPr>
          <a:xfrm>
            <a:off x="467827" y="1042740"/>
            <a:ext cx="10703756" cy="453595"/>
          </a:xfrm>
        </p:spPr>
        <p:txBody>
          <a:bodyPr/>
          <a:lstStyle/>
          <a:p>
            <a:r>
              <a:rPr lang="en-CA">
                <a:latin typeface="+mn-lt"/>
              </a:rPr>
              <a:t>Project Timelines</a:t>
            </a:r>
            <a:endParaRPr lang="en-US"/>
          </a:p>
        </p:txBody>
      </p:sp>
      <p:graphicFrame>
        <p:nvGraphicFramePr>
          <p:cNvPr id="8" name="Table 7">
            <a:extLst>
              <a:ext uri="{FF2B5EF4-FFF2-40B4-BE49-F238E27FC236}">
                <a16:creationId xmlns:a16="http://schemas.microsoft.com/office/drawing/2014/main" id="{5156767E-81C7-E0E7-3697-9B7FECCCB907}"/>
              </a:ext>
            </a:extLst>
          </p:cNvPr>
          <p:cNvGraphicFramePr>
            <a:graphicFrameLocks noGrp="1"/>
          </p:cNvGraphicFramePr>
          <p:nvPr>
            <p:extLst>
              <p:ext uri="{D42A27DB-BD31-4B8C-83A1-F6EECF244321}">
                <p14:modId xmlns:p14="http://schemas.microsoft.com/office/powerpoint/2010/main" val="1895397920"/>
              </p:ext>
            </p:extLst>
          </p:nvPr>
        </p:nvGraphicFramePr>
        <p:xfrm>
          <a:off x="335281" y="1867068"/>
          <a:ext cx="11521438" cy="4605769"/>
        </p:xfrm>
        <a:graphic>
          <a:graphicData uri="http://schemas.openxmlformats.org/drawingml/2006/table">
            <a:tbl>
              <a:tblPr/>
              <a:tblGrid>
                <a:gridCol w="1455128">
                  <a:extLst>
                    <a:ext uri="{9D8B030D-6E8A-4147-A177-3AD203B41FA5}">
                      <a16:colId xmlns:a16="http://schemas.microsoft.com/office/drawing/2014/main" val="1006382654"/>
                    </a:ext>
                  </a:extLst>
                </a:gridCol>
                <a:gridCol w="2880359">
                  <a:extLst>
                    <a:ext uri="{9D8B030D-6E8A-4147-A177-3AD203B41FA5}">
                      <a16:colId xmlns:a16="http://schemas.microsoft.com/office/drawing/2014/main" val="2846568483"/>
                    </a:ext>
                  </a:extLst>
                </a:gridCol>
                <a:gridCol w="966764">
                  <a:extLst>
                    <a:ext uri="{9D8B030D-6E8A-4147-A177-3AD203B41FA5}">
                      <a16:colId xmlns:a16="http://schemas.microsoft.com/office/drawing/2014/main" val="906616389"/>
                    </a:ext>
                  </a:extLst>
                </a:gridCol>
                <a:gridCol w="478399">
                  <a:extLst>
                    <a:ext uri="{9D8B030D-6E8A-4147-A177-3AD203B41FA5}">
                      <a16:colId xmlns:a16="http://schemas.microsoft.com/office/drawing/2014/main" val="4205898814"/>
                    </a:ext>
                  </a:extLst>
                </a:gridCol>
                <a:gridCol w="478399">
                  <a:extLst>
                    <a:ext uri="{9D8B030D-6E8A-4147-A177-3AD203B41FA5}">
                      <a16:colId xmlns:a16="http://schemas.microsoft.com/office/drawing/2014/main" val="1405659483"/>
                    </a:ext>
                  </a:extLst>
                </a:gridCol>
                <a:gridCol w="478399">
                  <a:extLst>
                    <a:ext uri="{9D8B030D-6E8A-4147-A177-3AD203B41FA5}">
                      <a16:colId xmlns:a16="http://schemas.microsoft.com/office/drawing/2014/main" val="73204882"/>
                    </a:ext>
                  </a:extLst>
                </a:gridCol>
                <a:gridCol w="478399">
                  <a:extLst>
                    <a:ext uri="{9D8B030D-6E8A-4147-A177-3AD203B41FA5}">
                      <a16:colId xmlns:a16="http://schemas.microsoft.com/office/drawing/2014/main" val="871315142"/>
                    </a:ext>
                  </a:extLst>
                </a:gridCol>
                <a:gridCol w="478399">
                  <a:extLst>
                    <a:ext uri="{9D8B030D-6E8A-4147-A177-3AD203B41FA5}">
                      <a16:colId xmlns:a16="http://schemas.microsoft.com/office/drawing/2014/main" val="1499540266"/>
                    </a:ext>
                  </a:extLst>
                </a:gridCol>
                <a:gridCol w="478399">
                  <a:extLst>
                    <a:ext uri="{9D8B030D-6E8A-4147-A177-3AD203B41FA5}">
                      <a16:colId xmlns:a16="http://schemas.microsoft.com/office/drawing/2014/main" val="1813489841"/>
                    </a:ext>
                  </a:extLst>
                </a:gridCol>
                <a:gridCol w="478399">
                  <a:extLst>
                    <a:ext uri="{9D8B030D-6E8A-4147-A177-3AD203B41FA5}">
                      <a16:colId xmlns:a16="http://schemas.microsoft.com/office/drawing/2014/main" val="3027453205"/>
                    </a:ext>
                  </a:extLst>
                </a:gridCol>
                <a:gridCol w="478399">
                  <a:extLst>
                    <a:ext uri="{9D8B030D-6E8A-4147-A177-3AD203B41FA5}">
                      <a16:colId xmlns:a16="http://schemas.microsoft.com/office/drawing/2014/main" val="523516841"/>
                    </a:ext>
                  </a:extLst>
                </a:gridCol>
                <a:gridCol w="478399">
                  <a:extLst>
                    <a:ext uri="{9D8B030D-6E8A-4147-A177-3AD203B41FA5}">
                      <a16:colId xmlns:a16="http://schemas.microsoft.com/office/drawing/2014/main" val="540422049"/>
                    </a:ext>
                  </a:extLst>
                </a:gridCol>
                <a:gridCol w="478399">
                  <a:extLst>
                    <a:ext uri="{9D8B030D-6E8A-4147-A177-3AD203B41FA5}">
                      <a16:colId xmlns:a16="http://schemas.microsoft.com/office/drawing/2014/main" val="2178432678"/>
                    </a:ext>
                  </a:extLst>
                </a:gridCol>
                <a:gridCol w="478399">
                  <a:extLst>
                    <a:ext uri="{9D8B030D-6E8A-4147-A177-3AD203B41FA5}">
                      <a16:colId xmlns:a16="http://schemas.microsoft.com/office/drawing/2014/main" val="504420681"/>
                    </a:ext>
                  </a:extLst>
                </a:gridCol>
                <a:gridCol w="478399">
                  <a:extLst>
                    <a:ext uri="{9D8B030D-6E8A-4147-A177-3AD203B41FA5}">
                      <a16:colId xmlns:a16="http://schemas.microsoft.com/office/drawing/2014/main" val="52147087"/>
                    </a:ext>
                  </a:extLst>
                </a:gridCol>
                <a:gridCol w="478399">
                  <a:extLst>
                    <a:ext uri="{9D8B030D-6E8A-4147-A177-3AD203B41FA5}">
                      <a16:colId xmlns:a16="http://schemas.microsoft.com/office/drawing/2014/main" val="2256845999"/>
                    </a:ext>
                  </a:extLst>
                </a:gridCol>
              </a:tblGrid>
              <a:tr h="58639">
                <a:tc>
                  <a:txBody>
                    <a:bodyPr/>
                    <a:lstStyle/>
                    <a:p>
                      <a:pPr algn="ctr" fontAlgn="b">
                        <a:buNone/>
                      </a:pPr>
                      <a:r>
                        <a:rPr lang="en-IN" sz="1050" b="1" i="0" u="none" strike="noStrike">
                          <a:solidFill>
                            <a:srgbClr val="FFFFFF"/>
                          </a:solidFill>
                          <a:effectLst/>
                          <a:latin typeface="Aptos Narrow" panose="020B0004020202020204" pitchFamily="34" charset="0"/>
                        </a:rPr>
                        <a:t>Phase</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Description</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Weeks</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1</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2</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3</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4</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5</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6</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7</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8</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9</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10</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11</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12</a:t>
                      </a:r>
                    </a:p>
                  </a:txBody>
                  <a:tcPr marL="2055" marR="2055" marT="2055" marB="0" anchor="b">
                    <a:lnL>
                      <a:noFill/>
                    </a:lnL>
                    <a:lnR>
                      <a:noFill/>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tc>
                  <a:txBody>
                    <a:bodyPr/>
                    <a:lstStyle/>
                    <a:p>
                      <a:pPr algn="ctr" fontAlgn="b">
                        <a:buNone/>
                      </a:pPr>
                      <a:r>
                        <a:rPr lang="en-IN" sz="1050" b="1" i="0" u="none" strike="noStrike">
                          <a:solidFill>
                            <a:srgbClr val="FFFFFF"/>
                          </a:solidFill>
                          <a:effectLst/>
                          <a:latin typeface="Aptos Narrow" panose="020B0004020202020204" pitchFamily="34" charset="0"/>
                        </a:rPr>
                        <a:t>Wk 13</a:t>
                      </a:r>
                    </a:p>
                  </a:txBody>
                  <a:tcPr marL="2055" marR="2055" marT="2055" marB="0" anchor="b">
                    <a:lnL>
                      <a:noFill/>
                    </a:lnL>
                    <a:lnR w="6350" cap="flat" cmpd="sng" algn="ctr">
                      <a:solidFill>
                        <a:srgbClr val="4EA72E"/>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4EA72E"/>
                    </a:solidFill>
                  </a:tcPr>
                </a:tc>
                <a:extLst>
                  <a:ext uri="{0D108BD9-81ED-4DB2-BD59-A6C34878D82A}">
                    <a16:rowId xmlns:a16="http://schemas.microsoft.com/office/drawing/2014/main" val="2039103465"/>
                  </a:ext>
                </a:extLst>
              </a:tr>
              <a:tr h="332811">
                <a:tc>
                  <a:txBody>
                    <a:bodyPr/>
                    <a:lstStyle/>
                    <a:p>
                      <a:pPr algn="l" fontAlgn="b">
                        <a:buNone/>
                      </a:pPr>
                      <a:r>
                        <a:rPr lang="en-IN" sz="1050" b="0" i="0" u="none" strike="noStrike">
                          <a:solidFill>
                            <a:srgbClr val="000000"/>
                          </a:solidFill>
                          <a:effectLst/>
                          <a:latin typeface="Aptos Narrow" panose="020B0004020202020204" pitchFamily="34" charset="0"/>
                        </a:rPr>
                        <a:t>Data validation and understanding</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Understand the underlying data and what will be required to answer business questions</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2</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5425714"/>
                  </a:ext>
                </a:extLst>
              </a:tr>
              <a:tr h="221873">
                <a:tc>
                  <a:txBody>
                    <a:bodyPr/>
                    <a:lstStyle/>
                    <a:p>
                      <a:pPr algn="l" fontAlgn="b">
                        <a:buNone/>
                      </a:pPr>
                      <a:r>
                        <a:rPr lang="en-IN" sz="1050" b="0" i="0" u="none" strike="noStrike">
                          <a:solidFill>
                            <a:srgbClr val="000000"/>
                          </a:solidFill>
                          <a:effectLst/>
                          <a:latin typeface="Aptos Narrow" panose="020B0004020202020204" pitchFamily="34" charset="0"/>
                        </a:rPr>
                        <a:t>Foundation &amp; Identity</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Security set up, environment set up, build reference data within Azure environment</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2</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4EA72E"/>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7019104"/>
                  </a:ext>
                </a:extLst>
              </a:tr>
              <a:tr h="221873">
                <a:tc>
                  <a:txBody>
                    <a:bodyPr/>
                    <a:lstStyle/>
                    <a:p>
                      <a:pPr algn="l" fontAlgn="b">
                        <a:buNone/>
                      </a:pPr>
                      <a:r>
                        <a:rPr lang="en-IN" sz="1050" b="0" i="0" u="none" strike="noStrike">
                          <a:solidFill>
                            <a:srgbClr val="000000"/>
                          </a:solidFill>
                          <a:effectLst/>
                          <a:latin typeface="Aptos Narrow" panose="020B0004020202020204" pitchFamily="34" charset="0"/>
                        </a:rPr>
                        <a:t>Orchestration and intelligent agent creation</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Intent identification, information extraction, logic engine, create agents with specific Entra ID</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3</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205805"/>
                  </a:ext>
                </a:extLst>
              </a:tr>
              <a:tr h="499215">
                <a:tc>
                  <a:txBody>
                    <a:bodyPr/>
                    <a:lstStyle/>
                    <a:p>
                      <a:pPr algn="l" fontAlgn="b">
                        <a:buNone/>
                      </a:pPr>
                      <a:r>
                        <a:rPr lang="en-IN" sz="1050" b="0" i="0" u="none" strike="noStrike">
                          <a:solidFill>
                            <a:srgbClr val="000000"/>
                          </a:solidFill>
                          <a:effectLst/>
                          <a:latin typeface="Aptos Narrow" panose="020B0004020202020204" pitchFamily="34" charset="0"/>
                        </a:rPr>
                        <a:t>EDP tooling</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Develop fetch functionality</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4</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1668927"/>
                  </a:ext>
                </a:extLst>
              </a:tr>
              <a:tr h="332811">
                <a:tc>
                  <a:txBody>
                    <a:bodyPr/>
                    <a:lstStyle/>
                    <a:p>
                      <a:pPr algn="l" fontAlgn="b">
                        <a:buNone/>
                      </a:pPr>
                      <a:r>
                        <a:rPr lang="en-IN" sz="1050" b="0" i="0" u="none" strike="noStrike">
                          <a:solidFill>
                            <a:srgbClr val="000000"/>
                          </a:solidFill>
                          <a:effectLst/>
                          <a:latin typeface="Aptos Narrow" panose="020B0004020202020204" pitchFamily="34" charset="0"/>
                        </a:rPr>
                        <a:t>Frontend integration</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Frontend development (React) &amp; middleware creation</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3</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5467950"/>
                  </a:ext>
                </a:extLst>
              </a:tr>
              <a:tr h="499215">
                <a:tc>
                  <a:txBody>
                    <a:bodyPr/>
                    <a:lstStyle/>
                    <a:p>
                      <a:pPr algn="l" rtl="0" fontAlgn="b">
                        <a:buNone/>
                      </a:pPr>
                      <a:r>
                        <a:rPr lang="en-IN" sz="1050" b="0" i="0" u="none" strike="noStrike">
                          <a:solidFill>
                            <a:srgbClr val="000000"/>
                          </a:solidFill>
                          <a:effectLst/>
                          <a:latin typeface="Aptos Narrow" panose="020B0004020202020204" pitchFamily="34" charset="0"/>
                        </a:rPr>
                        <a:t>Pipeline Testing</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n-IN" sz="1050" b="0" i="0" u="none" strike="noStrike">
                          <a:solidFill>
                            <a:srgbClr val="000000"/>
                          </a:solidFill>
                          <a:effectLst/>
                          <a:latin typeface="Aptos Narrow" panose="020B0004020202020204" pitchFamily="34" charset="0"/>
                        </a:rPr>
                        <a:t>Test EDP  pipeline</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2</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95495"/>
                  </a:ext>
                </a:extLst>
              </a:tr>
              <a:tr h="277343">
                <a:tc>
                  <a:txBody>
                    <a:bodyPr/>
                    <a:lstStyle/>
                    <a:p>
                      <a:pPr algn="l" fontAlgn="b">
                        <a:buNone/>
                      </a:pPr>
                      <a:r>
                        <a:rPr lang="en-IN" sz="1050" b="0" i="0" u="none" strike="noStrike">
                          <a:solidFill>
                            <a:srgbClr val="000000"/>
                          </a:solidFill>
                          <a:effectLst/>
                          <a:latin typeface="Aptos Narrow" panose="020B0004020202020204" pitchFamily="34" charset="0"/>
                        </a:rPr>
                        <a:t>Integration with observability</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Integrate with observability tool using metadata to create observability capability for the evaluation metrics</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2</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2731256"/>
                  </a:ext>
                </a:extLst>
              </a:tr>
              <a:tr h="277343">
                <a:tc>
                  <a:txBody>
                    <a:bodyPr/>
                    <a:lstStyle/>
                    <a:p>
                      <a:pPr algn="l" fontAlgn="b">
                        <a:buNone/>
                      </a:pPr>
                      <a:r>
                        <a:rPr lang="en-IN" sz="1050" b="0" i="0" u="none" strike="noStrike">
                          <a:solidFill>
                            <a:srgbClr val="000000"/>
                          </a:solidFill>
                          <a:effectLst/>
                          <a:latin typeface="Aptos Narrow" panose="020B0004020202020204" pitchFamily="34" charset="0"/>
                        </a:rPr>
                        <a:t>Admin panel utility</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Prompt and logic management, business configuration, observability</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2</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2014681"/>
                  </a:ext>
                </a:extLst>
              </a:tr>
              <a:tr h="388279">
                <a:tc>
                  <a:txBody>
                    <a:bodyPr/>
                    <a:lstStyle/>
                    <a:p>
                      <a:pPr algn="l" fontAlgn="b">
                        <a:buNone/>
                      </a:pPr>
                      <a:r>
                        <a:rPr lang="en-IN" sz="1050" b="0" i="0" u="none" strike="noStrike">
                          <a:solidFill>
                            <a:srgbClr val="000000"/>
                          </a:solidFill>
                          <a:effectLst/>
                          <a:latin typeface="Aptos Narrow" panose="020B0004020202020204" pitchFamily="34" charset="0"/>
                        </a:rPr>
                        <a:t>Eval driven testing</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Run historical queries to check for accuracy and hallucinations</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2</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4499857"/>
                  </a:ext>
                </a:extLst>
              </a:tr>
              <a:tr h="388279">
                <a:tc>
                  <a:txBody>
                    <a:bodyPr/>
                    <a:lstStyle/>
                    <a:p>
                      <a:pPr algn="l" fontAlgn="b">
                        <a:buNone/>
                      </a:pPr>
                      <a:r>
                        <a:rPr lang="en-IN" sz="1050" b="0" i="0" u="none" strike="noStrike">
                          <a:solidFill>
                            <a:srgbClr val="000000"/>
                          </a:solidFill>
                          <a:effectLst/>
                          <a:latin typeface="Aptos Narrow" panose="020B0004020202020204" pitchFamily="34" charset="0"/>
                        </a:rPr>
                        <a:t>Deploymentt</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Deployment of the aplication on the Azure platform</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1</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3876722"/>
                  </a:ext>
                </a:extLst>
              </a:tr>
              <a:tr h="332811">
                <a:tc>
                  <a:txBody>
                    <a:bodyPr/>
                    <a:lstStyle/>
                    <a:p>
                      <a:pPr algn="l" fontAlgn="b">
                        <a:buNone/>
                      </a:pPr>
                      <a:r>
                        <a:rPr lang="en-IN" sz="1050" b="0" i="0" u="none" strike="noStrike">
                          <a:solidFill>
                            <a:srgbClr val="000000"/>
                          </a:solidFill>
                          <a:effectLst/>
                          <a:latin typeface="Aptos Narrow" panose="020B0004020202020204" pitchFamily="34" charset="0"/>
                        </a:rPr>
                        <a:t>UAT Testing</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Testing with CS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2</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2730532601"/>
                  </a:ext>
                </a:extLst>
              </a:tr>
              <a:tr h="221873">
                <a:tc>
                  <a:txBody>
                    <a:bodyPr/>
                    <a:lstStyle/>
                    <a:p>
                      <a:pPr algn="l" fontAlgn="b">
                        <a:buNone/>
                      </a:pPr>
                      <a:r>
                        <a:rPr lang="en-IN" sz="1050" b="0" i="0" u="none" strike="noStrike">
                          <a:solidFill>
                            <a:srgbClr val="000000"/>
                          </a:solidFill>
                          <a:effectLst/>
                          <a:latin typeface="Aptos Narrow" panose="020B0004020202020204" pitchFamily="34" charset="0"/>
                        </a:rPr>
                        <a:t>Live Preparation</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IN" sz="1050" b="0" i="0" u="none" strike="noStrike">
                          <a:solidFill>
                            <a:srgbClr val="000000"/>
                          </a:solidFill>
                          <a:effectLst/>
                          <a:latin typeface="Aptos Narrow" panose="020B0004020202020204" pitchFamily="34" charset="0"/>
                        </a:rPr>
                        <a:t>Soft Launch - Business Communication</a:t>
                      </a:r>
                    </a:p>
                  </a:txBody>
                  <a:tcPr marL="2055" marR="2055" marT="2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50" b="0" i="0" u="none" strike="noStrike">
                          <a:solidFill>
                            <a:srgbClr val="000000"/>
                          </a:solidFill>
                          <a:effectLst/>
                          <a:latin typeface="Aptos Narrow" panose="020B0004020202020204" pitchFamily="34" charset="0"/>
                        </a:rPr>
                        <a:t>2</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EA72E"/>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EA72E"/>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EA72E"/>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EA72E"/>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EA72E"/>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EA72E"/>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DAF2D0"/>
                    </a:solidFill>
                  </a:tcPr>
                </a:tc>
                <a:tc>
                  <a:txBody>
                    <a:bodyPr/>
                    <a:lstStyle/>
                    <a:p>
                      <a:pPr algn="l" fontAlgn="b">
                        <a:buNone/>
                      </a:pPr>
                      <a:r>
                        <a:rPr lang="en-IN" sz="1050" b="0" i="0" u="none" strike="noStrike">
                          <a:solidFill>
                            <a:srgbClr val="000000"/>
                          </a:solidFill>
                          <a:effectLst/>
                          <a:latin typeface="Aptos Narrow" panose="020B0004020202020204" pitchFamily="34" charset="0"/>
                        </a:rPr>
                        <a:t> </a:t>
                      </a:r>
                    </a:p>
                  </a:txBody>
                  <a:tcPr marL="2055" marR="2055" marT="205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4EA72E"/>
                      </a:solidFill>
                      <a:prstDash val="solid"/>
                      <a:round/>
                      <a:headEnd type="none" w="med" len="med"/>
                      <a:tailEnd type="none" w="med" len="med"/>
                    </a:lnB>
                    <a:solidFill>
                      <a:srgbClr val="DAF2D0"/>
                    </a:solidFill>
                  </a:tcPr>
                </a:tc>
                <a:extLst>
                  <a:ext uri="{0D108BD9-81ED-4DB2-BD59-A6C34878D82A}">
                    <a16:rowId xmlns:a16="http://schemas.microsoft.com/office/drawing/2014/main" val="930103845"/>
                  </a:ext>
                </a:extLst>
              </a:tr>
            </a:tbl>
          </a:graphicData>
        </a:graphic>
      </p:graphicFrame>
    </p:spTree>
    <p:extLst>
      <p:ext uri="{BB962C8B-B14F-4D97-AF65-F5344CB8AC3E}">
        <p14:creationId xmlns:p14="http://schemas.microsoft.com/office/powerpoint/2010/main" val="3299707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EEC92-60BA-A4DF-013F-7F7DF498D1DD}"/>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8A656DD6-AB95-DAAA-CFEA-DE9903BBA955}"/>
              </a:ext>
            </a:extLst>
          </p:cNvPr>
          <p:cNvSpPr>
            <a:spLocks noGrp="1"/>
          </p:cNvSpPr>
          <p:nvPr>
            <p:ph type="pic" sz="quarter" idx="14"/>
          </p:nvPr>
        </p:nvSpPr>
        <p:spPr/>
        <p:txBody>
          <a:bodyPr/>
          <a:lstStyle/>
          <a:p>
            <a:endParaRPr lang="en-IN"/>
          </a:p>
        </p:txBody>
      </p:sp>
      <p:sp>
        <p:nvSpPr>
          <p:cNvPr id="7" name="Title 6">
            <a:extLst>
              <a:ext uri="{FF2B5EF4-FFF2-40B4-BE49-F238E27FC236}">
                <a16:creationId xmlns:a16="http://schemas.microsoft.com/office/drawing/2014/main" id="{2CA3ED9E-6001-CF2D-8C4D-45C2194BF33E}"/>
              </a:ext>
            </a:extLst>
          </p:cNvPr>
          <p:cNvSpPr>
            <a:spLocks noGrp="1"/>
          </p:cNvSpPr>
          <p:nvPr>
            <p:ph type="title"/>
          </p:nvPr>
        </p:nvSpPr>
        <p:spPr/>
        <p:txBody>
          <a:bodyPr/>
          <a:lstStyle/>
          <a:p>
            <a:r>
              <a:rPr lang="en-US"/>
              <a:t>Roles &amp; Responsibilities</a:t>
            </a:r>
            <a:endParaRPr lang="en-IN"/>
          </a:p>
        </p:txBody>
      </p:sp>
    </p:spTree>
    <p:extLst>
      <p:ext uri="{BB962C8B-B14F-4D97-AF65-F5344CB8AC3E}">
        <p14:creationId xmlns:p14="http://schemas.microsoft.com/office/powerpoint/2010/main" val="2132087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2FBA8-2FB8-6999-FA4A-BC0AFAFEB93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305929B-81AC-C49E-B060-D95834DE34AE}"/>
              </a:ext>
            </a:extLst>
          </p:cNvPr>
          <p:cNvSpPr>
            <a:spLocks noGrp="1"/>
          </p:cNvSpPr>
          <p:nvPr>
            <p:ph type="body" sz="quarter" idx="14"/>
          </p:nvPr>
        </p:nvSpPr>
        <p:spPr>
          <a:xfrm>
            <a:off x="151526" y="-3083"/>
            <a:ext cx="4978452" cy="327751"/>
          </a:xfrm>
        </p:spPr>
        <p:txBody>
          <a:bodyPr/>
          <a:lstStyle/>
          <a:p>
            <a:r>
              <a:rPr lang="en-US">
                <a:latin typeface="Century Gothic"/>
              </a:rPr>
              <a:t>Roles &amp; responsibilities - Project vs Scrum Team</a:t>
            </a:r>
          </a:p>
        </p:txBody>
      </p:sp>
      <p:graphicFrame>
        <p:nvGraphicFramePr>
          <p:cNvPr id="5" name="Table 4">
            <a:extLst>
              <a:ext uri="{FF2B5EF4-FFF2-40B4-BE49-F238E27FC236}">
                <a16:creationId xmlns:a16="http://schemas.microsoft.com/office/drawing/2014/main" id="{73672353-842C-C3A6-15A8-F055BA8EF0A7}"/>
              </a:ext>
            </a:extLst>
          </p:cNvPr>
          <p:cNvGraphicFramePr>
            <a:graphicFrameLocks noGrp="1"/>
          </p:cNvGraphicFramePr>
          <p:nvPr>
            <p:extLst>
              <p:ext uri="{D42A27DB-BD31-4B8C-83A1-F6EECF244321}">
                <p14:modId xmlns:p14="http://schemas.microsoft.com/office/powerpoint/2010/main" val="3012760266"/>
              </p:ext>
            </p:extLst>
          </p:nvPr>
        </p:nvGraphicFramePr>
        <p:xfrm>
          <a:off x="58223" y="294116"/>
          <a:ext cx="11942835" cy="2887466"/>
        </p:xfrm>
        <a:graphic>
          <a:graphicData uri="http://schemas.openxmlformats.org/drawingml/2006/table">
            <a:tbl>
              <a:tblPr firstRow="1" bandRow="1">
                <a:tableStyleId>{5C22544A-7EE6-4342-B048-85BDC9FD1C3A}</a:tableStyleId>
              </a:tblPr>
              <a:tblGrid>
                <a:gridCol w="1841414">
                  <a:extLst>
                    <a:ext uri="{9D8B030D-6E8A-4147-A177-3AD203B41FA5}">
                      <a16:colId xmlns:a16="http://schemas.microsoft.com/office/drawing/2014/main" val="2728315724"/>
                    </a:ext>
                  </a:extLst>
                </a:gridCol>
                <a:gridCol w="1481301">
                  <a:extLst>
                    <a:ext uri="{9D8B030D-6E8A-4147-A177-3AD203B41FA5}">
                      <a16:colId xmlns:a16="http://schemas.microsoft.com/office/drawing/2014/main" val="1383088868"/>
                    </a:ext>
                  </a:extLst>
                </a:gridCol>
                <a:gridCol w="7310815">
                  <a:extLst>
                    <a:ext uri="{9D8B030D-6E8A-4147-A177-3AD203B41FA5}">
                      <a16:colId xmlns:a16="http://schemas.microsoft.com/office/drawing/2014/main" val="1012394070"/>
                    </a:ext>
                  </a:extLst>
                </a:gridCol>
                <a:gridCol w="1309305">
                  <a:extLst>
                    <a:ext uri="{9D8B030D-6E8A-4147-A177-3AD203B41FA5}">
                      <a16:colId xmlns:a16="http://schemas.microsoft.com/office/drawing/2014/main" val="3650270862"/>
                    </a:ext>
                  </a:extLst>
                </a:gridCol>
              </a:tblGrid>
              <a:tr h="228623">
                <a:tc>
                  <a:txBody>
                    <a:bodyPr/>
                    <a:lstStyle/>
                    <a:p>
                      <a:pPr lvl="0" algn="ctr">
                        <a:buNone/>
                      </a:pPr>
                      <a:r>
                        <a:rPr lang="en-IN" sz="1400" b="1" i="0" u="none" strike="noStrike">
                          <a:solidFill>
                            <a:schemeClr val="bg1"/>
                          </a:solidFill>
                          <a:effectLst/>
                          <a:latin typeface="Aptos Narrow"/>
                        </a:rPr>
                        <a:t>Role</a:t>
                      </a:r>
                      <a:endParaRPr lang="en-US">
                        <a:solidFill>
                          <a:schemeClr val="bg1"/>
                        </a:solidFill>
                      </a:endParaRPr>
                    </a:p>
                  </a:txBody>
                  <a:tcPr marL="6350" marR="6350" marT="6350" marB="0" anchor="ctr"/>
                </a:tc>
                <a:tc>
                  <a:txBody>
                    <a:bodyPr/>
                    <a:lstStyle/>
                    <a:p>
                      <a:pPr lvl="0" algn="ctr">
                        <a:buNone/>
                      </a:pPr>
                      <a:r>
                        <a:rPr lang="en-IN" sz="1400" b="1" i="0" u="none" strike="noStrike">
                          <a:solidFill>
                            <a:schemeClr val="bg1"/>
                          </a:solidFill>
                          <a:effectLst/>
                          <a:latin typeface="Aptos Narrow"/>
                        </a:rPr>
                        <a:t>Who</a:t>
                      </a:r>
                    </a:p>
                  </a:txBody>
                  <a:tcPr marL="6350" marR="6350" marT="6350" marB="0" anchor="ctr"/>
                </a:tc>
                <a:tc>
                  <a:txBody>
                    <a:bodyPr/>
                    <a:lstStyle/>
                    <a:p>
                      <a:pPr algn="ctr" fontAlgn="b">
                        <a:buNone/>
                      </a:pPr>
                      <a:r>
                        <a:rPr lang="en-IN" sz="1400" b="1" i="0" u="none" strike="noStrike">
                          <a:solidFill>
                            <a:schemeClr val="bg1"/>
                          </a:solidFill>
                          <a:effectLst/>
                          <a:latin typeface="Aptos Narrow" panose="020B0004020202020204" pitchFamily="34" charset="0"/>
                        </a:rPr>
                        <a:t>Description</a:t>
                      </a:r>
                    </a:p>
                  </a:txBody>
                  <a:tcPr marL="6350" marR="6350" marT="6350" marB="0" anchor="b"/>
                </a:tc>
                <a:tc>
                  <a:txBody>
                    <a:bodyPr/>
                    <a:lstStyle/>
                    <a:p>
                      <a:pPr algn="ctr" fontAlgn="b">
                        <a:buNone/>
                      </a:pPr>
                      <a:r>
                        <a:rPr lang="en-US" sz="1400" b="1" i="0" u="none" strike="noStrike">
                          <a:solidFill>
                            <a:schemeClr val="bg1"/>
                          </a:solidFill>
                          <a:effectLst/>
                          <a:latin typeface="Aptos Narrow" panose="020B0004020202020204" pitchFamily="34" charset="0"/>
                        </a:rPr>
                        <a:t>Allocation (%)</a:t>
                      </a:r>
                      <a:endParaRPr lang="en-IN" sz="1400" b="1" i="0" u="none" strike="noStrike">
                        <a:solidFill>
                          <a:schemeClr val="bg1"/>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889851928"/>
                  </a:ext>
                </a:extLst>
              </a:tr>
              <a:tr h="331503">
                <a:tc>
                  <a:txBody>
                    <a:bodyPr/>
                    <a:lstStyle/>
                    <a:p>
                      <a:pPr lvl="0" algn="l">
                        <a:buNone/>
                      </a:pPr>
                      <a:r>
                        <a:rPr lang="en-US" sz="1200" b="0" i="0" u="none" strike="noStrike">
                          <a:solidFill>
                            <a:srgbClr val="000000"/>
                          </a:solidFill>
                          <a:effectLst/>
                          <a:latin typeface="Aptos Narrow"/>
                        </a:rPr>
                        <a:t>Data Product Owner</a:t>
                      </a:r>
                      <a:endParaRPr lang="en-IN" sz="1200" b="0" i="0" u="none" strike="noStrike">
                        <a:solidFill>
                          <a:srgbClr val="000000"/>
                        </a:solidFill>
                        <a:effectLst/>
                        <a:latin typeface="Aptos Narrow"/>
                      </a:endParaRPr>
                    </a:p>
                  </a:txBody>
                  <a:tcPr marL="6350" marR="6350" marT="6350" marB="0" anchor="ctr"/>
                </a:tc>
                <a:tc>
                  <a:txBody>
                    <a:bodyPr/>
                    <a:lstStyle/>
                    <a:p>
                      <a:pPr lvl="0" algn="l">
                        <a:buNone/>
                      </a:pPr>
                      <a:r>
                        <a:rPr lang="en-US" sz="1200" b="0" i="0" u="none" strike="noStrike">
                          <a:solidFill>
                            <a:srgbClr val="000000"/>
                          </a:solidFill>
                          <a:effectLst/>
                          <a:latin typeface="Aptos Narrow"/>
                        </a:rPr>
                        <a:t>Ankit Sharma</a:t>
                      </a:r>
                    </a:p>
                  </a:txBody>
                  <a:tcPr marL="6350" marR="6350" marT="6350" marB="0" anchor="ctr"/>
                </a:tc>
                <a:tc>
                  <a:txBody>
                    <a:bodyPr/>
                    <a:lstStyle/>
                    <a:p>
                      <a:pPr algn="l" fontAlgn="b">
                        <a:buNone/>
                      </a:pPr>
                      <a:r>
                        <a:rPr lang="en-IN" sz="1200" b="0" i="0" u="none" strike="noStrike" kern="1200">
                          <a:solidFill>
                            <a:srgbClr val="000000"/>
                          </a:solidFill>
                          <a:effectLst/>
                          <a:latin typeface="Aptos Narrow"/>
                          <a:ea typeface="+mn-ea"/>
                          <a:cs typeface="+mn-cs"/>
                        </a:rPr>
                        <a:t>Owns the data product and provides deep data domain expertise </a:t>
                      </a:r>
                    </a:p>
                  </a:txBody>
                  <a:tcPr marL="6350" marR="6350" marT="6350" marB="0" anchor="b"/>
                </a:tc>
                <a:tc>
                  <a:txBody>
                    <a:bodyPr/>
                    <a:lstStyle/>
                    <a:p>
                      <a:pPr algn="ctr" fontAlgn="b">
                        <a:buNone/>
                      </a:pPr>
                      <a:r>
                        <a:rPr lang="en-US" sz="1200" b="0" i="0" u="none" strike="noStrike">
                          <a:solidFill>
                            <a:srgbClr val="000000"/>
                          </a:solidFill>
                          <a:effectLst/>
                          <a:latin typeface="Aptos Narrow"/>
                        </a:rPr>
                        <a:t>20</a:t>
                      </a:r>
                      <a:endParaRPr lang="en-IN" sz="1200" b="0" i="0" u="none" strike="noStrike">
                        <a:solidFill>
                          <a:srgbClr val="000000"/>
                        </a:solidFill>
                        <a:effectLst/>
                        <a:latin typeface="Aptos Narrow"/>
                      </a:endParaRPr>
                    </a:p>
                  </a:txBody>
                  <a:tcPr marL="6350" marR="6350" marT="6350" marB="0" anchor="b"/>
                </a:tc>
                <a:extLst>
                  <a:ext uri="{0D108BD9-81ED-4DB2-BD59-A6C34878D82A}">
                    <a16:rowId xmlns:a16="http://schemas.microsoft.com/office/drawing/2014/main" val="195065915"/>
                  </a:ext>
                </a:extLst>
              </a:tr>
              <a:tr h="385379">
                <a:tc>
                  <a:txBody>
                    <a:bodyPr/>
                    <a:lstStyle/>
                    <a:p>
                      <a:pPr lvl="0" algn="l">
                        <a:buNone/>
                      </a:pPr>
                      <a:r>
                        <a:rPr lang="en-US" sz="1200" b="0" i="0" u="none" strike="noStrike">
                          <a:solidFill>
                            <a:srgbClr val="000000"/>
                          </a:solidFill>
                          <a:effectLst/>
                          <a:latin typeface="Aptos Narrow"/>
                        </a:rPr>
                        <a:t>Regional Business Partners</a:t>
                      </a:r>
                      <a:endParaRPr lang="en-IN" sz="1200" b="0" i="0" u="none" strike="noStrike">
                        <a:solidFill>
                          <a:srgbClr val="000000"/>
                        </a:solidFill>
                        <a:effectLst/>
                        <a:latin typeface="Aptos Narrow"/>
                      </a:endParaRPr>
                    </a:p>
                  </a:txBody>
                  <a:tcPr marL="6350" marR="6350" marT="6350" marB="0" anchor="ctr"/>
                </a:tc>
                <a:tc>
                  <a:txBody>
                    <a:bodyPr/>
                    <a:lstStyle/>
                    <a:p>
                      <a:pPr lvl="0" algn="l">
                        <a:buNone/>
                      </a:pPr>
                      <a:r>
                        <a:rPr lang="en-US" sz="1200" b="0" i="0" u="none" strike="noStrike">
                          <a:solidFill>
                            <a:srgbClr val="000000"/>
                          </a:solidFill>
                          <a:effectLst/>
                          <a:latin typeface="Aptos Narrow"/>
                        </a:rPr>
                        <a:t>Abhishek Shama</a:t>
                      </a:r>
                      <a:br>
                        <a:rPr lang="en-US" sz="1200" b="0" i="0" u="none" strike="noStrike">
                          <a:solidFill>
                            <a:srgbClr val="000000"/>
                          </a:solidFill>
                          <a:effectLst/>
                          <a:latin typeface="Aptos Narrow"/>
                        </a:rPr>
                      </a:br>
                      <a:r>
                        <a:rPr lang="en-US" sz="1200" b="0" i="0" u="none" strike="noStrike">
                          <a:solidFill>
                            <a:srgbClr val="000000"/>
                          </a:solidFill>
                          <a:effectLst/>
                          <a:latin typeface="Aptos Narrow"/>
                        </a:rPr>
                        <a:t>Melinda </a:t>
                      </a:r>
                      <a:r>
                        <a:rPr lang="en-US" sz="1200" b="0" i="0" u="none" strike="noStrike" err="1">
                          <a:solidFill>
                            <a:srgbClr val="000000"/>
                          </a:solidFill>
                          <a:effectLst/>
                          <a:latin typeface="Aptos Narrow"/>
                        </a:rPr>
                        <a:t>Veracion</a:t>
                      </a:r>
                      <a:endParaRPr lang="en-US" sz="1200" b="0" i="0" u="none" strike="noStrike">
                        <a:solidFill>
                          <a:srgbClr val="000000"/>
                        </a:solidFill>
                        <a:effectLst/>
                        <a:latin typeface="Aptos Narrow"/>
                      </a:endParaRPr>
                    </a:p>
                    <a:p>
                      <a:pPr marL="0" marR="0" lvl="0" indent="0" algn="l" defTabSz="914318" rtl="0" eaLnBrk="1" fontAlgn="auto" latinLnBrk="0" hangingPunct="1">
                        <a:lnSpc>
                          <a:spcPct val="100000"/>
                        </a:lnSpc>
                        <a:spcBef>
                          <a:spcPts val="0"/>
                        </a:spcBef>
                        <a:spcAft>
                          <a:spcPts val="0"/>
                        </a:spcAft>
                        <a:buClrTx/>
                        <a:buSzTx/>
                        <a:buFontTx/>
                        <a:buNone/>
                        <a:tabLst/>
                        <a:defRPr/>
                      </a:pPr>
                      <a:r>
                        <a:rPr lang="en-US" sz="1200" b="0" i="0" u="none" strike="noStrike" noProof="0">
                          <a:solidFill>
                            <a:srgbClr val="000000"/>
                          </a:solidFill>
                          <a:effectLst/>
                          <a:latin typeface="Aptos Narrow"/>
                        </a:rPr>
                        <a:t>Georgina Peralta</a:t>
                      </a:r>
                      <a:br>
                        <a:rPr lang="en-US" sz="1200" b="0" i="0" u="none" strike="noStrike" noProof="0">
                          <a:solidFill>
                            <a:srgbClr val="000000"/>
                          </a:solidFill>
                          <a:effectLst/>
                          <a:latin typeface="Aptos Narrow"/>
                        </a:rPr>
                      </a:br>
                      <a:r>
                        <a:rPr lang="en-US" sz="1200" b="0" i="0" u="none" strike="noStrike" noProof="0">
                          <a:solidFill>
                            <a:srgbClr val="000000"/>
                          </a:solidFill>
                          <a:effectLst/>
                          <a:latin typeface="Aptos Narrow"/>
                        </a:rPr>
                        <a:t>Annie Dumitrescu</a:t>
                      </a:r>
                    </a:p>
                  </a:txBody>
                  <a:tcPr marL="6350" marR="6350" marT="6350" marB="0" anchor="ctr"/>
                </a:tc>
                <a:tc>
                  <a:txBody>
                    <a:bodyPr/>
                    <a:lstStyle/>
                    <a:p>
                      <a:pPr lvl="0" algn="l">
                        <a:lnSpc>
                          <a:spcPct val="100000"/>
                        </a:lnSpc>
                        <a:spcBef>
                          <a:spcPts val="0"/>
                        </a:spcBef>
                        <a:spcAft>
                          <a:spcPts val="0"/>
                        </a:spcAft>
                        <a:buNone/>
                      </a:pPr>
                      <a:r>
                        <a:rPr lang="en-IN" sz="1200" b="0" i="0" u="none" strike="noStrike" kern="1200" noProof="0">
                          <a:solidFill>
                            <a:srgbClr val="000000"/>
                          </a:solidFill>
                          <a:effectLst/>
                          <a:latin typeface="Aptos Narrow"/>
                          <a:ea typeface="+mn-ea"/>
                          <a:cs typeface="+mn-cs"/>
                        </a:rPr>
                        <a:t>Provide business context, collaborate on use case identification and supports on regional needs and expectations </a:t>
                      </a:r>
                      <a:endParaRPr lang="en-US" sz="1200" b="0" i="0" u="none" strike="noStrike" kern="1200">
                        <a:solidFill>
                          <a:srgbClr val="000000"/>
                        </a:solidFill>
                        <a:effectLst/>
                        <a:latin typeface="Aptos Narrow"/>
                        <a:ea typeface="+mn-ea"/>
                        <a:cs typeface="+mn-cs"/>
                      </a:endParaRPr>
                    </a:p>
                  </a:txBody>
                  <a:tcPr marL="6350" marR="6350" marT="6350" marB="0" anchor="b"/>
                </a:tc>
                <a:tc>
                  <a:txBody>
                    <a:bodyPr/>
                    <a:lstStyle/>
                    <a:p>
                      <a:pPr algn="ctr" fontAlgn="b">
                        <a:buNone/>
                      </a:pPr>
                      <a:r>
                        <a:rPr lang="en-IN" sz="1200" b="0" i="0" u="none" strike="noStrike">
                          <a:solidFill>
                            <a:srgbClr val="000000"/>
                          </a:solidFill>
                          <a:effectLst/>
                          <a:latin typeface="Aptos Narrow"/>
                        </a:rPr>
                        <a:t>20</a:t>
                      </a:r>
                    </a:p>
                  </a:txBody>
                  <a:tcPr marL="6350" marR="6350" marT="6350" marB="0" anchor="b"/>
                </a:tc>
                <a:extLst>
                  <a:ext uri="{0D108BD9-81ED-4DB2-BD59-A6C34878D82A}">
                    <a16:rowId xmlns:a16="http://schemas.microsoft.com/office/drawing/2014/main" val="3445800346"/>
                  </a:ext>
                </a:extLst>
              </a:tr>
              <a:tr h="421508">
                <a:tc>
                  <a:txBody>
                    <a:bodyPr/>
                    <a:lstStyle/>
                    <a:p>
                      <a:pPr lvl="0" algn="l">
                        <a:buNone/>
                      </a:pPr>
                      <a:r>
                        <a:rPr lang="en-US" sz="1200" b="0" i="0" u="none" strike="noStrike">
                          <a:solidFill>
                            <a:srgbClr val="000000"/>
                          </a:solidFill>
                          <a:effectLst/>
                          <a:latin typeface="Aptos Narrow"/>
                        </a:rPr>
                        <a:t>Product Owner</a:t>
                      </a: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a:rPr>
                        <a:t>Graham Booth</a:t>
                      </a:r>
                    </a:p>
                  </a:txBody>
                  <a:tcPr marL="6350" marR="6350" marT="6350" marB="0" anchor="ctr"/>
                </a:tc>
                <a:tc>
                  <a:txBody>
                    <a:bodyPr/>
                    <a:lstStyle/>
                    <a:p>
                      <a:pPr lvl="0" algn="l">
                        <a:lnSpc>
                          <a:spcPct val="100000"/>
                        </a:lnSpc>
                        <a:spcBef>
                          <a:spcPts val="0"/>
                        </a:spcBef>
                        <a:spcAft>
                          <a:spcPts val="0"/>
                        </a:spcAft>
                        <a:buNone/>
                      </a:pPr>
                      <a:endParaRPr lang="en-US" sz="1200" b="0" i="0" u="none" strike="noStrike" kern="1200" noProof="0">
                        <a:solidFill>
                          <a:srgbClr val="000000"/>
                        </a:solidFill>
                        <a:effectLst/>
                        <a:latin typeface="Aptos Narrow"/>
                        <a:ea typeface="+mn-ea"/>
                        <a:cs typeface="+mn-cs"/>
                      </a:endParaRPr>
                    </a:p>
                  </a:txBody>
                  <a:tcPr marL="6350" marR="6350" marT="6350" marB="0" anchor="b"/>
                </a:tc>
                <a:tc>
                  <a:txBody>
                    <a:bodyPr/>
                    <a:lstStyle/>
                    <a:p>
                      <a:pPr lvl="0" algn="ctr">
                        <a:buNone/>
                      </a:pPr>
                      <a:r>
                        <a:rPr lang="en-IN" sz="1200" b="0" i="0" u="none" strike="noStrike">
                          <a:solidFill>
                            <a:srgbClr val="000000"/>
                          </a:solidFill>
                          <a:effectLst/>
                          <a:latin typeface="Aptos Narrow"/>
                        </a:rPr>
                        <a:t>80</a:t>
                      </a:r>
                    </a:p>
                  </a:txBody>
                  <a:tcPr marL="6350" marR="6350" marT="6350" marB="0" anchor="b"/>
                </a:tc>
                <a:extLst>
                  <a:ext uri="{0D108BD9-81ED-4DB2-BD59-A6C34878D82A}">
                    <a16:rowId xmlns:a16="http://schemas.microsoft.com/office/drawing/2014/main" val="1383413869"/>
                  </a:ext>
                </a:extLst>
              </a:tr>
              <a:tr h="240862">
                <a:tc>
                  <a:txBody>
                    <a:bodyPr/>
                    <a:lstStyle/>
                    <a:p>
                      <a:pPr lvl="0" algn="l">
                        <a:buNone/>
                      </a:pPr>
                      <a:r>
                        <a:rPr lang="en-US" sz="1200" b="0" i="0" u="none" strike="noStrike">
                          <a:solidFill>
                            <a:srgbClr val="000000"/>
                          </a:solidFill>
                          <a:effectLst/>
                          <a:latin typeface="Aptos Narrow"/>
                        </a:rPr>
                        <a:t>Region BA</a:t>
                      </a:r>
                    </a:p>
                  </a:txBody>
                  <a:tcPr marL="6350" marR="6350" marT="6350" marB="0" anchor="ctr"/>
                </a:tc>
                <a:tc>
                  <a:txBody>
                    <a:bodyPr/>
                    <a:lstStyle/>
                    <a:p>
                      <a:pPr lvl="0" algn="l">
                        <a:buNone/>
                      </a:pPr>
                      <a:r>
                        <a:rPr lang="en-US" sz="1200" b="0" i="0" u="none" strike="noStrike">
                          <a:solidFill>
                            <a:srgbClr val="000000"/>
                          </a:solidFill>
                          <a:effectLst/>
                          <a:latin typeface="Aptos Narrow"/>
                        </a:rPr>
                        <a:t>Hana Mansouri</a:t>
                      </a:r>
                    </a:p>
                  </a:txBody>
                  <a:tcPr marL="6350" marR="6350" marT="6350" marB="0" anchor="ctr"/>
                </a:tc>
                <a:tc>
                  <a:txBody>
                    <a:bodyPr/>
                    <a:lstStyle/>
                    <a:p>
                      <a:pPr lvl="0" algn="l">
                        <a:lnSpc>
                          <a:spcPct val="100000"/>
                        </a:lnSpc>
                        <a:spcBef>
                          <a:spcPts val="0"/>
                        </a:spcBef>
                        <a:spcAft>
                          <a:spcPts val="0"/>
                        </a:spcAft>
                        <a:buNone/>
                      </a:pPr>
                      <a:r>
                        <a:rPr lang="en-IN" sz="1200" b="0" i="0" u="none" strike="noStrike" kern="1200" noProof="0">
                          <a:solidFill>
                            <a:srgbClr val="000000"/>
                          </a:solidFill>
                          <a:effectLst/>
                          <a:latin typeface="Aptos Narrow"/>
                          <a:ea typeface="+mn-ea"/>
                          <a:cs typeface="+mn-cs"/>
                        </a:rPr>
                        <a:t>Translates regional requirements into actionable inputs and ensures alignment across markets</a:t>
                      </a:r>
                      <a:endParaRPr lang="en-US" sz="1200" b="0" i="0" u="none" strike="noStrike" kern="1200">
                        <a:solidFill>
                          <a:srgbClr val="000000"/>
                        </a:solidFill>
                        <a:effectLst/>
                        <a:latin typeface="Aptos Narrow"/>
                        <a:ea typeface="+mn-ea"/>
                        <a:cs typeface="+mn-cs"/>
                      </a:endParaRPr>
                    </a:p>
                  </a:txBody>
                  <a:tcPr marL="6350" marR="6350" marT="6350" marB="0" anchor="b"/>
                </a:tc>
                <a:tc>
                  <a:txBody>
                    <a:bodyPr/>
                    <a:lstStyle/>
                    <a:p>
                      <a:pPr lvl="0" algn="ctr">
                        <a:buNone/>
                      </a:pPr>
                      <a:r>
                        <a:rPr lang="en-IN" sz="1200" b="0" i="0" u="none" strike="noStrike">
                          <a:solidFill>
                            <a:srgbClr val="000000"/>
                          </a:solidFill>
                          <a:effectLst/>
                          <a:latin typeface="Aptos Narrow"/>
                        </a:rPr>
                        <a:t>20</a:t>
                      </a:r>
                    </a:p>
                  </a:txBody>
                  <a:tcPr marL="6350" marR="6350" marT="6350" marB="0" anchor="b"/>
                </a:tc>
                <a:extLst>
                  <a:ext uri="{0D108BD9-81ED-4DB2-BD59-A6C34878D82A}">
                    <a16:rowId xmlns:a16="http://schemas.microsoft.com/office/drawing/2014/main" val="3552398854"/>
                  </a:ext>
                </a:extLst>
              </a:tr>
              <a:tr h="525833">
                <a:tc>
                  <a:txBody>
                    <a:bodyPr/>
                    <a:lstStyle/>
                    <a:p>
                      <a:pPr lvl="0" algn="l">
                        <a:buNone/>
                      </a:pPr>
                      <a:r>
                        <a:rPr lang="en-IN" sz="1200" b="0" i="0" u="none" strike="noStrike">
                          <a:solidFill>
                            <a:srgbClr val="000000"/>
                          </a:solidFill>
                          <a:effectLst/>
                          <a:latin typeface="Aptos Narrow"/>
                        </a:rPr>
                        <a:t>Project Sponsors</a:t>
                      </a:r>
                    </a:p>
                  </a:txBody>
                  <a:tcPr marL="6350" marR="6350" marT="6350" marB="0" anchor="ctr"/>
                </a:tc>
                <a:tc>
                  <a:txBody>
                    <a:bodyPr/>
                    <a:lstStyle/>
                    <a:p>
                      <a:pPr lvl="0" algn="l">
                        <a:buNone/>
                      </a:pPr>
                      <a:r>
                        <a:rPr lang="en-US" sz="1200" b="0" i="0" u="none" strike="noStrike">
                          <a:solidFill>
                            <a:srgbClr val="000000"/>
                          </a:solidFill>
                          <a:effectLst/>
                          <a:latin typeface="Aptos Narrow"/>
                        </a:rPr>
                        <a:t>Laure </a:t>
                      </a:r>
                      <a:r>
                        <a:rPr lang="en-US" sz="1200" b="0" i="0" u="none" strike="noStrike" err="1">
                          <a:solidFill>
                            <a:srgbClr val="000000"/>
                          </a:solidFill>
                          <a:effectLst/>
                          <a:latin typeface="Aptos Narrow"/>
                        </a:rPr>
                        <a:t>Largenton</a:t>
                      </a:r>
                      <a:br>
                        <a:rPr lang="en-US" sz="1200"/>
                      </a:br>
                      <a:r>
                        <a:rPr lang="en-US" sz="1200" b="0" i="0" u="none" strike="noStrike">
                          <a:solidFill>
                            <a:srgbClr val="000000"/>
                          </a:solidFill>
                          <a:effectLst/>
                          <a:latin typeface="Aptos Narrow"/>
                        </a:rPr>
                        <a:t>Richard Efting</a:t>
                      </a:r>
                      <a:br>
                        <a:rPr lang="en-US" sz="1200" b="0" i="0" u="none" strike="noStrike">
                          <a:solidFill>
                            <a:srgbClr val="000000"/>
                          </a:solidFill>
                          <a:effectLst/>
                          <a:latin typeface="Aptos Narrow"/>
                        </a:rPr>
                      </a:br>
                      <a:r>
                        <a:rPr lang="en-US" sz="1200" b="0" i="0" u="none" strike="noStrike">
                          <a:solidFill>
                            <a:srgbClr val="000000"/>
                          </a:solidFill>
                          <a:effectLst/>
                          <a:latin typeface="Aptos Narrow"/>
                        </a:rPr>
                        <a:t>Diane Levin</a:t>
                      </a:r>
                      <a:endParaRPr lang="en-US" sz="1200"/>
                    </a:p>
                  </a:txBody>
                  <a:tcPr marL="6350" marR="6350" marT="6350" marB="0" anchor="ctr"/>
                </a:tc>
                <a:tc>
                  <a:txBody>
                    <a:bodyPr/>
                    <a:lstStyle/>
                    <a:p>
                      <a:pPr lvl="0" algn="l">
                        <a:lnSpc>
                          <a:spcPct val="100000"/>
                        </a:lnSpc>
                        <a:spcBef>
                          <a:spcPts val="0"/>
                        </a:spcBef>
                        <a:spcAft>
                          <a:spcPts val="0"/>
                        </a:spcAft>
                        <a:buNone/>
                      </a:pPr>
                      <a:r>
                        <a:rPr lang="en-IN" sz="1200" b="0" i="0" u="none" strike="noStrike" kern="1200" noProof="0">
                          <a:solidFill>
                            <a:srgbClr val="000000"/>
                          </a:solidFill>
                          <a:effectLst/>
                          <a:latin typeface="Aptos Narrow"/>
                          <a:ea typeface="+mn-ea"/>
                          <a:cs typeface="+mn-cs"/>
                        </a:rPr>
                        <a:t>Provide strategic direction, funding, and executive support; remove high-level blockers</a:t>
                      </a:r>
                      <a:endParaRPr lang="en-US" sz="1200" b="0" i="0" u="none" strike="noStrike" kern="1200">
                        <a:solidFill>
                          <a:srgbClr val="000000"/>
                        </a:solidFill>
                        <a:effectLst/>
                        <a:latin typeface="Aptos Narrow"/>
                        <a:ea typeface="+mn-ea"/>
                        <a:cs typeface="+mn-cs"/>
                      </a:endParaRPr>
                    </a:p>
                  </a:txBody>
                  <a:tcPr marL="6350" marR="6350" marT="6350" marB="0" anchor="b"/>
                </a:tc>
                <a:tc>
                  <a:txBody>
                    <a:bodyPr/>
                    <a:lstStyle/>
                    <a:p>
                      <a:pPr algn="ctr" fontAlgn="b">
                        <a:buNone/>
                      </a:pPr>
                      <a:r>
                        <a:rPr lang="en-IN" sz="1200" b="0" i="0" u="none" strike="noStrike">
                          <a:solidFill>
                            <a:srgbClr val="000000"/>
                          </a:solidFill>
                          <a:effectLst/>
                          <a:latin typeface="Aptos Narrow"/>
                        </a:rPr>
                        <a:t>20</a:t>
                      </a:r>
                    </a:p>
                  </a:txBody>
                  <a:tcPr marL="6350" marR="6350" marT="6350" marB="0" anchor="b"/>
                </a:tc>
                <a:extLst>
                  <a:ext uri="{0D108BD9-81ED-4DB2-BD59-A6C34878D82A}">
                    <a16:rowId xmlns:a16="http://schemas.microsoft.com/office/drawing/2014/main" val="2804671214"/>
                  </a:ext>
                </a:extLst>
              </a:tr>
              <a:tr h="331503">
                <a:tc>
                  <a:txBody>
                    <a:bodyPr/>
                    <a:lstStyle/>
                    <a:p>
                      <a:pPr lvl="0" algn="l">
                        <a:buNone/>
                      </a:pPr>
                      <a:r>
                        <a:rPr lang="en-IN" sz="1200" b="0" i="0" u="none" strike="noStrike">
                          <a:solidFill>
                            <a:srgbClr val="000000"/>
                          </a:solidFill>
                          <a:effectLst/>
                          <a:latin typeface="Aptos Narrow"/>
                        </a:rPr>
                        <a:t>Business SMEs</a:t>
                      </a:r>
                    </a:p>
                  </a:txBody>
                  <a:tcPr marL="6350" marR="6350" marT="6350" marB="0" anchor="ctr"/>
                </a:tc>
                <a:tc>
                  <a:txBody>
                    <a:bodyPr/>
                    <a:lstStyle/>
                    <a:p>
                      <a:pPr lvl="0" algn="l">
                        <a:buNone/>
                      </a:pPr>
                      <a:r>
                        <a:rPr lang="en-US" sz="1200" b="0" i="0" u="none" strike="noStrike">
                          <a:solidFill>
                            <a:srgbClr val="000000"/>
                          </a:solidFill>
                          <a:effectLst/>
                          <a:latin typeface="Aptos Narrow"/>
                        </a:rPr>
                        <a:t>Carmenza Ramirez</a:t>
                      </a:r>
                    </a:p>
                    <a:p>
                      <a:pPr lvl="0" algn="l">
                        <a:buNone/>
                      </a:pPr>
                      <a:r>
                        <a:rPr lang="en-US" sz="1200" b="0" i="0" u="none" strike="noStrike">
                          <a:solidFill>
                            <a:srgbClr val="000000"/>
                          </a:solidFill>
                          <a:effectLst/>
                          <a:latin typeface="Aptos Narrow"/>
                        </a:rPr>
                        <a:t>Regional Lead (TBC)</a:t>
                      </a:r>
                    </a:p>
                  </a:txBody>
                  <a:tcPr marL="6350" marR="6350" marT="6350" marB="0" anchor="ctr"/>
                </a:tc>
                <a:tc>
                  <a:txBody>
                    <a:bodyPr/>
                    <a:lstStyle/>
                    <a:p>
                      <a:pPr lvl="0" algn="l">
                        <a:lnSpc>
                          <a:spcPct val="100000"/>
                        </a:lnSpc>
                        <a:spcBef>
                          <a:spcPts val="0"/>
                        </a:spcBef>
                        <a:spcAft>
                          <a:spcPts val="0"/>
                        </a:spcAft>
                        <a:buNone/>
                      </a:pPr>
                      <a:r>
                        <a:rPr lang="en-IN" sz="1200" b="0" i="0" u="none" strike="noStrike" kern="1200" noProof="0">
                          <a:solidFill>
                            <a:srgbClr val="000000"/>
                          </a:solidFill>
                          <a:effectLst/>
                          <a:latin typeface="Aptos Narrow"/>
                          <a:ea typeface="+mn-ea"/>
                          <a:cs typeface="+mn-cs"/>
                        </a:rPr>
                        <a:t>Provides deep domain expertise, and validates business rules, processes, and outputs</a:t>
                      </a:r>
                      <a:endParaRPr lang="en-US" sz="1200" b="0" i="0" u="none" strike="noStrike" kern="1200">
                        <a:solidFill>
                          <a:srgbClr val="000000"/>
                        </a:solidFill>
                        <a:effectLst/>
                        <a:latin typeface="Aptos Narrow"/>
                        <a:ea typeface="+mn-ea"/>
                        <a:cs typeface="+mn-cs"/>
                      </a:endParaRPr>
                    </a:p>
                  </a:txBody>
                  <a:tcPr marL="6350" marR="6350" marT="6350" marB="0" anchor="b"/>
                </a:tc>
                <a:tc>
                  <a:txBody>
                    <a:bodyPr/>
                    <a:lstStyle/>
                    <a:p>
                      <a:pPr lvl="0" algn="ctr">
                        <a:buNone/>
                      </a:pPr>
                      <a:r>
                        <a:rPr lang="en-US" sz="1200" b="0" i="0" u="none" strike="noStrike">
                          <a:solidFill>
                            <a:srgbClr val="000000"/>
                          </a:solidFill>
                          <a:effectLst/>
                          <a:latin typeface="Aptos Narrow"/>
                        </a:rPr>
                        <a:t>20</a:t>
                      </a:r>
                      <a:endParaRPr lang="en-IN" sz="1200" b="0" i="0" u="none" strike="noStrike">
                        <a:solidFill>
                          <a:srgbClr val="000000"/>
                        </a:solidFill>
                        <a:effectLst/>
                        <a:latin typeface="Aptos Narrow"/>
                      </a:endParaRPr>
                    </a:p>
                  </a:txBody>
                  <a:tcPr marL="6350" marR="6350" marT="6350" marB="0" anchor="b"/>
                </a:tc>
                <a:extLst>
                  <a:ext uri="{0D108BD9-81ED-4DB2-BD59-A6C34878D82A}">
                    <a16:rowId xmlns:a16="http://schemas.microsoft.com/office/drawing/2014/main" val="2136120579"/>
                  </a:ext>
                </a:extLst>
              </a:tr>
            </a:tbl>
          </a:graphicData>
        </a:graphic>
      </p:graphicFrame>
      <p:graphicFrame>
        <p:nvGraphicFramePr>
          <p:cNvPr id="8" name="Table 7">
            <a:extLst>
              <a:ext uri="{FF2B5EF4-FFF2-40B4-BE49-F238E27FC236}">
                <a16:creationId xmlns:a16="http://schemas.microsoft.com/office/drawing/2014/main" id="{CDA901D4-B1B1-5E0D-8658-78D7FD8938E1}"/>
              </a:ext>
            </a:extLst>
          </p:cNvPr>
          <p:cNvGraphicFramePr>
            <a:graphicFrameLocks noGrp="1"/>
          </p:cNvGraphicFramePr>
          <p:nvPr>
            <p:extLst>
              <p:ext uri="{D42A27DB-BD31-4B8C-83A1-F6EECF244321}">
                <p14:modId xmlns:p14="http://schemas.microsoft.com/office/powerpoint/2010/main" val="1187888622"/>
              </p:ext>
            </p:extLst>
          </p:nvPr>
        </p:nvGraphicFramePr>
        <p:xfrm>
          <a:off x="58223" y="3181583"/>
          <a:ext cx="11940907" cy="2961384"/>
        </p:xfrm>
        <a:graphic>
          <a:graphicData uri="http://schemas.openxmlformats.org/drawingml/2006/table">
            <a:tbl>
              <a:tblPr firstRow="1" bandRow="1">
                <a:tableStyleId>{5C22544A-7EE6-4342-B048-85BDC9FD1C3A}</a:tableStyleId>
              </a:tblPr>
              <a:tblGrid>
                <a:gridCol w="1914853">
                  <a:extLst>
                    <a:ext uri="{9D8B030D-6E8A-4147-A177-3AD203B41FA5}">
                      <a16:colId xmlns:a16="http://schemas.microsoft.com/office/drawing/2014/main" val="2803359096"/>
                    </a:ext>
                  </a:extLst>
                </a:gridCol>
                <a:gridCol w="1469257">
                  <a:extLst>
                    <a:ext uri="{9D8B030D-6E8A-4147-A177-3AD203B41FA5}">
                      <a16:colId xmlns:a16="http://schemas.microsoft.com/office/drawing/2014/main" val="1080853016"/>
                    </a:ext>
                  </a:extLst>
                </a:gridCol>
                <a:gridCol w="7253170">
                  <a:extLst>
                    <a:ext uri="{9D8B030D-6E8A-4147-A177-3AD203B41FA5}">
                      <a16:colId xmlns:a16="http://schemas.microsoft.com/office/drawing/2014/main" val="946449996"/>
                    </a:ext>
                  </a:extLst>
                </a:gridCol>
                <a:gridCol w="1303627">
                  <a:extLst>
                    <a:ext uri="{9D8B030D-6E8A-4147-A177-3AD203B41FA5}">
                      <a16:colId xmlns:a16="http://schemas.microsoft.com/office/drawing/2014/main" val="1093435269"/>
                    </a:ext>
                  </a:extLst>
                </a:gridCol>
              </a:tblGrid>
              <a:tr h="282658">
                <a:tc gridSpan="4">
                  <a:txBody>
                    <a:bodyPr/>
                    <a:lstStyle/>
                    <a:p>
                      <a:pPr algn="ctr">
                        <a:buNone/>
                      </a:pPr>
                      <a:r>
                        <a:rPr lang="en-US" sz="1400">
                          <a:solidFill>
                            <a:schemeClr val="bg1"/>
                          </a:solidFill>
                        </a:rPr>
                        <a:t>Scrum Team</a:t>
                      </a:r>
                    </a:p>
                  </a:txBody>
                  <a:tcPr marL="5020" marR="5020" marT="502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30128" cap="flat" cmpd="sng" algn="ctr">
                      <a:solidFill>
                        <a:srgbClr val="FFFFFF"/>
                      </a:solidFill>
                      <a:prstDash val="solid"/>
                      <a:round/>
                      <a:headEnd type="none" w="med" len="med"/>
                      <a:tailEnd type="none" w="med" len="med"/>
                    </a:lnB>
                  </a:tcPr>
                </a:tc>
                <a:tc hMerge="1">
                  <a:txBody>
                    <a:bodyPr/>
                    <a:lstStyle/>
                    <a:p>
                      <a:endParaRPr lang="en-US"/>
                    </a:p>
                  </a:txBody>
                  <a:tcPr/>
                </a:tc>
                <a:tc hMerge="1">
                  <a:txBody>
                    <a:bodyPr/>
                    <a:lstStyle/>
                    <a:p>
                      <a:endParaRPr lang="en-US"/>
                    </a:p>
                  </a:txBody>
                  <a:tcPr marL="5020" marR="5020" marT="502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30128" cap="flat" cmpd="sng" algn="ctr">
                      <a:solidFill>
                        <a:srgbClr val="FFFFFF"/>
                      </a:solidFill>
                      <a:prstDash val="solid"/>
                      <a:round/>
                      <a:headEnd type="none" w="med" len="med"/>
                      <a:tailEnd type="none" w="med" len="med"/>
                    </a:lnB>
                  </a:tcPr>
                </a:tc>
                <a:tc hMerge="1">
                  <a:txBody>
                    <a:bodyPr/>
                    <a:lstStyle/>
                    <a:p>
                      <a:endParaRPr lang="en-US"/>
                    </a:p>
                  </a:txBody>
                  <a:tcPr marL="5020" marR="5020" marT="502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30128"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267853289"/>
                  </a:ext>
                </a:extLst>
              </a:tr>
              <a:tr h="329141">
                <a:tc>
                  <a:txBody>
                    <a:bodyPr/>
                    <a:lstStyle/>
                    <a:p>
                      <a:pPr algn="l" fontAlgn="b">
                        <a:buNone/>
                      </a:pPr>
                      <a:r>
                        <a:rPr lang="en-IN" sz="1100" b="0" i="0" u="none" strike="noStrike">
                          <a:solidFill>
                            <a:srgbClr val="000000"/>
                          </a:solidFill>
                          <a:effectLst/>
                          <a:latin typeface="Aptos Narrow" panose="020B0004020202020204" pitchFamily="34" charset="0"/>
                        </a:rPr>
                        <a:t>Senior AI Engineer</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30128"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a:solidFill>
                        <a:srgbClr val="FFFFFF"/>
                      </a:solidFill>
                    </a:lnB>
                  </a:tcPr>
                </a:tc>
                <a:tc>
                  <a:txBody>
                    <a:bodyPr/>
                    <a:lstStyle/>
                    <a:p>
                      <a:pPr algn="l" fontAlgn="b">
                        <a:buNone/>
                      </a:pPr>
                      <a:r>
                        <a:rPr lang="en-IN" sz="1100" b="0" i="0" u="none" strike="noStrike">
                          <a:solidFill>
                            <a:srgbClr val="000000"/>
                          </a:solidFill>
                          <a:effectLst/>
                          <a:latin typeface="Aptos Narrow" panose="020B0004020202020204" pitchFamily="34" charset="0"/>
                        </a:rPr>
                        <a:t>Python, LangGraph, Prompt Engineering expert</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ctr" rtl="0" fontAlgn="base">
                        <a:lnSpc>
                          <a:spcPts val="1350"/>
                        </a:lnSpc>
                        <a:buNone/>
                      </a:pPr>
                      <a:r>
                        <a:rPr lang="en-US" sz="1100" b="0" i="0">
                          <a:solidFill>
                            <a:srgbClr val="000000"/>
                          </a:solidFill>
                          <a:effectLst/>
                          <a:latin typeface="Aptos Narrow"/>
                        </a:rPr>
                        <a:t>100</a:t>
                      </a:r>
                      <a:endParaRPr lang="en-IN" sz="1100" b="0" i="0">
                        <a:solidFill>
                          <a:srgbClr val="000000"/>
                        </a:solidFill>
                        <a:effectLst/>
                        <a:latin typeface="Aptos Narrow"/>
                      </a:endParaRPr>
                    </a:p>
                  </a:txBody>
                  <a:tcPr marL="5020" marR="5020" marT="502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837980928"/>
                  </a:ext>
                </a:extLst>
              </a:tr>
              <a:tr h="317990">
                <a:tc>
                  <a:txBody>
                    <a:bodyPr/>
                    <a:lstStyle/>
                    <a:p>
                      <a:pPr algn="l" fontAlgn="b">
                        <a:buNone/>
                      </a:pPr>
                      <a:r>
                        <a:rPr lang="en-IN" sz="1100" b="0" i="0" u="none" strike="noStrike">
                          <a:solidFill>
                            <a:srgbClr val="000000"/>
                          </a:solidFill>
                          <a:effectLst/>
                          <a:latin typeface="Aptos Narrow" panose="020B0004020202020204" pitchFamily="34" charset="0"/>
                        </a:rPr>
                        <a:t>Forward Deployed Engineer</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l" fontAlgn="b">
                        <a:buNone/>
                      </a:pPr>
                      <a:r>
                        <a:rPr lang="en-IN" sz="1100" b="0" i="0" u="none" strike="noStrike">
                          <a:solidFill>
                            <a:srgbClr val="000000"/>
                          </a:solidFill>
                          <a:effectLst/>
                          <a:latin typeface="Aptos Narrow" panose="020B0004020202020204" pitchFamily="34" charset="0"/>
                        </a:rPr>
                        <a:t>Kunal Mehta</a:t>
                      </a:r>
                    </a:p>
                  </a:txBody>
                  <a:tcPr marL="6350" marR="6350" marT="6350" marB="0" anchor="b">
                    <a:lnL w="10039">
                      <a:solidFill>
                        <a:srgbClr val="FFFFFF"/>
                      </a:solidFill>
                    </a:lnL>
                    <a:lnR w="10039">
                      <a:solidFill>
                        <a:srgbClr val="FFFFFF"/>
                      </a:solidFill>
                    </a:lnR>
                    <a:lnT w="10039">
                      <a:solidFill>
                        <a:srgbClr val="FFFFFF"/>
                      </a:solidFill>
                    </a:lnT>
                    <a:lnB w="10039">
                      <a:solidFill>
                        <a:srgbClr val="FFFFFF"/>
                      </a:solidFill>
                    </a:lnB>
                  </a:tcPr>
                </a:tc>
                <a:tc>
                  <a:txBody>
                    <a:bodyPr/>
                    <a:lstStyle/>
                    <a:p>
                      <a:pPr algn="l" fontAlgn="b">
                        <a:buNone/>
                      </a:pPr>
                      <a:r>
                        <a:rPr lang="en-IN" sz="1100" b="0" i="0" u="none" strike="noStrike">
                          <a:solidFill>
                            <a:srgbClr val="000000"/>
                          </a:solidFill>
                          <a:effectLst/>
                          <a:latin typeface="Aptos Narrow" panose="020B0004020202020204" pitchFamily="34" charset="0"/>
                        </a:rPr>
                        <a:t>Integration lead, to ensure the application functionalities talk to each other end to end</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ctr" rtl="0" fontAlgn="base">
                        <a:lnSpc>
                          <a:spcPts val="1350"/>
                        </a:lnSpc>
                        <a:buNone/>
                      </a:pPr>
                      <a:r>
                        <a:rPr lang="en-US" sz="1100" b="0" i="0" u="none" strike="noStrike">
                          <a:solidFill>
                            <a:srgbClr val="000000"/>
                          </a:solidFill>
                          <a:effectLst/>
                          <a:latin typeface="Aptos Narrow"/>
                        </a:rPr>
                        <a:t>100</a:t>
                      </a:r>
                      <a:endParaRPr lang="en-IN" sz="1100" b="0" i="0">
                        <a:solidFill>
                          <a:srgbClr val="000000"/>
                        </a:solidFill>
                        <a:effectLst/>
                        <a:latin typeface="Aptos Narrow"/>
                      </a:endParaRPr>
                    </a:p>
                  </a:txBody>
                  <a:tcPr marL="5020" marR="5020" marT="502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124590872"/>
                  </a:ext>
                </a:extLst>
              </a:tr>
              <a:tr h="385890">
                <a:tc>
                  <a:txBody>
                    <a:bodyPr/>
                    <a:lstStyle/>
                    <a:p>
                      <a:pPr algn="l" fontAlgn="b">
                        <a:buNone/>
                      </a:pPr>
                      <a:r>
                        <a:rPr lang="en-IN" sz="1100" b="0" i="0" u="none" strike="noStrike">
                          <a:solidFill>
                            <a:srgbClr val="000000"/>
                          </a:solidFill>
                          <a:effectLst/>
                          <a:latin typeface="Aptos Narrow" panose="020B0004020202020204" pitchFamily="34" charset="0"/>
                        </a:rPr>
                        <a:t>Full stack engineer</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50" marR="6350" marT="6350" marB="0" anchor="b">
                    <a:lnL w="10039">
                      <a:solidFill>
                        <a:srgbClr val="FFFFFF"/>
                      </a:solidFill>
                    </a:lnL>
                    <a:lnR w="10039">
                      <a:solidFill>
                        <a:srgbClr val="FFFFFF"/>
                      </a:solidFill>
                    </a:lnR>
                    <a:lnT w="10039">
                      <a:solidFill>
                        <a:srgbClr val="FFFFFF"/>
                      </a:solidFill>
                    </a:lnT>
                    <a:lnB w="10039">
                      <a:solidFill>
                        <a:srgbClr val="FFFFFF"/>
                      </a:solidFill>
                    </a:lnB>
                  </a:tcPr>
                </a:tc>
                <a:tc>
                  <a:txBody>
                    <a:bodyPr/>
                    <a:lstStyle/>
                    <a:p>
                      <a:pPr algn="l" fontAlgn="b">
                        <a:buNone/>
                      </a:pPr>
                      <a:r>
                        <a:rPr lang="en-IN" sz="1100" b="0" i="0" u="none" strike="noStrike">
                          <a:solidFill>
                            <a:srgbClr val="000000"/>
                          </a:solidFill>
                          <a:effectLst/>
                          <a:latin typeface="Aptos Narrow" panose="020B0004020202020204" pitchFamily="34" charset="0"/>
                        </a:rPr>
                        <a:t>React, Node.js, Tailwind, creating security roles and access, to create front end for the application and admin panel</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ctr" rtl="0" fontAlgn="base">
                        <a:lnSpc>
                          <a:spcPts val="1350"/>
                        </a:lnSpc>
                        <a:buNone/>
                      </a:pPr>
                      <a:r>
                        <a:rPr lang="en-US" sz="1100" b="0" i="0" u="none" strike="noStrike">
                          <a:solidFill>
                            <a:srgbClr val="000000"/>
                          </a:solidFill>
                          <a:effectLst/>
                          <a:latin typeface="Aptos Narrow"/>
                        </a:rPr>
                        <a:t>100</a:t>
                      </a:r>
                      <a:endParaRPr lang="en-IN" sz="1100" b="0" i="0">
                        <a:solidFill>
                          <a:srgbClr val="000000"/>
                        </a:solidFill>
                        <a:effectLst/>
                        <a:latin typeface="Aptos Narrow"/>
                      </a:endParaRPr>
                    </a:p>
                  </a:txBody>
                  <a:tcPr marL="5020" marR="5020" marT="502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095377532"/>
                  </a:ext>
                </a:extLst>
              </a:tr>
              <a:tr h="329141">
                <a:tc>
                  <a:txBody>
                    <a:bodyPr/>
                    <a:lstStyle/>
                    <a:p>
                      <a:pPr algn="l" fontAlgn="b">
                        <a:buNone/>
                      </a:pPr>
                      <a:r>
                        <a:rPr lang="en-IN" sz="1100" b="0" i="0" u="none" strike="noStrike">
                          <a:solidFill>
                            <a:srgbClr val="000000"/>
                          </a:solidFill>
                          <a:effectLst/>
                          <a:latin typeface="Aptos Narrow" panose="020B0004020202020204" pitchFamily="34" charset="0"/>
                        </a:rPr>
                        <a:t>Integration Developer</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a:solidFill>
                        <a:srgbClr val="FFFFFF"/>
                      </a:solidFill>
                    </a:lnB>
                  </a:tcPr>
                </a:tc>
                <a:tc>
                  <a:txBody>
                    <a:bodyPr/>
                    <a:lstStyle/>
                    <a:p>
                      <a:pPr algn="l" fontAlgn="b">
                        <a:buNone/>
                      </a:pPr>
                      <a:r>
                        <a:rPr lang="en-IN" sz="1100" b="0" i="0" u="none" strike="noStrike">
                          <a:solidFill>
                            <a:srgbClr val="000000"/>
                          </a:solidFill>
                          <a:effectLst/>
                          <a:latin typeface="Aptos Narrow" panose="020B0004020202020204" pitchFamily="34" charset="0"/>
                        </a:rPr>
                        <a:t>EDP and application development and integration</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ctr" rtl="0" fontAlgn="base">
                        <a:lnSpc>
                          <a:spcPts val="1350"/>
                        </a:lnSpc>
                        <a:buNone/>
                      </a:pPr>
                      <a:r>
                        <a:rPr lang="en-US" sz="1100" b="0" i="0" u="none" strike="noStrike">
                          <a:solidFill>
                            <a:srgbClr val="000000"/>
                          </a:solidFill>
                          <a:effectLst/>
                          <a:latin typeface="Aptos Narrow"/>
                        </a:rPr>
                        <a:t>100</a:t>
                      </a:r>
                      <a:endParaRPr lang="en-IN" sz="1100" b="0" i="0">
                        <a:solidFill>
                          <a:srgbClr val="000000"/>
                        </a:solidFill>
                        <a:effectLst/>
                        <a:latin typeface="Aptos Narrow"/>
                      </a:endParaRPr>
                    </a:p>
                  </a:txBody>
                  <a:tcPr marL="5020" marR="5020" marT="502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337329370"/>
                  </a:ext>
                </a:extLst>
              </a:tr>
              <a:tr h="329141">
                <a:tc>
                  <a:txBody>
                    <a:bodyPr/>
                    <a:lstStyle/>
                    <a:p>
                      <a:pPr algn="l" fontAlgn="b">
                        <a:buNone/>
                      </a:pPr>
                      <a:r>
                        <a:rPr lang="en-IN" sz="1100" b="0" i="0" u="none" strike="noStrike">
                          <a:solidFill>
                            <a:srgbClr val="000000"/>
                          </a:solidFill>
                          <a:effectLst/>
                          <a:latin typeface="Aptos Narrow" panose="020B0004020202020204" pitchFamily="34" charset="0"/>
                        </a:rPr>
                        <a:t>Data Engineer</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50" marR="6350" marT="6350" marB="0" anchor="b">
                    <a:lnL w="10039">
                      <a:solidFill>
                        <a:srgbClr val="FFFFFF"/>
                      </a:solidFill>
                    </a:lnL>
                    <a:lnR w="10039">
                      <a:solidFill>
                        <a:srgbClr val="FFFFFF"/>
                      </a:solidFill>
                    </a:lnR>
                    <a:lnT w="10039">
                      <a:solidFill>
                        <a:srgbClr val="FFFFFF"/>
                      </a:solidFill>
                    </a:lnT>
                    <a:lnB w="10039">
                      <a:solidFill>
                        <a:srgbClr val="FFFFFF"/>
                      </a:solidFill>
                    </a:lnB>
                  </a:tcPr>
                </a:tc>
                <a:tc>
                  <a:txBody>
                    <a:bodyPr/>
                    <a:lstStyle/>
                    <a:p>
                      <a:pPr algn="l" fontAlgn="b">
                        <a:buNone/>
                      </a:pPr>
                      <a:r>
                        <a:rPr lang="en-IN" sz="1100" b="0" i="0" u="none" strike="noStrike">
                          <a:solidFill>
                            <a:srgbClr val="000000"/>
                          </a:solidFill>
                          <a:effectLst/>
                          <a:latin typeface="Aptos Narrow" panose="020B0004020202020204" pitchFamily="34" charset="0"/>
                        </a:rPr>
                        <a:t>Azure and Databricks AI engineer</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ctr" rtl="0" fontAlgn="base">
                        <a:lnSpc>
                          <a:spcPts val="1350"/>
                        </a:lnSpc>
                        <a:buNone/>
                      </a:pPr>
                      <a:r>
                        <a:rPr lang="en-US" sz="1100" b="0" i="0" u="none" strike="noStrike">
                          <a:solidFill>
                            <a:srgbClr val="000000"/>
                          </a:solidFill>
                          <a:effectLst/>
                          <a:latin typeface="Aptos Narrow"/>
                        </a:rPr>
                        <a:t>100</a:t>
                      </a:r>
                      <a:endParaRPr lang="en-IN" sz="1100" b="0" i="0">
                        <a:solidFill>
                          <a:srgbClr val="000000"/>
                        </a:solidFill>
                        <a:effectLst/>
                        <a:latin typeface="Aptos Narrow"/>
                      </a:endParaRPr>
                    </a:p>
                  </a:txBody>
                  <a:tcPr marL="5020" marR="5020" marT="502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580805155"/>
                  </a:ext>
                </a:extLst>
              </a:tr>
              <a:tr h="329141">
                <a:tc>
                  <a:txBody>
                    <a:bodyPr/>
                    <a:lstStyle/>
                    <a:p>
                      <a:pPr algn="l" fontAlgn="b">
                        <a:buNone/>
                      </a:pPr>
                      <a:r>
                        <a:rPr lang="en-IN" sz="1100" b="0" i="0" u="none" strike="noStrike">
                          <a:solidFill>
                            <a:srgbClr val="000000"/>
                          </a:solidFill>
                          <a:effectLst/>
                          <a:latin typeface="Aptos Narrow" panose="020B0004020202020204" pitchFamily="34" charset="0"/>
                        </a:rPr>
                        <a:t>DevSecOps Engineer</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50" marR="6350" marT="6350" marB="0" anchor="b">
                    <a:lnL w="10039">
                      <a:solidFill>
                        <a:srgbClr val="FFFFFF"/>
                      </a:solidFill>
                    </a:lnL>
                    <a:lnR w="10039">
                      <a:solidFill>
                        <a:srgbClr val="FFFFFF"/>
                      </a:solidFill>
                    </a:lnR>
                    <a:lnT w="10039">
                      <a:solidFill>
                        <a:srgbClr val="FFFFFF"/>
                      </a:solidFill>
                    </a:lnT>
                    <a:lnB w="10039">
                      <a:solidFill>
                        <a:srgbClr val="FFFFFF"/>
                      </a:solidFill>
                    </a:lnB>
                  </a:tcPr>
                </a:tc>
                <a:tc>
                  <a:txBody>
                    <a:bodyPr/>
                    <a:lstStyle/>
                    <a:p>
                      <a:pPr algn="l" fontAlgn="b">
                        <a:buNone/>
                      </a:pPr>
                      <a:r>
                        <a:rPr lang="en-IN" sz="1100" b="0" i="0" u="none" strike="noStrike">
                          <a:solidFill>
                            <a:srgbClr val="000000"/>
                          </a:solidFill>
                          <a:effectLst/>
                          <a:latin typeface="Aptos Narrow" panose="020B0004020202020204" pitchFamily="34" charset="0"/>
                        </a:rPr>
                        <a:t>Terraform, Security Center</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ctr" rtl="0" fontAlgn="base">
                        <a:lnSpc>
                          <a:spcPts val="1350"/>
                        </a:lnSpc>
                        <a:buNone/>
                      </a:pPr>
                      <a:r>
                        <a:rPr lang="en-US" sz="1100" b="0" i="0" u="none" strike="noStrike">
                          <a:solidFill>
                            <a:srgbClr val="000000"/>
                          </a:solidFill>
                          <a:effectLst/>
                          <a:latin typeface="Aptos Narrow"/>
                        </a:rPr>
                        <a:t>100</a:t>
                      </a:r>
                      <a:endParaRPr lang="en-IN" sz="1100" b="0" i="0">
                        <a:solidFill>
                          <a:srgbClr val="000000"/>
                        </a:solidFill>
                        <a:effectLst/>
                        <a:latin typeface="Aptos Narrow"/>
                      </a:endParaRPr>
                    </a:p>
                  </a:txBody>
                  <a:tcPr marL="5020" marR="5020" marT="502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176629604"/>
                  </a:ext>
                </a:extLst>
              </a:tr>
              <a:tr h="329141">
                <a:tc>
                  <a:txBody>
                    <a:bodyPr/>
                    <a:lstStyle/>
                    <a:p>
                      <a:pPr algn="l" fontAlgn="b">
                        <a:buNone/>
                      </a:pPr>
                      <a:r>
                        <a:rPr lang="en-IN" sz="1100" b="0" i="0" u="none" strike="noStrike">
                          <a:solidFill>
                            <a:srgbClr val="000000"/>
                          </a:solidFill>
                          <a:effectLst/>
                          <a:latin typeface="Aptos Narrow" panose="020B0004020202020204" pitchFamily="34" charset="0"/>
                        </a:rPr>
                        <a:t>Testing Engineer/QA</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50" marR="6350" marT="6350" marB="0" anchor="b">
                    <a:lnL w="10039">
                      <a:solidFill>
                        <a:srgbClr val="FFFFFF"/>
                      </a:solidFill>
                    </a:lnL>
                    <a:lnR w="10039">
                      <a:solidFill>
                        <a:srgbClr val="FFFFFF"/>
                      </a:solidFill>
                    </a:lnR>
                    <a:lnT w="10039">
                      <a:solidFill>
                        <a:srgbClr val="FFFFFF"/>
                      </a:solidFill>
                    </a:lnT>
                    <a:lnB w="10039">
                      <a:solidFill>
                        <a:srgbClr val="FFFFFF"/>
                      </a:solidFill>
                    </a:lnB>
                  </a:tcPr>
                </a:tc>
                <a:tc>
                  <a:txBody>
                    <a:bodyPr/>
                    <a:lstStyle/>
                    <a:p>
                      <a:pPr algn="l" fontAlgn="b">
                        <a:buNone/>
                      </a:pPr>
                      <a:r>
                        <a:rPr lang="en-IN" sz="1100" b="0" i="0" u="none" strike="noStrike">
                          <a:solidFill>
                            <a:srgbClr val="000000"/>
                          </a:solidFill>
                          <a:effectLst/>
                          <a:latin typeface="Aptos Narrow" panose="020B0004020202020204" pitchFamily="34" charset="0"/>
                        </a:rPr>
                        <a:t>Tests and validates the application functionalities</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ctr" rtl="0" fontAlgn="base">
                        <a:lnSpc>
                          <a:spcPts val="1350"/>
                        </a:lnSpc>
                        <a:buNone/>
                      </a:pPr>
                      <a:r>
                        <a:rPr lang="en-US" sz="1100" b="0" i="0" u="none" strike="noStrike">
                          <a:solidFill>
                            <a:srgbClr val="000000"/>
                          </a:solidFill>
                          <a:effectLst/>
                          <a:latin typeface="Aptos Narrow"/>
                        </a:rPr>
                        <a:t>100</a:t>
                      </a:r>
                      <a:endParaRPr lang="en-IN" sz="1100" b="0" i="0">
                        <a:solidFill>
                          <a:srgbClr val="000000"/>
                        </a:solidFill>
                        <a:effectLst/>
                        <a:latin typeface="Aptos Narrow"/>
                      </a:endParaRPr>
                    </a:p>
                  </a:txBody>
                  <a:tcPr marL="5020" marR="5020" marT="502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994921878"/>
                  </a:ext>
                </a:extLst>
              </a:tr>
              <a:tr h="329141">
                <a:tc>
                  <a:txBody>
                    <a:bodyPr/>
                    <a:lstStyle/>
                    <a:p>
                      <a:pPr algn="l" fontAlgn="b">
                        <a:buNone/>
                      </a:pPr>
                      <a:r>
                        <a:rPr lang="en-IN" sz="1100" b="0" i="0" u="none" strike="noStrike">
                          <a:solidFill>
                            <a:srgbClr val="000000"/>
                          </a:solidFill>
                          <a:effectLst/>
                          <a:latin typeface="Aptos Narrow" panose="020B0004020202020204" pitchFamily="34" charset="0"/>
                        </a:rPr>
                        <a:t>Scrum Master</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l" fontAlgn="b">
                        <a:buNone/>
                      </a:pPr>
                      <a:r>
                        <a:rPr lang="en-US" sz="1100" b="0" i="0" u="none" strike="noStrike">
                          <a:solidFill>
                            <a:srgbClr val="000000"/>
                          </a:solidFill>
                          <a:effectLst/>
                          <a:latin typeface="Aptos Narrow" panose="020B0004020202020204" pitchFamily="34" charset="0"/>
                        </a:rPr>
                        <a:t>Joseph Hopkins</a:t>
                      </a:r>
                      <a:endParaRPr lang="en-IN" sz="1100" b="0" i="0" u="none" strike="noStrike">
                        <a:solidFill>
                          <a:srgbClr val="000000"/>
                        </a:solidFill>
                        <a:effectLst/>
                        <a:latin typeface="Aptos Narrow" panose="020B0004020202020204" pitchFamily="34" charset="0"/>
                      </a:endParaRP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a:solidFill>
                        <a:srgbClr val="FFFFFF"/>
                      </a:solidFill>
                    </a:lnB>
                  </a:tcPr>
                </a:tc>
                <a:tc>
                  <a:txBody>
                    <a:bodyPr/>
                    <a:lstStyle/>
                    <a:p>
                      <a:pPr algn="l" fontAlgn="b">
                        <a:buNone/>
                      </a:pPr>
                      <a:r>
                        <a:rPr lang="en-IN" sz="1100" b="0" i="0" u="none" strike="noStrike">
                          <a:solidFill>
                            <a:srgbClr val="000000"/>
                          </a:solidFill>
                          <a:effectLst/>
                          <a:latin typeface="Aptos Narrow" panose="020B0004020202020204" pitchFamily="34" charset="0"/>
                        </a:rPr>
                        <a:t>Help keeping high velocity and volume</a:t>
                      </a:r>
                    </a:p>
                  </a:txBody>
                  <a:tcPr marL="6350" marR="6350" marT="6350" marB="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tc>
                  <a:txBody>
                    <a:bodyPr/>
                    <a:lstStyle/>
                    <a:p>
                      <a:pPr algn="ctr" rtl="0" fontAlgn="base">
                        <a:lnSpc>
                          <a:spcPts val="1350"/>
                        </a:lnSpc>
                        <a:buNone/>
                      </a:pPr>
                      <a:r>
                        <a:rPr lang="en-US" sz="1100" b="0" i="0" u="none" strike="noStrike">
                          <a:solidFill>
                            <a:srgbClr val="000000"/>
                          </a:solidFill>
                          <a:effectLst/>
                          <a:latin typeface="Aptos Narrow"/>
                        </a:rPr>
                        <a:t>35</a:t>
                      </a:r>
                      <a:endParaRPr lang="en-US" sz="1100" b="0" i="0">
                        <a:solidFill>
                          <a:srgbClr val="000000"/>
                        </a:solidFill>
                        <a:effectLst/>
                        <a:latin typeface="Aptos Narrow"/>
                      </a:endParaRPr>
                    </a:p>
                  </a:txBody>
                  <a:tcPr marL="5020" marR="5020" marT="5020" anchor="b">
                    <a:lnL w="10039" cap="flat" cmpd="sng" algn="ctr">
                      <a:solidFill>
                        <a:srgbClr val="FFFFFF"/>
                      </a:solidFill>
                      <a:prstDash val="solid"/>
                      <a:round/>
                      <a:headEnd type="none" w="med" len="med"/>
                      <a:tailEnd type="none" w="med" len="med"/>
                    </a:lnL>
                    <a:lnR w="10039" cap="flat" cmpd="sng" algn="ctr">
                      <a:solidFill>
                        <a:srgbClr val="FFFFFF"/>
                      </a:solidFill>
                      <a:prstDash val="solid"/>
                      <a:round/>
                      <a:headEnd type="none" w="med" len="med"/>
                      <a:tailEnd type="none" w="med" len="med"/>
                    </a:lnR>
                    <a:lnT w="10039" cap="flat" cmpd="sng" algn="ctr">
                      <a:solidFill>
                        <a:srgbClr val="FFFFFF"/>
                      </a:solidFill>
                      <a:prstDash val="solid"/>
                      <a:round/>
                      <a:headEnd type="none" w="med" len="med"/>
                      <a:tailEnd type="none" w="med" len="med"/>
                    </a:lnT>
                    <a:lnB w="1003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53309162"/>
                  </a:ext>
                </a:extLst>
              </a:tr>
            </a:tbl>
          </a:graphicData>
        </a:graphic>
      </p:graphicFrame>
    </p:spTree>
    <p:extLst>
      <p:ext uri="{BB962C8B-B14F-4D97-AF65-F5344CB8AC3E}">
        <p14:creationId xmlns:p14="http://schemas.microsoft.com/office/powerpoint/2010/main" val="1294477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13AE7-16C9-0E5C-548D-E6C8ACBD0AFB}"/>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1A8E754-9D2D-F194-561C-3A171F8066A9}"/>
              </a:ext>
            </a:extLst>
          </p:cNvPr>
          <p:cNvSpPr>
            <a:spLocks noGrp="1"/>
          </p:cNvSpPr>
          <p:nvPr>
            <p:ph type="pic" sz="quarter" idx="14"/>
          </p:nvPr>
        </p:nvSpPr>
        <p:spPr/>
        <p:txBody>
          <a:bodyPr/>
          <a:lstStyle/>
          <a:p>
            <a:endParaRPr lang="en-IN"/>
          </a:p>
        </p:txBody>
      </p:sp>
      <p:sp>
        <p:nvSpPr>
          <p:cNvPr id="7" name="Title 6">
            <a:extLst>
              <a:ext uri="{FF2B5EF4-FFF2-40B4-BE49-F238E27FC236}">
                <a16:creationId xmlns:a16="http://schemas.microsoft.com/office/drawing/2014/main" id="{9D6855EC-6FE1-2D9C-10DB-A4B5B83FBDAD}"/>
              </a:ext>
            </a:extLst>
          </p:cNvPr>
          <p:cNvSpPr>
            <a:spLocks noGrp="1"/>
          </p:cNvSpPr>
          <p:nvPr>
            <p:ph type="title"/>
          </p:nvPr>
        </p:nvSpPr>
        <p:spPr/>
        <p:txBody>
          <a:bodyPr/>
          <a:lstStyle/>
          <a:p>
            <a:r>
              <a:rPr lang="en-US"/>
              <a:t>Appendix</a:t>
            </a:r>
            <a:endParaRPr lang="en-IN"/>
          </a:p>
        </p:txBody>
      </p:sp>
    </p:spTree>
    <p:extLst>
      <p:ext uri="{BB962C8B-B14F-4D97-AF65-F5344CB8AC3E}">
        <p14:creationId xmlns:p14="http://schemas.microsoft.com/office/powerpoint/2010/main" val="3666039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5076-0655-4836-B27D-2F93F10C6D02}"/>
            </a:ext>
          </a:extLst>
        </p:cNvPr>
        <p:cNvGrpSpPr/>
        <p:nvPr/>
      </p:nvGrpSpPr>
      <p:grpSpPr>
        <a:xfrm>
          <a:off x="0" y="0"/>
          <a:ext cx="0" cy="0"/>
          <a:chOff x="0" y="0"/>
          <a:chExt cx="0" cy="0"/>
        </a:xfrm>
      </p:grpSpPr>
      <p:sp>
        <p:nvSpPr>
          <p:cNvPr id="92" name="Text Placeholder 1">
            <a:extLst>
              <a:ext uri="{FF2B5EF4-FFF2-40B4-BE49-F238E27FC236}">
                <a16:creationId xmlns:a16="http://schemas.microsoft.com/office/drawing/2014/main" id="{76EF9885-550B-0162-D890-B1C681784319}"/>
              </a:ext>
            </a:extLst>
          </p:cNvPr>
          <p:cNvSpPr>
            <a:spLocks noGrp="1"/>
          </p:cNvSpPr>
          <p:nvPr/>
        </p:nvSpPr>
        <p:spPr>
          <a:xfrm>
            <a:off x="467828" y="485747"/>
            <a:ext cx="1745674" cy="327751"/>
          </a:xfrm>
          <a:prstGeom prst="roundRect">
            <a:avLst>
              <a:gd name="adj" fmla="val 50000"/>
            </a:avLst>
          </a:prstGeom>
          <a:solidFill>
            <a:schemeClr val="accent6"/>
          </a:solidFill>
        </p:spPr>
        <p:txBody>
          <a:bodyPr wrap="none" lIns="180000" tIns="0" rIns="180000" bIns="0" anchor="ctr" anchorCtr="0">
            <a:spAutoFit/>
          </a:bodyPr>
          <a:lstStyle>
            <a:lvl1pPr marL="0" indent="0" algn="l" defTabSz="914318" rtl="0" eaLnBrk="1" latinLnBrk="0" hangingPunct="1">
              <a:lnSpc>
                <a:spcPct val="120000"/>
              </a:lnSpc>
              <a:spcBef>
                <a:spcPts val="1000"/>
              </a:spcBef>
              <a:buFont typeface="Arial" panose="020B0604020202020204" pitchFamily="34" charset="0"/>
              <a:buNone/>
              <a:defRPr lang="en-US" sz="1400" b="1" kern="1200" cap="all" baseline="0" dirty="0">
                <a:solidFill>
                  <a:schemeClr val="bg1"/>
                </a:solidFill>
                <a:latin typeface="Century Gothic" panose="020B0502020202020204" pitchFamily="34" charset="0"/>
                <a:ea typeface="+mn-ea"/>
                <a:cs typeface="+mn-cs"/>
              </a:defRPr>
            </a:lvl1pPr>
            <a:lvl2pPr marL="0" indent="0" algn="l" defTabSz="914318" rtl="0" eaLnBrk="1" latinLnBrk="0" hangingPunct="1">
              <a:lnSpc>
                <a:spcPct val="120000"/>
              </a:lnSpc>
              <a:spcBef>
                <a:spcPts val="499"/>
              </a:spcBef>
              <a:buFont typeface="Arial" panose="020B0604020202020204" pitchFamily="34" charset="0"/>
              <a:buNone/>
              <a:defRPr sz="1800" kern="1200">
                <a:solidFill>
                  <a:schemeClr val="tx1"/>
                </a:solidFill>
                <a:latin typeface="+mn-lt"/>
                <a:ea typeface="+mn-ea"/>
                <a:cs typeface="+mn-cs"/>
              </a:defRPr>
            </a:lvl2pPr>
            <a:lvl3pPr marL="0" indent="0" algn="l" defTabSz="914318" rtl="0" eaLnBrk="1" latinLnBrk="0" hangingPunct="1">
              <a:lnSpc>
                <a:spcPct val="120000"/>
              </a:lnSpc>
              <a:spcBef>
                <a:spcPts val="499"/>
              </a:spcBef>
              <a:buFont typeface="Arial" panose="020B0604020202020204" pitchFamily="34" charset="0"/>
              <a:buNone/>
              <a:defRPr sz="1200" kern="1200">
                <a:solidFill>
                  <a:schemeClr val="tx1"/>
                </a:solidFill>
                <a:latin typeface="+mn-lt"/>
                <a:ea typeface="+mn-ea"/>
                <a:cs typeface="+mn-cs"/>
              </a:defRPr>
            </a:lvl3pPr>
            <a:lvl4pPr marL="0" indent="0" algn="l" defTabSz="914318" rtl="0" eaLnBrk="1" latinLnBrk="0" hangingPunct="1">
              <a:lnSpc>
                <a:spcPct val="120000"/>
              </a:lnSpc>
              <a:spcBef>
                <a:spcPts val="499"/>
              </a:spcBef>
              <a:buFont typeface="Arial" panose="020B0604020202020204" pitchFamily="34" charset="0"/>
              <a:buNone/>
              <a:defRPr sz="1000" kern="1200">
                <a:solidFill>
                  <a:schemeClr val="tx1">
                    <a:alpha val="70000"/>
                  </a:schemeClr>
                </a:solidFill>
                <a:latin typeface="+mn-lt"/>
                <a:ea typeface="+mn-ea"/>
                <a:cs typeface="+mn-cs"/>
              </a:defRPr>
            </a:lvl4pPr>
            <a:lvl5pPr marL="0" indent="0" algn="l" defTabSz="914318" rtl="0" eaLnBrk="1" latinLnBrk="0" hangingPunct="1">
              <a:lnSpc>
                <a:spcPct val="120000"/>
              </a:lnSpc>
              <a:spcBef>
                <a:spcPts val="499"/>
              </a:spcBef>
              <a:buFont typeface="Arial" panose="020B0604020202020204" pitchFamily="34" charset="0"/>
              <a:buNone/>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r>
              <a:rPr lang="en-US">
                <a:latin typeface="Century Gothic"/>
              </a:rPr>
              <a:t>Process flow</a:t>
            </a:r>
          </a:p>
        </p:txBody>
      </p:sp>
      <p:sp>
        <p:nvSpPr>
          <p:cNvPr id="93" name="Title 3">
            <a:extLst>
              <a:ext uri="{FF2B5EF4-FFF2-40B4-BE49-F238E27FC236}">
                <a16:creationId xmlns:a16="http://schemas.microsoft.com/office/drawing/2014/main" id="{E5736D51-2C69-8E24-0AA4-0B448234FD60}"/>
              </a:ext>
            </a:extLst>
          </p:cNvPr>
          <p:cNvSpPr>
            <a:spLocks noGrp="1"/>
          </p:cNvSpPr>
          <p:nvPr/>
        </p:nvSpPr>
        <p:spPr>
          <a:xfrm>
            <a:off x="467827" y="1042740"/>
            <a:ext cx="10703756" cy="453595"/>
          </a:xfrm>
          <a:prstGeom prst="rect">
            <a:avLst/>
          </a:prstGeom>
        </p:spPr>
        <p:txBody>
          <a:bodyPr anchor="t" anchorCtr="0">
            <a:noAutofit/>
          </a:bodyPr>
          <a:lstStyle>
            <a:lvl1pPr algn="l" defTabSz="914318" rtl="0" eaLnBrk="1" latinLnBrk="0" hangingPunct="1">
              <a:lnSpc>
                <a:spcPct val="80000"/>
              </a:lnSpc>
              <a:spcBef>
                <a:spcPct val="0"/>
              </a:spcBef>
              <a:buNone/>
              <a:defRPr sz="3600" b="1" i="0" kern="1200" cap="none" spc="0" baseline="0">
                <a:solidFill>
                  <a:schemeClr val="tx1"/>
                </a:solidFill>
                <a:latin typeface="Century Gothic" panose="020B0502020202020204" pitchFamily="34" charset="0"/>
                <a:ea typeface="+mj-ea"/>
                <a:cs typeface="+mj-cs"/>
              </a:defRPr>
            </a:lvl1pPr>
          </a:lstStyle>
          <a:p>
            <a:r>
              <a:rPr lang="en-CA">
                <a:latin typeface="+mn-lt"/>
              </a:rPr>
              <a:t>Detailed Process Flow</a:t>
            </a:r>
            <a:endParaRPr lang="en-US"/>
          </a:p>
        </p:txBody>
      </p:sp>
      <p:pic>
        <p:nvPicPr>
          <p:cNvPr id="94" name="Picture 93" descr="User Icon Vector Art, Icons, and Graphics for Free Download">
            <a:extLst>
              <a:ext uri="{FF2B5EF4-FFF2-40B4-BE49-F238E27FC236}">
                <a16:creationId xmlns:a16="http://schemas.microsoft.com/office/drawing/2014/main" id="{0E5AC851-3B3F-3CF9-D4F9-6FAB27E6521A}"/>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5306" t="25152" r="20562" b="18370"/>
          <a:stretch>
            <a:fillRect/>
          </a:stretch>
        </p:blipFill>
        <p:spPr bwMode="auto">
          <a:xfrm>
            <a:off x="566878" y="3220526"/>
            <a:ext cx="610915" cy="637392"/>
          </a:xfrm>
          <a:prstGeom prst="rect">
            <a:avLst/>
          </a:prstGeom>
          <a:noFill/>
          <a:ln w="6350">
            <a:noFill/>
          </a:ln>
          <a:extLst>
            <a:ext uri="{909E8E84-426E-40DD-AFC4-6F175D3DCCD1}">
              <a14:hiddenFill xmlns:a14="http://schemas.microsoft.com/office/drawing/2010/main">
                <a:solidFill>
                  <a:srgbClr val="FFFFFF"/>
                </a:solidFill>
              </a14:hiddenFill>
            </a:ext>
          </a:extLst>
        </p:spPr>
      </p:pic>
      <p:sp>
        <p:nvSpPr>
          <p:cNvPr id="95" name="Rectangle 94">
            <a:extLst>
              <a:ext uri="{FF2B5EF4-FFF2-40B4-BE49-F238E27FC236}">
                <a16:creationId xmlns:a16="http://schemas.microsoft.com/office/drawing/2014/main" id="{19D5BBA1-72FD-03D9-57F9-A1961D7935DC}"/>
              </a:ext>
            </a:extLst>
          </p:cNvPr>
          <p:cNvSpPr/>
          <p:nvPr/>
        </p:nvSpPr>
        <p:spPr>
          <a:xfrm>
            <a:off x="2031642" y="1719072"/>
            <a:ext cx="1283196" cy="3894618"/>
          </a:xfrm>
          <a:prstGeom prst="rect">
            <a:avLst/>
          </a:prstGeom>
          <a:ln w="952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sz="800"/>
          </a:p>
        </p:txBody>
      </p:sp>
      <p:sp>
        <p:nvSpPr>
          <p:cNvPr id="96" name="Rectangle 95">
            <a:extLst>
              <a:ext uri="{FF2B5EF4-FFF2-40B4-BE49-F238E27FC236}">
                <a16:creationId xmlns:a16="http://schemas.microsoft.com/office/drawing/2014/main" id="{204EE13B-A065-14DC-CC17-43B12400B3DA}"/>
              </a:ext>
            </a:extLst>
          </p:cNvPr>
          <p:cNvSpPr/>
          <p:nvPr/>
        </p:nvSpPr>
        <p:spPr>
          <a:xfrm>
            <a:off x="3592218" y="1719072"/>
            <a:ext cx="6989052" cy="1797594"/>
          </a:xfrm>
          <a:prstGeom prst="rect">
            <a:avLst/>
          </a:prstGeom>
          <a:ln w="6350"/>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sz="800"/>
          </a:p>
        </p:txBody>
      </p:sp>
      <p:sp>
        <p:nvSpPr>
          <p:cNvPr id="97" name="Rectangle 96">
            <a:extLst>
              <a:ext uri="{FF2B5EF4-FFF2-40B4-BE49-F238E27FC236}">
                <a16:creationId xmlns:a16="http://schemas.microsoft.com/office/drawing/2014/main" id="{84319F4A-95BE-6E9C-0B9C-107588C0BB81}"/>
              </a:ext>
            </a:extLst>
          </p:cNvPr>
          <p:cNvSpPr/>
          <p:nvPr/>
        </p:nvSpPr>
        <p:spPr>
          <a:xfrm>
            <a:off x="3603339" y="3842014"/>
            <a:ext cx="6989052" cy="1797594"/>
          </a:xfrm>
          <a:prstGeom prst="rect">
            <a:avLst/>
          </a:prstGeom>
          <a:ln w="6350"/>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sz="800"/>
          </a:p>
        </p:txBody>
      </p:sp>
      <p:sp>
        <p:nvSpPr>
          <p:cNvPr id="98" name="Rectangle 97">
            <a:extLst>
              <a:ext uri="{FF2B5EF4-FFF2-40B4-BE49-F238E27FC236}">
                <a16:creationId xmlns:a16="http://schemas.microsoft.com/office/drawing/2014/main" id="{4300ADD9-37E6-89E2-3BD6-42FC1366302F}"/>
              </a:ext>
            </a:extLst>
          </p:cNvPr>
          <p:cNvSpPr/>
          <p:nvPr/>
        </p:nvSpPr>
        <p:spPr>
          <a:xfrm>
            <a:off x="4273134" y="1943350"/>
            <a:ext cx="979729" cy="293311"/>
          </a:xfrm>
          <a:prstGeom prst="rect">
            <a:avLst/>
          </a:prstGeom>
          <a:ln w="6350"/>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b="1">
                <a:solidFill>
                  <a:schemeClr val="bg1"/>
                </a:solidFill>
              </a:rPr>
              <a:t>Retrieval</a:t>
            </a:r>
            <a:endParaRPr lang="en-IN" sz="800" b="1">
              <a:solidFill>
                <a:schemeClr val="bg1"/>
              </a:solidFill>
            </a:endParaRPr>
          </a:p>
        </p:txBody>
      </p:sp>
      <p:sp>
        <p:nvSpPr>
          <p:cNvPr id="99" name="Rectangle 98">
            <a:extLst>
              <a:ext uri="{FF2B5EF4-FFF2-40B4-BE49-F238E27FC236}">
                <a16:creationId xmlns:a16="http://schemas.microsoft.com/office/drawing/2014/main" id="{69024B7A-1036-E79F-26FC-5281A7885A84}"/>
              </a:ext>
            </a:extLst>
          </p:cNvPr>
          <p:cNvSpPr/>
          <p:nvPr/>
        </p:nvSpPr>
        <p:spPr>
          <a:xfrm>
            <a:off x="2182206" y="2022597"/>
            <a:ext cx="979729" cy="445711"/>
          </a:xfrm>
          <a:prstGeom prst="rect">
            <a:avLst/>
          </a:prstGeom>
          <a:ln w="6350"/>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b="1">
                <a:solidFill>
                  <a:schemeClr val="bg1"/>
                </a:solidFill>
              </a:rPr>
              <a:t>Home</a:t>
            </a:r>
            <a:endParaRPr lang="en-US" sz="800"/>
          </a:p>
        </p:txBody>
      </p:sp>
      <p:sp>
        <p:nvSpPr>
          <p:cNvPr id="100" name="Rectangle 99">
            <a:extLst>
              <a:ext uri="{FF2B5EF4-FFF2-40B4-BE49-F238E27FC236}">
                <a16:creationId xmlns:a16="http://schemas.microsoft.com/office/drawing/2014/main" id="{CC0516C6-3942-ADA9-D18F-5281711E7CF9}"/>
              </a:ext>
            </a:extLst>
          </p:cNvPr>
          <p:cNvSpPr/>
          <p:nvPr/>
        </p:nvSpPr>
        <p:spPr>
          <a:xfrm>
            <a:off x="2182206" y="3205221"/>
            <a:ext cx="979729" cy="445711"/>
          </a:xfrm>
          <a:prstGeom prst="rect">
            <a:avLst/>
          </a:prstGeom>
          <a:ln w="6350"/>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b="1">
                <a:solidFill>
                  <a:schemeClr val="bg1"/>
                </a:solidFill>
              </a:rPr>
              <a:t>Modeling</a:t>
            </a:r>
            <a:endParaRPr lang="en-US" sz="800"/>
          </a:p>
        </p:txBody>
      </p:sp>
      <p:sp>
        <p:nvSpPr>
          <p:cNvPr id="101" name="Rectangle 100">
            <a:extLst>
              <a:ext uri="{FF2B5EF4-FFF2-40B4-BE49-F238E27FC236}">
                <a16:creationId xmlns:a16="http://schemas.microsoft.com/office/drawing/2014/main" id="{596B5195-A2B9-FCE0-CDB4-0E02A1E1FFB2}"/>
              </a:ext>
            </a:extLst>
          </p:cNvPr>
          <p:cNvSpPr/>
          <p:nvPr/>
        </p:nvSpPr>
        <p:spPr>
          <a:xfrm>
            <a:off x="2182206" y="4491477"/>
            <a:ext cx="979729" cy="445711"/>
          </a:xfrm>
          <a:prstGeom prst="rect">
            <a:avLst/>
          </a:prstGeom>
          <a:ln w="6350"/>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b="1">
                <a:solidFill>
                  <a:schemeClr val="bg1"/>
                </a:solidFill>
              </a:rPr>
              <a:t>Connect</a:t>
            </a:r>
            <a:endParaRPr lang="en-US" sz="800"/>
          </a:p>
        </p:txBody>
      </p:sp>
      <p:sp>
        <p:nvSpPr>
          <p:cNvPr id="102" name="Rectangle 101">
            <a:extLst>
              <a:ext uri="{FF2B5EF4-FFF2-40B4-BE49-F238E27FC236}">
                <a16:creationId xmlns:a16="http://schemas.microsoft.com/office/drawing/2014/main" id="{6D312188-FC3C-2FD3-530C-91713CF5B0B7}"/>
              </a:ext>
            </a:extLst>
          </p:cNvPr>
          <p:cNvSpPr/>
          <p:nvPr/>
        </p:nvSpPr>
        <p:spPr>
          <a:xfrm>
            <a:off x="4315806" y="4345173"/>
            <a:ext cx="979729" cy="445711"/>
          </a:xfrm>
          <a:prstGeom prst="rect">
            <a:avLst/>
          </a:prstGeom>
          <a:ln w="6350"/>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b="1" err="1">
                <a:solidFill>
                  <a:schemeClr val="bg1"/>
                </a:solidFill>
              </a:rPr>
              <a:t>Metastore</a:t>
            </a:r>
            <a:endParaRPr lang="en-US" sz="800">
              <a:solidFill>
                <a:schemeClr val="bg1"/>
              </a:solidFill>
            </a:endParaRPr>
          </a:p>
        </p:txBody>
      </p:sp>
      <p:sp>
        <p:nvSpPr>
          <p:cNvPr id="103" name="Rectangle 102">
            <a:extLst>
              <a:ext uri="{FF2B5EF4-FFF2-40B4-BE49-F238E27FC236}">
                <a16:creationId xmlns:a16="http://schemas.microsoft.com/office/drawing/2014/main" id="{8D499C0B-D8E9-3693-8C3E-9FC23B9257E2}"/>
              </a:ext>
            </a:extLst>
          </p:cNvPr>
          <p:cNvSpPr/>
          <p:nvPr/>
        </p:nvSpPr>
        <p:spPr>
          <a:xfrm>
            <a:off x="7089486" y="4046469"/>
            <a:ext cx="979729" cy="445711"/>
          </a:xfrm>
          <a:prstGeom prst="rect">
            <a:avLst/>
          </a:prstGeom>
          <a:ln w="6350"/>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b="1">
                <a:solidFill>
                  <a:schemeClr val="bg1"/>
                </a:solidFill>
              </a:rPr>
              <a:t>Core</a:t>
            </a:r>
            <a:endParaRPr lang="en-US" sz="800"/>
          </a:p>
        </p:txBody>
      </p:sp>
      <p:sp>
        <p:nvSpPr>
          <p:cNvPr id="104" name="Rectangle 103">
            <a:extLst>
              <a:ext uri="{FF2B5EF4-FFF2-40B4-BE49-F238E27FC236}">
                <a16:creationId xmlns:a16="http://schemas.microsoft.com/office/drawing/2014/main" id="{D39A07F6-CFFA-4A66-D911-BA599CF70977}"/>
              </a:ext>
            </a:extLst>
          </p:cNvPr>
          <p:cNvSpPr/>
          <p:nvPr/>
        </p:nvSpPr>
        <p:spPr>
          <a:xfrm>
            <a:off x="7089486" y="4790181"/>
            <a:ext cx="979729" cy="445711"/>
          </a:xfrm>
          <a:prstGeom prst="rect">
            <a:avLst/>
          </a:prstGeom>
          <a:ln w="6350"/>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b="1">
                <a:solidFill>
                  <a:schemeClr val="bg1"/>
                </a:solidFill>
              </a:rPr>
              <a:t>Data Source Connectors</a:t>
            </a:r>
            <a:endParaRPr lang="en-IN" sz="800" b="1">
              <a:solidFill>
                <a:schemeClr val="bg1"/>
              </a:solidFill>
            </a:endParaRPr>
          </a:p>
        </p:txBody>
      </p:sp>
      <p:sp>
        <p:nvSpPr>
          <p:cNvPr id="105" name="Rectangle 104">
            <a:extLst>
              <a:ext uri="{FF2B5EF4-FFF2-40B4-BE49-F238E27FC236}">
                <a16:creationId xmlns:a16="http://schemas.microsoft.com/office/drawing/2014/main" id="{CDA8AA8E-B5EB-81E3-CF5F-8C4A24C37FB8}"/>
              </a:ext>
            </a:extLst>
          </p:cNvPr>
          <p:cNvSpPr/>
          <p:nvPr/>
        </p:nvSpPr>
        <p:spPr>
          <a:xfrm>
            <a:off x="6406734" y="1943349"/>
            <a:ext cx="979729" cy="293311"/>
          </a:xfrm>
          <a:prstGeom prst="rect">
            <a:avLst/>
          </a:prstGeom>
          <a:ln w="6350"/>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b="1">
                <a:solidFill>
                  <a:schemeClr val="bg1"/>
                </a:solidFill>
              </a:rPr>
              <a:t>Prompt</a:t>
            </a:r>
            <a:endParaRPr lang="en-US" sz="800"/>
          </a:p>
        </p:txBody>
      </p:sp>
      <p:sp>
        <p:nvSpPr>
          <p:cNvPr id="106" name="Rectangle 105">
            <a:extLst>
              <a:ext uri="{FF2B5EF4-FFF2-40B4-BE49-F238E27FC236}">
                <a16:creationId xmlns:a16="http://schemas.microsoft.com/office/drawing/2014/main" id="{0DFFFBE6-EE79-F210-863A-B2D831BA0949}"/>
              </a:ext>
            </a:extLst>
          </p:cNvPr>
          <p:cNvSpPr/>
          <p:nvPr/>
        </p:nvSpPr>
        <p:spPr>
          <a:xfrm>
            <a:off x="8564718" y="2046981"/>
            <a:ext cx="979729" cy="390847"/>
          </a:xfrm>
          <a:prstGeom prst="rect">
            <a:avLst/>
          </a:prstGeom>
          <a:ln w="6350"/>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b="1">
                <a:solidFill>
                  <a:schemeClr val="bg1"/>
                </a:solidFill>
              </a:rPr>
              <a:t>Output </a:t>
            </a:r>
            <a:r>
              <a:rPr lang="en-US" sz="800" b="1" err="1">
                <a:solidFill>
                  <a:schemeClr val="bg1"/>
                </a:solidFill>
              </a:rPr>
              <a:t>Processsing</a:t>
            </a:r>
            <a:endParaRPr lang="en-US" sz="800" err="1">
              <a:solidFill>
                <a:schemeClr val="bg1"/>
              </a:solidFill>
            </a:endParaRPr>
          </a:p>
        </p:txBody>
      </p:sp>
      <p:sp>
        <p:nvSpPr>
          <p:cNvPr id="107" name="Rectangle 106">
            <a:extLst>
              <a:ext uri="{FF2B5EF4-FFF2-40B4-BE49-F238E27FC236}">
                <a16:creationId xmlns:a16="http://schemas.microsoft.com/office/drawing/2014/main" id="{3B7D0F80-E0AC-F7E6-9626-A117ADEF178D}"/>
              </a:ext>
            </a:extLst>
          </p:cNvPr>
          <p:cNvSpPr/>
          <p:nvPr/>
        </p:nvSpPr>
        <p:spPr>
          <a:xfrm>
            <a:off x="7284558" y="5753349"/>
            <a:ext cx="979729" cy="445711"/>
          </a:xfrm>
          <a:prstGeom prst="rect">
            <a:avLst/>
          </a:prstGeom>
          <a:solidFill>
            <a:schemeClr val="accent4">
              <a:lumMod val="20000"/>
              <a:lumOff val="80000"/>
            </a:schemeClr>
          </a:solidFill>
          <a:ln w="6350"/>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b="1">
                <a:solidFill>
                  <a:schemeClr val="tx1"/>
                </a:solidFill>
              </a:rPr>
              <a:t>SAP / EDP</a:t>
            </a:r>
            <a:endParaRPr lang="en-US" sz="800">
              <a:solidFill>
                <a:schemeClr val="tx1"/>
              </a:solidFill>
            </a:endParaRPr>
          </a:p>
        </p:txBody>
      </p:sp>
      <p:sp>
        <p:nvSpPr>
          <p:cNvPr id="108" name="Rectangle 107">
            <a:extLst>
              <a:ext uri="{FF2B5EF4-FFF2-40B4-BE49-F238E27FC236}">
                <a16:creationId xmlns:a16="http://schemas.microsoft.com/office/drawing/2014/main" id="{9EFA0B13-070E-3712-B8EA-C9170AA87BB4}"/>
              </a:ext>
            </a:extLst>
          </p:cNvPr>
          <p:cNvSpPr/>
          <p:nvPr/>
        </p:nvSpPr>
        <p:spPr>
          <a:xfrm>
            <a:off x="4273134" y="2394453"/>
            <a:ext cx="979729" cy="360367"/>
          </a:xfrm>
          <a:prstGeom prst="rect">
            <a:avLst/>
          </a:prstGeom>
          <a:ln w="6350"/>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b="1">
                <a:solidFill>
                  <a:schemeClr val="bg1"/>
                </a:solidFill>
              </a:rPr>
              <a:t>Vector </a:t>
            </a:r>
            <a:r>
              <a:rPr lang="en-US" sz="800" b="1" err="1">
                <a:solidFill>
                  <a:schemeClr val="bg1"/>
                </a:solidFill>
              </a:rPr>
              <a:t>Databas</a:t>
            </a:r>
            <a:r>
              <a:rPr lang="en-US" sz="800" b="1">
                <a:solidFill>
                  <a:schemeClr val="bg1"/>
                </a:solidFill>
              </a:rPr>
              <a:t>e</a:t>
            </a:r>
            <a:endParaRPr lang="en-US" sz="800">
              <a:solidFill>
                <a:schemeClr val="bg1"/>
              </a:solidFill>
            </a:endParaRPr>
          </a:p>
        </p:txBody>
      </p:sp>
      <p:sp>
        <p:nvSpPr>
          <p:cNvPr id="109" name="Rectangle 108">
            <a:extLst>
              <a:ext uri="{FF2B5EF4-FFF2-40B4-BE49-F238E27FC236}">
                <a16:creationId xmlns:a16="http://schemas.microsoft.com/office/drawing/2014/main" id="{07F576A6-698C-91E8-A316-1C7568E7BDE2}"/>
              </a:ext>
            </a:extLst>
          </p:cNvPr>
          <p:cNvSpPr/>
          <p:nvPr/>
        </p:nvSpPr>
        <p:spPr>
          <a:xfrm>
            <a:off x="4273134" y="2930901"/>
            <a:ext cx="979729" cy="366463"/>
          </a:xfrm>
          <a:prstGeom prst="rect">
            <a:avLst/>
          </a:prstGeom>
          <a:ln w="6350"/>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800" b="1">
                <a:solidFill>
                  <a:schemeClr val="bg1"/>
                </a:solidFill>
              </a:rPr>
              <a:t>Index Processing</a:t>
            </a:r>
            <a:endParaRPr lang="en-US" sz="800"/>
          </a:p>
        </p:txBody>
      </p:sp>
      <p:sp>
        <p:nvSpPr>
          <p:cNvPr id="110" name="Rectangle 109">
            <a:extLst>
              <a:ext uri="{FF2B5EF4-FFF2-40B4-BE49-F238E27FC236}">
                <a16:creationId xmlns:a16="http://schemas.microsoft.com/office/drawing/2014/main" id="{974ED1A7-C834-65A5-2CD8-263455A39DDD}"/>
              </a:ext>
            </a:extLst>
          </p:cNvPr>
          <p:cNvSpPr/>
          <p:nvPr/>
        </p:nvSpPr>
        <p:spPr>
          <a:xfrm>
            <a:off x="8266014" y="809493"/>
            <a:ext cx="979729" cy="683455"/>
          </a:xfrm>
          <a:prstGeom prst="rect">
            <a:avLst/>
          </a:prstGeom>
          <a:solidFill>
            <a:schemeClr val="accent4">
              <a:lumMod val="20000"/>
              <a:lumOff val="80000"/>
            </a:schemeClr>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900" b="1">
                <a:solidFill>
                  <a:schemeClr val="tx1"/>
                </a:solidFill>
              </a:rPr>
              <a:t>LLM (Azure OpenAI / Gemini)</a:t>
            </a:r>
            <a:endParaRPr lang="en-US">
              <a:solidFill>
                <a:schemeClr val="tx1"/>
              </a:solidFill>
            </a:endParaRPr>
          </a:p>
        </p:txBody>
      </p:sp>
      <p:cxnSp>
        <p:nvCxnSpPr>
          <p:cNvPr id="111" name="Connector: Elbow 110">
            <a:extLst>
              <a:ext uri="{FF2B5EF4-FFF2-40B4-BE49-F238E27FC236}">
                <a16:creationId xmlns:a16="http://schemas.microsoft.com/office/drawing/2014/main" id="{0D0F44D5-0288-ED3E-A0EE-25FC7E51A6E3}"/>
              </a:ext>
            </a:extLst>
          </p:cNvPr>
          <p:cNvCxnSpPr/>
          <p:nvPr/>
        </p:nvCxnSpPr>
        <p:spPr>
          <a:xfrm flipV="1">
            <a:off x="3160395" y="3096386"/>
            <a:ext cx="1139952" cy="335280"/>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5987505B-BCCE-E804-7528-0D0B363B78B5}"/>
              </a:ext>
            </a:extLst>
          </p:cNvPr>
          <p:cNvCxnSpPr>
            <a:cxnSpLocks/>
          </p:cNvCxnSpPr>
          <p:nvPr/>
        </p:nvCxnSpPr>
        <p:spPr>
          <a:xfrm>
            <a:off x="886587" y="3626738"/>
            <a:ext cx="1292352" cy="1085088"/>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7F37A8FD-0637-6120-6FDD-38248FEC3BCC}"/>
              </a:ext>
            </a:extLst>
          </p:cNvPr>
          <p:cNvCxnSpPr/>
          <p:nvPr/>
        </p:nvCxnSpPr>
        <p:spPr>
          <a:xfrm flipV="1">
            <a:off x="913638" y="3483102"/>
            <a:ext cx="1292352" cy="609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45B2BCF3-7C68-2181-4FA1-B8DD439DD8E6}"/>
              </a:ext>
            </a:extLst>
          </p:cNvPr>
          <p:cNvCxnSpPr>
            <a:cxnSpLocks/>
          </p:cNvCxnSpPr>
          <p:nvPr/>
        </p:nvCxnSpPr>
        <p:spPr>
          <a:xfrm flipV="1">
            <a:off x="3163061" y="2093214"/>
            <a:ext cx="1152144" cy="1219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4A8969C7-4372-E3A0-5052-60E85760B51D}"/>
              </a:ext>
            </a:extLst>
          </p:cNvPr>
          <p:cNvCxnSpPr>
            <a:cxnSpLocks/>
          </p:cNvCxnSpPr>
          <p:nvPr/>
        </p:nvCxnSpPr>
        <p:spPr>
          <a:xfrm flipV="1">
            <a:off x="5253989" y="2093213"/>
            <a:ext cx="1152144" cy="1219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835B6A6F-969B-1A6B-2260-9DD123F2E6CE}"/>
              </a:ext>
            </a:extLst>
          </p:cNvPr>
          <p:cNvCxnSpPr>
            <a:cxnSpLocks/>
          </p:cNvCxnSpPr>
          <p:nvPr/>
        </p:nvCxnSpPr>
        <p:spPr>
          <a:xfrm flipH="1">
            <a:off x="8085963" y="2267330"/>
            <a:ext cx="481584" cy="1926336"/>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Connector: Elbow 116">
            <a:extLst>
              <a:ext uri="{FF2B5EF4-FFF2-40B4-BE49-F238E27FC236}">
                <a16:creationId xmlns:a16="http://schemas.microsoft.com/office/drawing/2014/main" id="{7A9EF2B2-0812-1F55-C10F-A59714AF205C}"/>
              </a:ext>
            </a:extLst>
          </p:cNvPr>
          <p:cNvCxnSpPr>
            <a:cxnSpLocks/>
          </p:cNvCxnSpPr>
          <p:nvPr/>
        </p:nvCxnSpPr>
        <p:spPr>
          <a:xfrm>
            <a:off x="3166491" y="3425570"/>
            <a:ext cx="1139952" cy="1127760"/>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E49D78C5-10EA-1F2E-BCF8-51C24FAA2011}"/>
              </a:ext>
            </a:extLst>
          </p:cNvPr>
          <p:cNvCxnSpPr>
            <a:cxnSpLocks/>
          </p:cNvCxnSpPr>
          <p:nvPr/>
        </p:nvCxnSpPr>
        <p:spPr>
          <a:xfrm>
            <a:off x="2590037" y="6037325"/>
            <a:ext cx="4693920" cy="24384"/>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23EBC009-D332-20C8-C529-C613D3E16306}"/>
              </a:ext>
            </a:extLst>
          </p:cNvPr>
          <p:cNvCxnSpPr>
            <a:cxnSpLocks/>
          </p:cNvCxnSpPr>
          <p:nvPr/>
        </p:nvCxnSpPr>
        <p:spPr>
          <a:xfrm flipV="1">
            <a:off x="2967989" y="3647693"/>
            <a:ext cx="12192" cy="85344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82063D0E-3FE4-9EFC-A767-AFB720FD7397}"/>
              </a:ext>
            </a:extLst>
          </p:cNvPr>
          <p:cNvCxnSpPr/>
          <p:nvPr/>
        </p:nvCxnSpPr>
        <p:spPr>
          <a:xfrm>
            <a:off x="2968752" y="4940808"/>
            <a:ext cx="6096" cy="853440"/>
          </a:xfrm>
          <a:prstGeom prst="straightConnector1">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EC6B7BE5-53B1-58EF-21B6-48A1FEAAE375}"/>
              </a:ext>
            </a:extLst>
          </p:cNvPr>
          <p:cNvCxnSpPr>
            <a:cxnSpLocks/>
          </p:cNvCxnSpPr>
          <p:nvPr/>
        </p:nvCxnSpPr>
        <p:spPr>
          <a:xfrm>
            <a:off x="2961893" y="5817869"/>
            <a:ext cx="4328160" cy="24384"/>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A34B90E3-5C76-53FB-5DCD-A2A111F295E1}"/>
              </a:ext>
            </a:extLst>
          </p:cNvPr>
          <p:cNvCxnSpPr>
            <a:cxnSpLocks/>
          </p:cNvCxnSpPr>
          <p:nvPr/>
        </p:nvCxnSpPr>
        <p:spPr>
          <a:xfrm flipH="1">
            <a:off x="2596896" y="4934712"/>
            <a:ext cx="6096" cy="1115568"/>
          </a:xfrm>
          <a:prstGeom prst="straightConnector1">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C11749D0-C358-4A7D-B85F-3DDDEE35D6BB}"/>
              </a:ext>
            </a:extLst>
          </p:cNvPr>
          <p:cNvCxnSpPr>
            <a:cxnSpLocks/>
          </p:cNvCxnSpPr>
          <p:nvPr/>
        </p:nvCxnSpPr>
        <p:spPr>
          <a:xfrm>
            <a:off x="4693157" y="2233421"/>
            <a:ext cx="0" cy="22555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D480C135-53D6-6CEA-1FE9-5F7FB8A2A68F}"/>
              </a:ext>
            </a:extLst>
          </p:cNvPr>
          <p:cNvCxnSpPr>
            <a:cxnSpLocks/>
          </p:cNvCxnSpPr>
          <p:nvPr/>
        </p:nvCxnSpPr>
        <p:spPr>
          <a:xfrm flipV="1">
            <a:off x="4869941" y="2733293"/>
            <a:ext cx="6096" cy="18288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79D9BA41-A7B8-2456-CC37-8E601AD6CEFB}"/>
              </a:ext>
            </a:extLst>
          </p:cNvPr>
          <p:cNvCxnSpPr>
            <a:cxnSpLocks/>
          </p:cNvCxnSpPr>
          <p:nvPr/>
        </p:nvCxnSpPr>
        <p:spPr>
          <a:xfrm flipV="1">
            <a:off x="4827269" y="2178557"/>
            <a:ext cx="6096" cy="18288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Connector: Elbow 125">
            <a:extLst>
              <a:ext uri="{FF2B5EF4-FFF2-40B4-BE49-F238E27FC236}">
                <a16:creationId xmlns:a16="http://schemas.microsoft.com/office/drawing/2014/main" id="{7EFF25C1-3A91-4471-4BDC-C8E2CD28489C}"/>
              </a:ext>
            </a:extLst>
          </p:cNvPr>
          <p:cNvCxnSpPr>
            <a:cxnSpLocks/>
          </p:cNvCxnSpPr>
          <p:nvPr/>
        </p:nvCxnSpPr>
        <p:spPr>
          <a:xfrm flipV="1">
            <a:off x="7391018" y="993266"/>
            <a:ext cx="835152" cy="1176528"/>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Connector: Elbow 126">
            <a:extLst>
              <a:ext uri="{FF2B5EF4-FFF2-40B4-BE49-F238E27FC236}">
                <a16:creationId xmlns:a16="http://schemas.microsoft.com/office/drawing/2014/main" id="{FDA8B136-8CE6-AD35-4689-87AD4BC15DE9}"/>
              </a:ext>
            </a:extLst>
          </p:cNvPr>
          <p:cNvCxnSpPr>
            <a:cxnSpLocks/>
          </p:cNvCxnSpPr>
          <p:nvPr/>
        </p:nvCxnSpPr>
        <p:spPr>
          <a:xfrm flipV="1">
            <a:off x="5300090" y="4291202"/>
            <a:ext cx="1792224" cy="262128"/>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A3320EF8-FDD7-B7C4-103C-C952E1E056D2}"/>
              </a:ext>
            </a:extLst>
          </p:cNvPr>
          <p:cNvCxnSpPr>
            <a:cxnSpLocks/>
          </p:cNvCxnSpPr>
          <p:nvPr/>
        </p:nvCxnSpPr>
        <p:spPr>
          <a:xfrm>
            <a:off x="7503413" y="4562093"/>
            <a:ext cx="0" cy="22555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08242851-3FB4-2260-21A8-F817482928F5}"/>
              </a:ext>
            </a:extLst>
          </p:cNvPr>
          <p:cNvCxnSpPr>
            <a:cxnSpLocks/>
          </p:cNvCxnSpPr>
          <p:nvPr/>
        </p:nvCxnSpPr>
        <p:spPr>
          <a:xfrm flipV="1">
            <a:off x="7637525" y="4507229"/>
            <a:ext cx="6096" cy="18288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37108165-C2A2-E51D-1759-9A7F47598CBE}"/>
              </a:ext>
            </a:extLst>
          </p:cNvPr>
          <p:cNvCxnSpPr>
            <a:cxnSpLocks/>
          </p:cNvCxnSpPr>
          <p:nvPr/>
        </p:nvCxnSpPr>
        <p:spPr>
          <a:xfrm>
            <a:off x="7539989" y="5385053"/>
            <a:ext cx="0" cy="28041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8E36DAA8-1610-61BE-268C-B488FDBA5B74}"/>
              </a:ext>
            </a:extLst>
          </p:cNvPr>
          <p:cNvCxnSpPr>
            <a:cxnSpLocks/>
          </p:cNvCxnSpPr>
          <p:nvPr/>
        </p:nvCxnSpPr>
        <p:spPr>
          <a:xfrm flipV="1">
            <a:off x="7674101" y="5385053"/>
            <a:ext cx="6096" cy="18288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45D9B4A9-9B4C-BD2B-AB75-8A54CED70065}"/>
              </a:ext>
            </a:extLst>
          </p:cNvPr>
          <p:cNvCxnSpPr>
            <a:cxnSpLocks/>
          </p:cNvCxnSpPr>
          <p:nvPr/>
        </p:nvCxnSpPr>
        <p:spPr>
          <a:xfrm flipV="1">
            <a:off x="941450" y="2242946"/>
            <a:ext cx="1261872" cy="1170432"/>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51">
            <a:extLst>
              <a:ext uri="{FF2B5EF4-FFF2-40B4-BE49-F238E27FC236}">
                <a16:creationId xmlns:a16="http://schemas.microsoft.com/office/drawing/2014/main" id="{7BE05C6F-D2DB-1B7F-8624-21A767414BA0}"/>
              </a:ext>
            </a:extLst>
          </p:cNvPr>
          <p:cNvSpPr txBox="1"/>
          <p:nvPr/>
        </p:nvSpPr>
        <p:spPr>
          <a:xfrm>
            <a:off x="872800" y="2512481"/>
            <a:ext cx="513229" cy="21544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b="1">
                <a:solidFill>
                  <a:schemeClr val="tx2"/>
                </a:solidFill>
              </a:rPr>
              <a:t>Ask</a:t>
            </a:r>
          </a:p>
        </p:txBody>
      </p:sp>
      <p:sp>
        <p:nvSpPr>
          <p:cNvPr id="134" name="TextBox 52">
            <a:extLst>
              <a:ext uri="{FF2B5EF4-FFF2-40B4-BE49-F238E27FC236}">
                <a16:creationId xmlns:a16="http://schemas.microsoft.com/office/drawing/2014/main" id="{54EF4BEE-3CEB-8E6B-7292-BE0B21F08A15}"/>
              </a:ext>
            </a:extLst>
          </p:cNvPr>
          <p:cNvSpPr txBox="1"/>
          <p:nvPr/>
        </p:nvSpPr>
        <p:spPr>
          <a:xfrm>
            <a:off x="700277" y="4054491"/>
            <a:ext cx="1062315" cy="33855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b="1">
                <a:solidFill>
                  <a:schemeClr val="tx2"/>
                </a:solidFill>
              </a:rPr>
              <a:t>Connect</a:t>
            </a:r>
          </a:p>
          <a:p>
            <a:r>
              <a:rPr lang="en-US" sz="800" b="1">
                <a:solidFill>
                  <a:schemeClr val="tx2"/>
                </a:solidFill>
              </a:rPr>
              <a:t>Data Source</a:t>
            </a:r>
          </a:p>
        </p:txBody>
      </p:sp>
      <p:sp>
        <p:nvSpPr>
          <p:cNvPr id="135" name="TextBox 53">
            <a:extLst>
              <a:ext uri="{FF2B5EF4-FFF2-40B4-BE49-F238E27FC236}">
                <a16:creationId xmlns:a16="http://schemas.microsoft.com/office/drawing/2014/main" id="{9C575B52-87C7-38CC-032F-502C3AF4D099}"/>
              </a:ext>
            </a:extLst>
          </p:cNvPr>
          <p:cNvSpPr txBox="1"/>
          <p:nvPr/>
        </p:nvSpPr>
        <p:spPr>
          <a:xfrm>
            <a:off x="1500330" y="5810263"/>
            <a:ext cx="909480" cy="21544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tx2"/>
                </a:solidFill>
              </a:rPr>
              <a:t>Read Metadata</a:t>
            </a:r>
            <a:endParaRPr lang="en-US" sz="800">
              <a:solidFill>
                <a:schemeClr val="tx2"/>
              </a:solidFill>
            </a:endParaRPr>
          </a:p>
        </p:txBody>
      </p:sp>
      <p:sp>
        <p:nvSpPr>
          <p:cNvPr id="136" name="TextBox 54">
            <a:extLst>
              <a:ext uri="{FF2B5EF4-FFF2-40B4-BE49-F238E27FC236}">
                <a16:creationId xmlns:a16="http://schemas.microsoft.com/office/drawing/2014/main" id="{0229D0B2-F365-34B5-A45F-94EF19EE2FF1}"/>
              </a:ext>
            </a:extLst>
          </p:cNvPr>
          <p:cNvSpPr txBox="1"/>
          <p:nvPr/>
        </p:nvSpPr>
        <p:spPr>
          <a:xfrm>
            <a:off x="2196324" y="3702004"/>
            <a:ext cx="836464" cy="33855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tx2"/>
                </a:solidFill>
              </a:rPr>
              <a:t>Create data model</a:t>
            </a:r>
            <a:endParaRPr lang="en-US" sz="800"/>
          </a:p>
        </p:txBody>
      </p:sp>
      <p:sp>
        <p:nvSpPr>
          <p:cNvPr id="137" name="TextBox 55">
            <a:extLst>
              <a:ext uri="{FF2B5EF4-FFF2-40B4-BE49-F238E27FC236}">
                <a16:creationId xmlns:a16="http://schemas.microsoft.com/office/drawing/2014/main" id="{A3E2C76E-D6E2-5814-75A4-36D7651336B1}"/>
              </a:ext>
            </a:extLst>
          </p:cNvPr>
          <p:cNvSpPr txBox="1"/>
          <p:nvPr/>
        </p:nvSpPr>
        <p:spPr>
          <a:xfrm>
            <a:off x="3609122" y="1877257"/>
            <a:ext cx="989476" cy="21544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tx2"/>
                </a:solidFill>
              </a:rPr>
              <a:t>Question</a:t>
            </a:r>
            <a:endParaRPr lang="en-US" sz="800"/>
          </a:p>
        </p:txBody>
      </p:sp>
      <p:sp>
        <p:nvSpPr>
          <p:cNvPr id="138" name="TextBox 56">
            <a:extLst>
              <a:ext uri="{FF2B5EF4-FFF2-40B4-BE49-F238E27FC236}">
                <a16:creationId xmlns:a16="http://schemas.microsoft.com/office/drawing/2014/main" id="{4F6AA075-DDB9-20C2-2445-3979E6A388D3}"/>
              </a:ext>
            </a:extLst>
          </p:cNvPr>
          <p:cNvSpPr txBox="1"/>
          <p:nvPr/>
        </p:nvSpPr>
        <p:spPr>
          <a:xfrm>
            <a:off x="3237239" y="2512480"/>
            <a:ext cx="1163167" cy="33855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tx2"/>
                </a:solidFill>
              </a:rPr>
              <a:t>Schema Metadata &amp; Semantics</a:t>
            </a:r>
          </a:p>
        </p:txBody>
      </p:sp>
    </p:spTree>
    <p:extLst>
      <p:ext uri="{BB962C8B-B14F-4D97-AF65-F5344CB8AC3E}">
        <p14:creationId xmlns:p14="http://schemas.microsoft.com/office/powerpoint/2010/main" val="3225052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2174</Words>
  <Application>Microsoft Office PowerPoint</Application>
  <PresentationFormat>Widescreen</PresentationFormat>
  <Paragraphs>535</Paragraphs>
  <Slides>24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Aptos Display</vt:lpstr>
      <vt:lpstr>Aptos Narrow</vt:lpstr>
      <vt:lpstr>Arial</vt:lpstr>
      <vt:lpstr>Calibri</vt:lpstr>
      <vt:lpstr>Century Gothic</vt:lpstr>
      <vt:lpstr>Segoe UI</vt:lpstr>
      <vt:lpstr>Office Theme</vt:lpstr>
      <vt:lpstr>PowerPoint Presentation</vt:lpstr>
      <vt:lpstr>PowerPoint Presentation</vt:lpstr>
      <vt:lpstr>Project Meridian Overview</vt:lpstr>
      <vt:lpstr>Overview – Project Meridian</vt:lpstr>
      <vt:lpstr>PowerPoint Presentation</vt:lpstr>
      <vt:lpstr>Customer Service Assistant – Order Visibility</vt:lpstr>
      <vt:lpstr>Supply Chain Assistant</vt:lpstr>
      <vt:lpstr>Overview </vt:lpstr>
      <vt:lpstr>Architecture</vt:lpstr>
      <vt:lpstr>Retrospective…</vt:lpstr>
      <vt:lpstr>Retrospective</vt:lpstr>
      <vt:lpstr>Order Visibility – Our Approach</vt:lpstr>
      <vt:lpstr>Architecture – 1 – Reutilization of Existing Infra/ Genie Capability</vt:lpstr>
      <vt:lpstr>PowerPoint Presentation</vt:lpstr>
      <vt:lpstr>Recommendation</vt:lpstr>
      <vt:lpstr>Risk Mitigation Strategy</vt:lpstr>
      <vt:lpstr>Next Steps</vt:lpstr>
      <vt:lpstr>Roadmap and timelines</vt:lpstr>
      <vt:lpstr>Phased Delivery</vt:lpstr>
      <vt:lpstr>Project Timelines</vt:lpstr>
      <vt:lpstr>Roles &amp; Responsibilities</vt:lpstr>
      <vt:lpstr>PowerPoint Presentation</vt:lpstr>
      <vt:lpstr>Appendix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GANDHI, Divya</dc:creator>
  <cp:lastModifiedBy>MEHTA, KUNAL</cp:lastModifiedBy>
  <cp:revision>1</cp:revision>
  <dcterms:created xsi:type="dcterms:W3CDTF">2026-05-27T11:35:52Z</dcterms:created>
  <dcterms:modified xsi:type="dcterms:W3CDTF">2026-07-08T06:59:13Z</dcterms:modified>
</cp:coreProperties>
</file>