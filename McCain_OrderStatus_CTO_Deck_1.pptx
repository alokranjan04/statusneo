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326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1B2E4F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846320"/>
            <a:ext cx="2926080" cy="2926080"/>
          </a:xfrm>
          <a:prstGeom prst="ellipse">
            <a:avLst/>
          </a:prstGeom>
          <a:solidFill>
            <a:srgbClr val="1B2E4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ORDER STATUS ENQUIRY ASSISTANT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Design, Architecture, Timeline &amp; Status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Manoj — CTO, McCain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StatusNeo — Forward Deployed Engineering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29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8196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scope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203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questions across 6 real CS-agent workflows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71576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09981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Databricks-native, defense-in-depth design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36118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flow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99592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question moves end-to-end — proven Promptflow + Genie pattern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562856"/>
            <a:ext cx="457200" cy="45720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562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4507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timeline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892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sprints, 3 months — 29 Jul to 20 Oct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458968"/>
            <a:ext cx="457200" cy="45720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458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540410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status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7881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of Sprint 1, today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5058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McCain · Agentic Order Status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questions, 6 domains — sourced from real CS-agent workflows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1226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62432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Status &amp; Lookup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136392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“What's the status of order 123?”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61104" y="196596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211226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443984" y="262432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Holds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43984" y="3136392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Past-due, credit/delivery blocks, loading dates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73568" y="1965960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211226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156448" y="262432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Shortages &amp; Fill-Rate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56448" y="3136392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vs. ordered/shipped quantity gaps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05072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1513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 &amp; Customer History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5175504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On-hand stock, what a customer's ordered before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61104" y="4005072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41513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443984" y="4663440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&amp; Compliance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43984" y="5175504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Pallet, weight &amp; UOM specs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73568" y="4005072"/>
            <a:ext cx="3456432" cy="1783080"/>
          </a:xfrm>
          <a:prstGeom prst="roundRect">
            <a:avLst>
              <a:gd name="adj" fmla="val 4103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56448" y="41513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156448" y="4663440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Billing &amp; Invoicing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156448" y="5175504"/>
            <a:ext cx="3090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Shipped-not-billed, billed-yesterday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5058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McCain · Agentic Order Status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Defense-in-depth, Databricks-native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38160" y="457200"/>
            <a:ext cx="164592" cy="12801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8357616" y="3840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372600" y="457200"/>
            <a:ext cx="164592" cy="128016"/>
          </a:xfrm>
          <a:prstGeom prst="rect">
            <a:avLst/>
          </a:prstGeom>
          <a:solidFill>
            <a:srgbClr val="FF3621"/>
          </a:solidFill>
          <a:ln/>
        </p:spPr>
      </p:sp>
      <p:sp>
        <p:nvSpPr>
          <p:cNvPr id="7" name="Text 5"/>
          <p:cNvSpPr/>
          <p:nvPr/>
        </p:nvSpPr>
        <p:spPr>
          <a:xfrm>
            <a:off x="9592056" y="3840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607040" y="457200"/>
            <a:ext cx="164592" cy="128016"/>
          </a:xfrm>
          <a:prstGeom prst="rect">
            <a:avLst/>
          </a:prstGeom>
          <a:solidFill>
            <a:srgbClr val="0AA1DD"/>
          </a:solidFill>
          <a:ln/>
        </p:spPr>
      </p:sp>
      <p:sp>
        <p:nvSpPr>
          <p:cNvPr id="9" name="Text 7"/>
          <p:cNvSpPr/>
          <p:nvPr/>
        </p:nvSpPr>
        <p:spPr>
          <a:xfrm>
            <a:off x="10826496" y="3840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1472" y="1600200"/>
            <a:ext cx="1371600" cy="1234440"/>
          </a:xfrm>
          <a:prstGeom prst="roundRect">
            <a:avLst>
              <a:gd name="adj" fmla="val 5185"/>
            </a:avLst>
          </a:prstGeom>
          <a:solidFill>
            <a:srgbClr val="F4F6FA"/>
          </a:solidFill>
          <a:ln w="22225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4624" y="1655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6336" y="189280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&amp;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6336" y="244144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SSO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73072" y="1965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337664" y="1600200"/>
            <a:ext cx="1371600" cy="1234440"/>
          </a:xfrm>
          <a:prstGeom prst="roundRect">
            <a:avLst>
              <a:gd name="adj" fmla="val 5185"/>
            </a:avLst>
          </a:prstGeom>
          <a:solidFill>
            <a:srgbClr val="F4F6FA"/>
          </a:solidFill>
          <a:ln w="22225">
            <a:solidFill>
              <a:srgbClr val="FF362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10816" y="1655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92528" y="189280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392528" y="244144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limits, WAF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09264" y="1965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873856" y="1600200"/>
            <a:ext cx="1371600" cy="1234440"/>
          </a:xfrm>
          <a:prstGeom prst="roundRect">
            <a:avLst>
              <a:gd name="adj" fmla="val 5185"/>
            </a:avLst>
          </a:prstGeom>
          <a:solidFill>
            <a:srgbClr val="F4F6FA"/>
          </a:solidFill>
          <a:ln w="22225">
            <a:solidFill>
              <a:srgbClr val="FF362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47008" y="1655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928720" y="189280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28720" y="244144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Jailbreak defense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45456" y="1965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10048" y="1600200"/>
            <a:ext cx="1371600" cy="1234440"/>
          </a:xfrm>
          <a:prstGeom prst="roundRect">
            <a:avLst>
              <a:gd name="adj" fmla="val 5185"/>
            </a:avLst>
          </a:prstGeom>
          <a:solidFill>
            <a:srgbClr val="F4F6FA"/>
          </a:solidFill>
          <a:ln w="22225">
            <a:solidFill>
              <a:srgbClr val="FF362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3200" y="1655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64912" y="189280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64912" y="244144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Serving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81648" y="1965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946240" y="1600200"/>
            <a:ext cx="1371600" cy="1234440"/>
          </a:xfrm>
          <a:prstGeom prst="roundRect">
            <a:avLst>
              <a:gd name="adj" fmla="val 5185"/>
            </a:avLst>
          </a:prstGeom>
          <a:solidFill>
            <a:srgbClr val="F4F6FA"/>
          </a:solidFill>
          <a:ln w="22225">
            <a:solidFill>
              <a:srgbClr val="FF362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19392" y="1655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01104" y="189280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Genie +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Shield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001104" y="244144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SQL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317840" y="1965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82432" y="1600200"/>
            <a:ext cx="1371600" cy="1234440"/>
          </a:xfrm>
          <a:prstGeom prst="roundRect">
            <a:avLst>
              <a:gd name="adj" fmla="val 5185"/>
            </a:avLst>
          </a:prstGeom>
          <a:solidFill>
            <a:srgbClr val="F4F6FA"/>
          </a:solidFill>
          <a:ln w="22225">
            <a:solidFill>
              <a:srgbClr val="FF362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55584" y="1655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37296" y="189280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537296" y="244144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854032" y="1965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0018624" y="1600200"/>
            <a:ext cx="1371600" cy="1234440"/>
          </a:xfrm>
          <a:prstGeom prst="roundRect">
            <a:avLst>
              <a:gd name="adj" fmla="val 5185"/>
            </a:avLst>
          </a:prstGeom>
          <a:solidFill>
            <a:srgbClr val="F4F6FA"/>
          </a:solidFill>
          <a:ln w="22225">
            <a:solidFill>
              <a:srgbClr val="FF362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91776" y="1655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3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0073488" y="189280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073488" y="244144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Cited, redacted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01472" y="3246120"/>
            <a:ext cx="2537460" cy="777240"/>
          </a:xfrm>
          <a:prstGeom prst="roundRect">
            <a:avLst>
              <a:gd name="adj" fmla="val 7059"/>
            </a:avLst>
          </a:prstGeom>
          <a:solidFill>
            <a:srgbClr val="FBECE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1200" y="3319272"/>
            <a:ext cx="2318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11200" y="3575304"/>
            <a:ext cx="23180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SSO/SCIM · Private Link · read-only SQL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485236" y="3246120"/>
            <a:ext cx="2537460" cy="777240"/>
          </a:xfrm>
          <a:prstGeom prst="roundRect">
            <a:avLst>
              <a:gd name="adj" fmla="val 7059"/>
            </a:avLst>
          </a:prstGeom>
          <a:solidFill>
            <a:srgbClr val="EAF6EE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94964" y="3319272"/>
            <a:ext cx="2318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594964" y="3575304"/>
            <a:ext cx="23180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· warm mins · graceful fallbacks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169000" y="3246120"/>
            <a:ext cx="2537460" cy="777240"/>
          </a:xfrm>
          <a:prstGeom prst="roundRect">
            <a:avLst>
              <a:gd name="adj" fmla="val 7059"/>
            </a:avLst>
          </a:prstGeom>
          <a:solidFill>
            <a:srgbClr val="F0EBFA"/>
          </a:solidFill>
          <a:ln w="12700">
            <a:solidFill>
              <a:srgbClr val="6B4FB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78728" y="3319272"/>
            <a:ext cx="2318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4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278728" y="3575304"/>
            <a:ext cx="23180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Row/column security · lineage · audit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852764" y="3246120"/>
            <a:ext cx="2537460" cy="777240"/>
          </a:xfrm>
          <a:prstGeom prst="roundRect">
            <a:avLst>
              <a:gd name="adj" fmla="val 7059"/>
            </a:avLst>
          </a:prstGeom>
          <a:solidFill>
            <a:srgbClr val="FDF4E3"/>
          </a:solidFill>
          <a:ln w="12700">
            <a:solidFill>
              <a:srgbClr val="C9821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62492" y="3319272"/>
            <a:ext cx="2318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8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962492" y="3575304"/>
            <a:ext cx="23180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tracing · 44-test eval gate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01472" y="4224528"/>
            <a:ext cx="10588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every request, in every environment — a failure at one layer is contained by the next.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48640" y="48920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12203A"/>
          </a:solidFill>
          <a:ln/>
        </p:spPr>
      </p:sp>
      <p:sp>
        <p:nvSpPr>
          <p:cNvPr id="58" name="Text 56"/>
          <p:cNvSpPr/>
          <p:nvPr/>
        </p:nvSpPr>
        <p:spPr>
          <a:xfrm>
            <a:off x="822960" y="5029200"/>
            <a:ext cx="3240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 → QA → Prod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22960" y="5367528"/>
            <a:ext cx="32409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Unity Catalog catalogs, promoted via Databricks Asset Bundles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338218" y="5029200"/>
            <a:ext cx="3240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EDP on ADLS Gen2</a:t>
            </a:r>
            <a:endParaRPr lang="en-US" sz="1350" dirty="0"/>
          </a:p>
        </p:txBody>
      </p:sp>
      <p:sp>
        <p:nvSpPr>
          <p:cNvPr id="61" name="Text 59"/>
          <p:cNvSpPr/>
          <p:nvPr/>
        </p:nvSpPr>
        <p:spPr>
          <a:xfrm>
            <a:off x="4338218" y="5367528"/>
            <a:ext cx="32409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~2h refresh from SAP, read-only — SAP itself is never written to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853477" y="5029200"/>
            <a:ext cx="3240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Evaluation-gated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7853477" y="5367528"/>
            <a:ext cx="32409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functional + 22 security tests must pass before any release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15058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McCain · Agentic Order Status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— REQUEST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at McCain today — adapted from the Supply Chain Assistant's Promptflow + Genie pattern, with RBAC scoped from day one.</a:t>
            </a:r>
            <a:endParaRPr lang="en-US" sz="1200" dirty="0"/>
          </a:p>
        </p:txBody>
      </p:sp>
      <p:pic>
        <p:nvPicPr>
          <p:cNvPr id="4" name="Image 0" descr="/tmp/deck/RequestFlow_emb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840" y="1097280"/>
            <a:ext cx="9150016" cy="5349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058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McCain · Agentic Order Status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be safe, governed, and observable by default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130552"/>
            <a:ext cx="502920" cy="50292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93976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at every hop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04672" y="2743200"/>
            <a:ext cx="4745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Shield, DB Shield (read-only SQL only) and output guardrails — a bypass at one layer is contained by the next.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87452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82512" y="2130552"/>
            <a:ext cx="502920" cy="50292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93976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data access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382512" y="2743200"/>
            <a:ext cx="4745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 enforces row-level security by sales org and masks restricted fields (pricing, margin, PII) — never left to app logic.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4416552"/>
            <a:ext cx="502920" cy="50292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4416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379976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Databricks-native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04672" y="5029200"/>
            <a:ext cx="4745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Genie for NL→SQL, Model Serving for orchestration — no unnecessary third-party layers between the agent and governed data.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16052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82512" y="4416552"/>
            <a:ext cx="502920" cy="50292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4416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4379976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Evaluation-gated releases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382512" y="5029200"/>
            <a:ext cx="4745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scored against a 44-test golden set (22 functional + 22 security) before it ships — no exceptions.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058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McCain · Agentic Order Status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TIMELINE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3-month delivery plan — 6 sprints, 29 Jul → 20 Oct 2026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86004" y="1947672"/>
            <a:ext cx="11219688" cy="0"/>
          </a:xfrm>
          <a:prstGeom prst="line">
            <a:avLst/>
          </a:prstGeom>
          <a:noFill/>
          <a:ln w="19050">
            <a:solidFill>
              <a:srgbClr val="8A94A6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08964" y="1892808"/>
            <a:ext cx="109728" cy="109728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6" name="Text 4"/>
          <p:cNvSpPr/>
          <p:nvPr/>
        </p:nvSpPr>
        <p:spPr>
          <a:xfrm>
            <a:off x="211684" y="1554480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86004" y="2148840"/>
            <a:ext cx="1755648" cy="2148840"/>
          </a:xfrm>
          <a:prstGeom prst="roundRect">
            <a:avLst>
              <a:gd name="adj" fmla="val 3646"/>
            </a:avLst>
          </a:prstGeom>
          <a:solidFill>
            <a:srgbClr val="12203A"/>
          </a:solidFill>
          <a:ln w="12700">
            <a:solidFill>
              <a:srgbClr val="122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4020" y="2295144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14020" y="262432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Jul – 11 Aug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4020" y="32004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Status flagship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1772" y="1892808"/>
            <a:ext cx="109728" cy="109728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12" name="Shape 10"/>
          <p:cNvSpPr/>
          <p:nvPr/>
        </p:nvSpPr>
        <p:spPr>
          <a:xfrm>
            <a:off x="2378812" y="2148840"/>
            <a:ext cx="1755648" cy="2148840"/>
          </a:xfrm>
          <a:prstGeom prst="roundRect">
            <a:avLst>
              <a:gd name="adj" fmla="val 3646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06828" y="2295144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506828" y="262432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– 25 Aug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506828" y="32004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&amp; holds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94580" y="1892808"/>
            <a:ext cx="109728" cy="109728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17" name="Shape 15"/>
          <p:cNvSpPr/>
          <p:nvPr/>
        </p:nvSpPr>
        <p:spPr>
          <a:xfrm>
            <a:off x="4271620" y="2148840"/>
            <a:ext cx="1755648" cy="2148840"/>
          </a:xfrm>
          <a:prstGeom prst="roundRect">
            <a:avLst>
              <a:gd name="adj" fmla="val 3646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9636" y="2295144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399636" y="262432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Aug – 8 Sep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9636" y="32004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Shortages &amp; fill-rate + demo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87388" y="1892808"/>
            <a:ext cx="109728" cy="109728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64428" y="2148840"/>
            <a:ext cx="1755648" cy="2148840"/>
          </a:xfrm>
          <a:prstGeom prst="roundRect">
            <a:avLst>
              <a:gd name="adj" fmla="val 3646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2444" y="2295144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292444" y="262432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– 22 Sep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292444" y="32004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customer history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880196" y="1892808"/>
            <a:ext cx="109728" cy="109728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Shape 25"/>
          <p:cNvSpPr/>
          <p:nvPr/>
        </p:nvSpPr>
        <p:spPr>
          <a:xfrm>
            <a:off x="8057236" y="2148840"/>
            <a:ext cx="1755648" cy="2148840"/>
          </a:xfrm>
          <a:prstGeom prst="roundRect">
            <a:avLst>
              <a:gd name="adj" fmla="val 3646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85252" y="2295144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5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185252" y="262432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Sep – 6 Oct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185252" y="32004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&amp; billing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773004" y="1892808"/>
            <a:ext cx="109728" cy="109728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32" name="Shape 30"/>
          <p:cNvSpPr/>
          <p:nvPr/>
        </p:nvSpPr>
        <p:spPr>
          <a:xfrm>
            <a:off x="9950044" y="2148840"/>
            <a:ext cx="1755648" cy="2148840"/>
          </a:xfrm>
          <a:prstGeom prst="roundRect">
            <a:avLst>
              <a:gd name="adj" fmla="val 3646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78060" y="2295144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6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0078060" y="262432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– 20 Oct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078060" y="32004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&amp; go-live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86004" y="4526280"/>
            <a:ext cx="11219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starts today. Sprint 6 ends with all 19 questions live and evaluation-gated in Prod.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15058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McCain · Agentic Order Status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 today — Day 1 of Sprint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4160520"/>
          </a:xfrm>
          <a:prstGeom prst="roundRect">
            <a:avLst>
              <a:gd name="adj" fmla="val 1758"/>
            </a:avLst>
          </a:prstGeom>
          <a:solidFill>
            <a:srgbClr val="EAF6EE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93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7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4672" y="2450592"/>
            <a:ext cx="146304" cy="146304"/>
          </a:xfrm>
          <a:prstGeom prst="ellipse">
            <a:avLst/>
          </a:prstGeom>
          <a:solidFill>
            <a:srgbClr val="1F7A43"/>
          </a:solidFill>
          <a:ln w="19050">
            <a:solidFill>
              <a:srgbClr val="1F7A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" y="23500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&amp; environment (Dev/QA/Prod) plan finalized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4672" y="3108960"/>
            <a:ext cx="146304" cy="146304"/>
          </a:xfrm>
          <a:prstGeom prst="ellipse">
            <a:avLst/>
          </a:prstGeom>
          <a:solidFill>
            <a:srgbClr val="1F7A43"/>
          </a:solidFill>
          <a:ln w="19050">
            <a:solidFill>
              <a:srgbClr val="1F7A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300837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architecture defined — defense-in-depth, Databricks-native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" y="3767328"/>
            <a:ext cx="146304" cy="146304"/>
          </a:xfrm>
          <a:prstGeom prst="ellipse">
            <a:avLst/>
          </a:prstGeom>
          <a:solidFill>
            <a:srgbClr val="1F7A43"/>
          </a:solidFill>
          <a:ln w="19050">
            <a:solidFill>
              <a:srgbClr val="1F7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366674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3-month, 6-sprint delivery plan finalized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" y="4425696"/>
            <a:ext cx="146304" cy="146304"/>
          </a:xfrm>
          <a:prstGeom prst="ellipse">
            <a:avLst/>
          </a:prstGeom>
          <a:solidFill>
            <a:srgbClr val="1F7A43"/>
          </a:solidFill>
          <a:ln w="19050">
            <a:solidFill>
              <a:srgbClr val="1F7A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43251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backlog scoped in detail — 11 tasks, owners assigned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" y="5084064"/>
            <a:ext cx="146304" cy="146304"/>
          </a:xfrm>
          <a:prstGeom prst="ellipse">
            <a:avLst/>
          </a:prstGeom>
          <a:solidFill>
            <a:srgbClr val="1F7A43"/>
          </a:solidFill>
          <a:ln w="19050">
            <a:solidFill>
              <a:srgbClr val="1F7A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49834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open questions identified for McCain &amp; internal product team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182880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DF4E3"/>
          </a:solidFill>
          <a:ln w="12700">
            <a:solidFill>
              <a:srgbClr val="C982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993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8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— SPRINT 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Status flagship build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2697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&amp; Unity Catalog scope · DB Shield · all 8 order states · disambiguation &amp; follow-ups · guardrails · tracing &amp; evaluation gate · UI prototype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3337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working demo + evaluation gate passed by 11 Aug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80760" y="3977640"/>
            <a:ext cx="5212080" cy="2011680"/>
          </a:xfrm>
          <a:prstGeom prst="roundRect">
            <a:avLst>
              <a:gd name="adj" fmla="val 3636"/>
            </a:avLst>
          </a:prstGeom>
          <a:solidFill>
            <a:srgbClr val="F4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41422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36792" y="4581144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A94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11112" y="44805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Scale/region decisions from McCain — gate Prod sizing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36792" y="5184648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A94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11112" y="50840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environment stand-up — owned by McCain's platform team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5058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McCain · Agentic Order Status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745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 Sprint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Order Status flagship build and pass the 44-test evaluation gate by 11 Aug.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1540" y="2423160"/>
            <a:ext cx="0" cy="548640"/>
          </a:xfrm>
          <a:prstGeom prst="line">
            <a:avLst/>
          </a:prstGeom>
          <a:noFill/>
          <a:ln w="19050">
            <a:solidFill>
              <a:srgbClr val="E1E5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971800"/>
            <a:ext cx="502920" cy="50292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demo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34840" y="29260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working Order Status assistant — all 8 order states, guardrails and citations.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1540" y="3474720"/>
            <a:ext cx="0" cy="548640"/>
          </a:xfrm>
          <a:prstGeom prst="line">
            <a:avLst/>
          </a:prstGeom>
          <a:noFill/>
          <a:ln w="19050">
            <a:solidFill>
              <a:srgbClr val="E1E5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023360"/>
            <a:ext cx="502920" cy="502920"/>
          </a:xfrm>
          <a:prstGeom prst="ellipse">
            <a:avLst/>
          </a:prstGeom>
          <a:solidFill>
            <a:srgbClr val="FF362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Sprint 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34840" y="3977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&amp; holds cluster begins 12 Aug, on the same 2-week cadence.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058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McCain · Agentic Order Status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1B2E4F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3291840" cy="3291840"/>
          </a:xfrm>
          <a:prstGeom prst="ellipse">
            <a:avLst/>
          </a:prstGeom>
          <a:solidFill>
            <a:srgbClr val="1B2E4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651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 Ranjan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StatusNeo — Forward Deployed Engineering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826</Words>
  <Application>Microsoft Office PowerPoint</Application>
  <PresentationFormat>Widescreen</PresentationFormat>
  <Paragraphs>188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Alok Ranjan</cp:lastModifiedBy>
  <cp:revision>1</cp:revision>
  <dcterms:created xsi:type="dcterms:W3CDTF">2026-07-29T17:07:10Z</dcterms:created>
  <dcterms:modified xsi:type="dcterms:W3CDTF">2026-07-29T17:11:07Z</dcterms:modified>
</cp:coreProperties>
</file>